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41C"/>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38541"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371600"/>
            <a:ext cx="11057839" cy="274320"/>
          </a:xfrm>
          <a:prstGeom prst="rect">
            <a:avLst/>
          </a:prstGeom>
          <a:noFill/>
        </p:spPr>
        <p:txBody>
          <a:bodyPr wrap="square" lIns="0" rIns="0" tIns="0" bIns="0" anchor="t">
            <a:spAutoFit/>
          </a:bodyPr>
          <a:lstStyle/>
          <a:p>
            <a:pPr algn="l"/>
            <a:r>
              <a:rPr sz="1300" b="1">
                <a:solidFill>
                  <a:srgbClr val="FF8700"/>
                </a:solidFill>
                <a:latin typeface="Barlow Condensed"/>
              </a:rPr>
              <a:t>TYPO3 × BUSINESS AVIATION</a:t>
            </a:r>
          </a:p>
        </p:txBody>
      </p:sp>
      <p:sp>
        <p:nvSpPr>
          <p:cNvPr id="5" name="TextBox 4"/>
          <p:cNvSpPr txBox="1"/>
          <p:nvPr/>
        </p:nvSpPr>
        <p:spPr>
          <a:xfrm>
            <a:off x="566928" y="1783080"/>
            <a:ext cx="11057839" cy="1371600"/>
          </a:xfrm>
          <a:prstGeom prst="rect">
            <a:avLst/>
          </a:prstGeom>
          <a:noFill/>
        </p:spPr>
        <p:txBody>
          <a:bodyPr wrap="square" lIns="0" rIns="0" tIns="0" bIns="0" anchor="t">
            <a:spAutoFit/>
          </a:bodyPr>
          <a:lstStyle/>
          <a:p>
            <a:pPr algn="l"/>
            <a:r>
              <a:rPr sz="6600" b="1">
                <a:solidFill>
                  <a:srgbClr val="EAF0F6"/>
                </a:solidFill>
                <a:latin typeface="Barlow Condensed"/>
              </a:rPr>
              <a:t>Fly the Upgrade</a:t>
            </a:r>
          </a:p>
        </p:txBody>
      </p:sp>
      <p:sp>
        <p:nvSpPr>
          <p:cNvPr id="6" name="TextBox 5"/>
          <p:cNvSpPr txBox="1"/>
          <p:nvPr/>
        </p:nvSpPr>
        <p:spPr>
          <a:xfrm>
            <a:off x="566928" y="3200400"/>
            <a:ext cx="11057839" cy="457200"/>
          </a:xfrm>
          <a:prstGeom prst="rect">
            <a:avLst/>
          </a:prstGeom>
          <a:noFill/>
        </p:spPr>
        <p:txBody>
          <a:bodyPr wrap="square" lIns="0" rIns="0" tIns="0" bIns="0" anchor="t">
            <a:spAutoFit/>
          </a:bodyPr>
          <a:lstStyle/>
          <a:p>
            <a:pPr algn="l"/>
            <a:r>
              <a:rPr sz="2000" b="0">
                <a:solidFill>
                  <a:srgbClr val="A8B6C6"/>
                </a:solidFill>
                <a:latin typeface="Barlow"/>
              </a:rPr>
              <a:t>How pilots would fly a TYPO3 upgrade</a:t>
            </a:r>
          </a:p>
        </p:txBody>
      </p:sp>
      <p:sp>
        <p:nvSpPr>
          <p:cNvPr id="7" name="TextBox 6"/>
          <p:cNvSpPr txBox="1"/>
          <p:nvPr/>
        </p:nvSpPr>
        <p:spPr>
          <a:xfrm>
            <a:off x="566928" y="4206240"/>
            <a:ext cx="11057839" cy="457200"/>
          </a:xfrm>
          <a:prstGeom prst="rect">
            <a:avLst/>
          </a:prstGeom>
          <a:noFill/>
        </p:spPr>
        <p:txBody>
          <a:bodyPr wrap="square" lIns="0" rIns="0" tIns="0" bIns="0" anchor="t">
            <a:spAutoFit/>
          </a:bodyPr>
          <a:lstStyle/>
          <a:p>
            <a:pPr algn="l"/>
            <a:r>
              <a:rPr sz="2000" b="1">
                <a:solidFill>
                  <a:srgbClr val="EAF0F6"/>
                </a:solidFill>
                <a:latin typeface="Barlow Condensed"/>
              </a:rPr>
              <a:t>Stefan Bürk    </a:t>
            </a:r>
            <a:r>
              <a:rPr sz="1000" b="0">
                <a:solidFill>
                  <a:srgbClr val="6F8093"/>
                </a:solidFill>
                <a:latin typeface="IBM Plex Mono"/>
              </a:rPr>
              <a:t>TYPO3 Core Team — Framework Maintainer · stefan@buerk.tech</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01 / 88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77083"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217249"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217249" cy="201168"/>
          </a:xfrm>
          <a:prstGeom prst="rect">
            <a:avLst/>
          </a:prstGeom>
          <a:noFill/>
        </p:spPr>
        <p:txBody>
          <a:bodyPr wrap="square" lIns="0" rIns="0" tIns="0" bIns="0" anchor="t">
            <a:spAutoFit/>
          </a:bodyPr>
          <a:lstStyle/>
          <a:p>
            <a:pPr algn="l"/>
            <a:r>
              <a:rPr sz="1100" b="1">
                <a:solidFill>
                  <a:srgbClr val="0B1016"/>
                </a:solidFill>
                <a:latin typeface="Barlow Condensed"/>
              </a:rPr>
              <a:t>FLIGHT PLAN</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Today's routing</a:t>
            </a:r>
          </a:p>
        </p:txBody>
      </p:sp>
      <p:sp>
        <p:nvSpPr>
          <p:cNvPr id="7" name="TextBox 6"/>
          <p:cNvSpPr txBox="1"/>
          <p:nvPr/>
        </p:nvSpPr>
        <p:spPr>
          <a:xfrm>
            <a:off x="566928" y="1591056"/>
            <a:ext cx="1554480" cy="274320"/>
          </a:xfrm>
          <a:prstGeom prst="rect">
            <a:avLst/>
          </a:prstGeom>
          <a:noFill/>
        </p:spPr>
        <p:txBody>
          <a:bodyPr wrap="square" lIns="0" rIns="0" tIns="0" bIns="0" anchor="t">
            <a:spAutoFit/>
          </a:bodyPr>
          <a:lstStyle/>
          <a:p>
            <a:pPr algn="l"/>
            <a:r>
              <a:rPr sz="1300" b="1">
                <a:solidFill>
                  <a:srgbClr val="6F8093"/>
                </a:solidFill>
                <a:latin typeface="Barlow Condensed"/>
              </a:rPr>
              <a:t>BRIEFING</a:t>
            </a:r>
          </a:p>
        </p:txBody>
      </p:sp>
      <p:sp>
        <p:nvSpPr>
          <p:cNvPr id="8" name="TextBox 7"/>
          <p:cNvSpPr txBox="1"/>
          <p:nvPr/>
        </p:nvSpPr>
        <p:spPr>
          <a:xfrm>
            <a:off x="2212848" y="1572768"/>
            <a:ext cx="9411919" cy="292608"/>
          </a:xfrm>
          <a:prstGeom prst="rect">
            <a:avLst/>
          </a:prstGeom>
          <a:noFill/>
        </p:spPr>
        <p:txBody>
          <a:bodyPr wrap="square" lIns="0" rIns="0" tIns="0" bIns="0" anchor="t">
            <a:spAutoFit/>
          </a:bodyPr>
          <a:lstStyle/>
          <a:p>
            <a:pPr algn="l"/>
            <a:r>
              <a:rPr sz="1450" b="0">
                <a:solidFill>
                  <a:srgbClr val="A8B6C6"/>
                </a:solidFill>
                <a:latin typeface="Barlow"/>
              </a:rPr>
              <a:t>Why aviation has checklists — and why you need them</a:t>
            </a:r>
          </a:p>
        </p:txBody>
      </p:sp>
      <p:sp>
        <p:nvSpPr>
          <p:cNvPr id="9" name="Rectangle 8"/>
          <p:cNvSpPr/>
          <p:nvPr/>
        </p:nvSpPr>
        <p:spPr>
          <a:xfrm>
            <a:off x="566928" y="1847088"/>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66928" y="2002536"/>
            <a:ext cx="1554480" cy="274320"/>
          </a:xfrm>
          <a:prstGeom prst="rect">
            <a:avLst/>
          </a:prstGeom>
          <a:noFill/>
        </p:spPr>
        <p:txBody>
          <a:bodyPr wrap="square" lIns="0" rIns="0" tIns="0" bIns="0" anchor="t">
            <a:spAutoFit/>
          </a:bodyPr>
          <a:lstStyle/>
          <a:p>
            <a:pPr algn="l"/>
            <a:r>
              <a:rPr sz="1300" b="1">
                <a:solidFill>
                  <a:srgbClr val="FFB020"/>
                </a:solidFill>
                <a:latin typeface="Barlow Condensed"/>
              </a:rPr>
              <a:t>CROSS-CHECK</a:t>
            </a:r>
          </a:p>
        </p:txBody>
      </p:sp>
      <p:sp>
        <p:nvSpPr>
          <p:cNvPr id="11" name="TextBox 10"/>
          <p:cNvSpPr txBox="1"/>
          <p:nvPr/>
        </p:nvSpPr>
        <p:spPr>
          <a:xfrm>
            <a:off x="2212848" y="1984248"/>
            <a:ext cx="9411919" cy="292608"/>
          </a:xfrm>
          <a:prstGeom prst="rect">
            <a:avLst/>
          </a:prstGeom>
          <a:noFill/>
        </p:spPr>
        <p:txBody>
          <a:bodyPr wrap="square" lIns="0" rIns="0" tIns="0" bIns="0" anchor="t">
            <a:spAutoFit/>
          </a:bodyPr>
          <a:lstStyle/>
          <a:p>
            <a:pPr algn="l"/>
            <a:r>
              <a:rPr sz="1450" b="0">
                <a:solidFill>
                  <a:srgbClr val="A8B6C6"/>
                </a:solidFill>
                <a:latin typeface="Barlow"/>
              </a:rPr>
              <a:t>The Core Changelog: your NOTAM package</a:t>
            </a:r>
          </a:p>
        </p:txBody>
      </p:sp>
      <p:sp>
        <p:nvSpPr>
          <p:cNvPr id="12" name="Rectangle 11"/>
          <p:cNvSpPr/>
          <p:nvPr/>
        </p:nvSpPr>
        <p:spPr>
          <a:xfrm>
            <a:off x="566928" y="2258568"/>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66928" y="2414016"/>
            <a:ext cx="1554480" cy="274320"/>
          </a:xfrm>
          <a:prstGeom prst="rect">
            <a:avLst/>
          </a:prstGeom>
          <a:noFill/>
        </p:spPr>
        <p:txBody>
          <a:bodyPr wrap="square" lIns="0" rIns="0" tIns="0" bIns="0" anchor="t">
            <a:spAutoFit/>
          </a:bodyPr>
          <a:lstStyle/>
          <a:p>
            <a:pPr algn="l"/>
            <a:r>
              <a:rPr sz="1300" b="1">
                <a:solidFill>
                  <a:srgbClr val="4EC3E0"/>
                </a:solidFill>
                <a:latin typeface="Barlow Condensed"/>
              </a:rPr>
              <a:t>PHASE 1</a:t>
            </a:r>
          </a:p>
        </p:txBody>
      </p:sp>
      <p:sp>
        <p:nvSpPr>
          <p:cNvPr id="14" name="TextBox 13"/>
          <p:cNvSpPr txBox="1"/>
          <p:nvPr/>
        </p:nvSpPr>
        <p:spPr>
          <a:xfrm>
            <a:off x="2212848" y="2395728"/>
            <a:ext cx="9411919" cy="292608"/>
          </a:xfrm>
          <a:prstGeom prst="rect">
            <a:avLst/>
          </a:prstGeom>
          <a:noFill/>
        </p:spPr>
        <p:txBody>
          <a:bodyPr wrap="square" lIns="0" rIns="0" tIns="0" bIns="0" anchor="t">
            <a:spAutoFit/>
          </a:bodyPr>
          <a:lstStyle/>
          <a:p>
            <a:pPr algn="l"/>
            <a:r>
              <a:rPr sz="1450" b="0">
                <a:solidFill>
                  <a:srgbClr val="A8B6C6"/>
                </a:solidFill>
                <a:latin typeface="Barlow"/>
              </a:rPr>
              <a:t>Dispatch &amp; Pre-Flight — everything before you touch composer</a:t>
            </a:r>
          </a:p>
        </p:txBody>
      </p:sp>
      <p:sp>
        <p:nvSpPr>
          <p:cNvPr id="15" name="Rectangle 14"/>
          <p:cNvSpPr/>
          <p:nvPr/>
        </p:nvSpPr>
        <p:spPr>
          <a:xfrm>
            <a:off x="566928" y="2670048"/>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66928" y="2825496"/>
            <a:ext cx="1554480" cy="274320"/>
          </a:xfrm>
          <a:prstGeom prst="rect">
            <a:avLst/>
          </a:prstGeom>
          <a:noFill/>
        </p:spPr>
        <p:txBody>
          <a:bodyPr wrap="square" lIns="0" rIns="0" tIns="0" bIns="0" anchor="t">
            <a:spAutoFit/>
          </a:bodyPr>
          <a:lstStyle/>
          <a:p>
            <a:pPr algn="l"/>
            <a:r>
              <a:rPr sz="1300" b="1">
                <a:solidFill>
                  <a:srgbClr val="FF8700"/>
                </a:solidFill>
                <a:latin typeface="Barlow Condensed"/>
              </a:rPr>
              <a:t>PHASE 2</a:t>
            </a:r>
          </a:p>
        </p:txBody>
      </p:sp>
      <p:sp>
        <p:nvSpPr>
          <p:cNvPr id="17" name="TextBox 16"/>
          <p:cNvSpPr txBox="1"/>
          <p:nvPr/>
        </p:nvSpPr>
        <p:spPr>
          <a:xfrm>
            <a:off x="2212848" y="2807208"/>
            <a:ext cx="9411919" cy="292608"/>
          </a:xfrm>
          <a:prstGeom prst="rect">
            <a:avLst/>
          </a:prstGeom>
          <a:noFill/>
        </p:spPr>
        <p:txBody>
          <a:bodyPr wrap="square" lIns="0" rIns="0" tIns="0" bIns="0" anchor="t">
            <a:spAutoFit/>
          </a:bodyPr>
          <a:lstStyle/>
          <a:p>
            <a:pPr algn="l"/>
            <a:r>
              <a:rPr sz="1450" b="0">
                <a:solidFill>
                  <a:srgbClr val="A8B6C6"/>
                </a:solidFill>
                <a:latin typeface="Barlow"/>
              </a:rPr>
              <a:t>Take-Off &amp; Cruise — the upgrade window itself</a:t>
            </a:r>
          </a:p>
        </p:txBody>
      </p:sp>
      <p:sp>
        <p:nvSpPr>
          <p:cNvPr id="18" name="Rectangle 17"/>
          <p:cNvSpPr/>
          <p:nvPr/>
        </p:nvSpPr>
        <p:spPr>
          <a:xfrm>
            <a:off x="566928" y="3081528"/>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66928" y="3236976"/>
            <a:ext cx="1554480" cy="274320"/>
          </a:xfrm>
          <a:prstGeom prst="rect">
            <a:avLst/>
          </a:prstGeom>
          <a:noFill/>
        </p:spPr>
        <p:txBody>
          <a:bodyPr wrap="square" lIns="0" rIns="0" tIns="0" bIns="0" anchor="t">
            <a:spAutoFit/>
          </a:bodyPr>
          <a:lstStyle/>
          <a:p>
            <a:pPr algn="l"/>
            <a:r>
              <a:rPr sz="1300" b="1">
                <a:solidFill>
                  <a:srgbClr val="3FCF8E"/>
                </a:solidFill>
                <a:latin typeface="Barlow Condensed"/>
              </a:rPr>
              <a:t>PHASE 3</a:t>
            </a:r>
          </a:p>
        </p:txBody>
      </p:sp>
      <p:sp>
        <p:nvSpPr>
          <p:cNvPr id="20" name="TextBox 19"/>
          <p:cNvSpPr txBox="1"/>
          <p:nvPr/>
        </p:nvSpPr>
        <p:spPr>
          <a:xfrm>
            <a:off x="2212848" y="3218688"/>
            <a:ext cx="9411919" cy="292608"/>
          </a:xfrm>
          <a:prstGeom prst="rect">
            <a:avLst/>
          </a:prstGeom>
          <a:noFill/>
        </p:spPr>
        <p:txBody>
          <a:bodyPr wrap="square" lIns="0" rIns="0" tIns="0" bIns="0" anchor="t">
            <a:spAutoFit/>
          </a:bodyPr>
          <a:lstStyle/>
          <a:p>
            <a:pPr algn="l"/>
            <a:r>
              <a:rPr sz="1450" b="0">
                <a:solidFill>
                  <a:srgbClr val="A8B6C6"/>
                </a:solidFill>
                <a:latin typeface="Barlow"/>
              </a:rPr>
              <a:t>Approach, Landing &amp; Debrief — the part everyone skips</a:t>
            </a:r>
          </a:p>
        </p:txBody>
      </p:sp>
      <p:sp>
        <p:nvSpPr>
          <p:cNvPr id="21" name="Rectangle 20"/>
          <p:cNvSpPr/>
          <p:nvPr/>
        </p:nvSpPr>
        <p:spPr>
          <a:xfrm>
            <a:off x="566928" y="3493008"/>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6928" y="3648456"/>
            <a:ext cx="1554480" cy="274320"/>
          </a:xfrm>
          <a:prstGeom prst="rect">
            <a:avLst/>
          </a:prstGeom>
          <a:noFill/>
        </p:spPr>
        <p:txBody>
          <a:bodyPr wrap="square" lIns="0" rIns="0" tIns="0" bIns="0" anchor="t">
            <a:spAutoFit/>
          </a:bodyPr>
          <a:lstStyle/>
          <a:p>
            <a:pPr algn="l"/>
            <a:r>
              <a:rPr sz="1300" b="1">
                <a:solidFill>
                  <a:srgbClr val="6F8093"/>
                </a:solidFill>
                <a:latin typeface="Barlow Condensed"/>
              </a:rPr>
              <a:t>DEBRIEF</a:t>
            </a:r>
          </a:p>
        </p:txBody>
      </p:sp>
      <p:sp>
        <p:nvSpPr>
          <p:cNvPr id="23" name="TextBox 22"/>
          <p:cNvSpPr txBox="1"/>
          <p:nvPr/>
        </p:nvSpPr>
        <p:spPr>
          <a:xfrm>
            <a:off x="2212848" y="3630168"/>
            <a:ext cx="9411919" cy="292608"/>
          </a:xfrm>
          <a:prstGeom prst="rect">
            <a:avLst/>
          </a:prstGeom>
          <a:noFill/>
        </p:spPr>
        <p:txBody>
          <a:bodyPr wrap="square" lIns="0" rIns="0" tIns="0" bIns="0" anchor="t">
            <a:spAutoFit/>
          </a:bodyPr>
          <a:lstStyle/>
          <a:p>
            <a:pPr algn="l"/>
            <a:r>
              <a:rPr sz="1450" b="0">
                <a:solidFill>
                  <a:srgbClr val="A8B6C6"/>
                </a:solidFill>
                <a:latin typeface="Barlow"/>
              </a:rPr>
              <a:t>Takeaways you can use on Monday</a:t>
            </a:r>
          </a:p>
        </p:txBody>
      </p:sp>
      <p:sp>
        <p:nvSpPr>
          <p:cNvPr id="24" name="Rectangle 23"/>
          <p:cNvSpPr/>
          <p:nvPr/>
        </p:nvSpPr>
        <p:spPr>
          <a:xfrm>
            <a:off x="566928" y="3904488"/>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6" name="TextBox 25"/>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02 / 88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15625"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398666"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398666" cy="201168"/>
          </a:xfrm>
          <a:prstGeom prst="rect">
            <a:avLst/>
          </a:prstGeom>
          <a:noFill/>
        </p:spPr>
        <p:txBody>
          <a:bodyPr wrap="square" lIns="0" rIns="0" tIns="0" bIns="0" anchor="t">
            <a:spAutoFit/>
          </a:bodyPr>
          <a:lstStyle/>
          <a:p>
            <a:pPr algn="l"/>
            <a:r>
              <a:rPr sz="1100" b="1">
                <a:solidFill>
                  <a:srgbClr val="0B1016"/>
                </a:solidFill>
                <a:latin typeface="Barlow Condensed"/>
              </a:rPr>
              <a:t>WHO IS FLYING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Stefan Bürk</a:t>
            </a:r>
          </a:p>
        </p:txBody>
      </p:sp>
      <p:sp>
        <p:nvSpPr>
          <p:cNvPr id="7" name="TextBox 6"/>
          <p:cNvSpPr txBox="1"/>
          <p:nvPr/>
        </p:nvSpPr>
        <p:spPr>
          <a:xfrm>
            <a:off x="566928" y="1773936"/>
            <a:ext cx="11057839" cy="3108960"/>
          </a:xfrm>
          <a:prstGeom prst="rect">
            <a:avLst/>
          </a:prstGeom>
          <a:noFill/>
        </p:spPr>
        <p:txBody>
          <a:bodyPr wrap="square" lIns="0" rIns="0" tIns="0" bIns="0" anchor="t">
            <a:spAutoFit/>
          </a:bodyPr>
          <a:lstStyle/>
          <a:p>
            <a:pPr algn="l">
              <a:lnSpc>
                <a:spcPct val="112000"/>
              </a:lnSpc>
            </a:pPr>
            <a:r>
              <a:rPr sz="1700" b="0" i="0">
                <a:solidFill>
                  <a:srgbClr val="6F8093"/>
                </a:solidFill>
                <a:latin typeface="Barlow"/>
              </a:rPr>
              <a:t>◆  </a:t>
            </a:r>
            <a:r>
              <a:rPr sz="1700" b="0" i="0">
                <a:solidFill>
                  <a:srgbClr val="EAF0F6"/>
                </a:solidFill>
                <a:latin typeface="Barlow"/>
              </a:rPr>
              <a:t>PHP developer since 2003</a:t>
            </a:r>
          </a:p>
          <a:p>
            <a:pPr algn="l">
              <a:lnSpc>
                <a:spcPct val="112000"/>
              </a:lnSpc>
              <a:spcBef>
                <a:spcPts val="1100"/>
              </a:spcBef>
            </a:pPr>
            <a:r>
              <a:rPr sz="1700" b="0" i="0">
                <a:solidFill>
                  <a:srgbClr val="6F8093"/>
                </a:solidFill>
                <a:latin typeface="Barlow"/>
              </a:rPr>
              <a:t>◆  </a:t>
            </a:r>
            <a:r>
              <a:rPr sz="1700" b="0" i="0">
                <a:solidFill>
                  <a:srgbClr val="EAF0F6"/>
                </a:solidFill>
                <a:latin typeface="Barlow"/>
              </a:rPr>
              <a:t>TYPO3 developer since 2012</a:t>
            </a:r>
          </a:p>
          <a:p>
            <a:pPr algn="l">
              <a:lnSpc>
                <a:spcPct val="112000"/>
              </a:lnSpc>
              <a:spcBef>
                <a:spcPts val="1100"/>
              </a:spcBef>
            </a:pPr>
            <a:r>
              <a:rPr sz="1700" b="0" i="0">
                <a:solidFill>
                  <a:srgbClr val="6F8093"/>
                </a:solidFill>
                <a:latin typeface="Barlow"/>
              </a:rPr>
              <a:t>◆  </a:t>
            </a:r>
            <a:r>
              <a:rPr sz="1700" b="0" i="0">
                <a:solidFill>
                  <a:srgbClr val="EAF0F6"/>
                </a:solidFill>
                <a:latin typeface="Barlow"/>
              </a:rPr>
              <a:t>TYPO3 Core Team — Framework Maintainer &amp; Merger</a:t>
            </a:r>
          </a:p>
          <a:p>
            <a:pPr algn="l">
              <a:lnSpc>
                <a:spcPct val="112000"/>
              </a:lnSpc>
              <a:spcBef>
                <a:spcPts val="1100"/>
              </a:spcBef>
            </a:pPr>
            <a:r>
              <a:rPr sz="1700" b="0" i="0">
                <a:solidFill>
                  <a:srgbClr val="6F8093"/>
                </a:solidFill>
                <a:latin typeface="Barlow"/>
              </a:rPr>
              <a:t>◆  </a:t>
            </a:r>
            <a:r>
              <a:rPr sz="1700" b="0" i="0">
                <a:solidFill>
                  <a:srgbClr val="EAF0F6"/>
                </a:solidFill>
                <a:latin typeface="Barlow"/>
              </a:rPr>
              <a:t>Maintainer of typo3/testing-framework</a:t>
            </a:r>
          </a:p>
          <a:p>
            <a:pPr algn="l">
              <a:lnSpc>
                <a:spcPct val="112000"/>
              </a:lnSpc>
              <a:spcBef>
                <a:spcPts val="1100"/>
              </a:spcBef>
            </a:pPr>
            <a:r>
              <a:rPr sz="1700" b="0" i="0">
                <a:solidFill>
                  <a:srgbClr val="6F8093"/>
                </a:solidFill>
                <a:latin typeface="Barlow"/>
              </a:rPr>
              <a:t>◆  </a:t>
            </a:r>
            <a:r>
              <a:rPr sz="1700" b="0" i="0">
                <a:solidFill>
                  <a:srgbClr val="EAF0F6"/>
                </a:solidFill>
                <a:latin typeface="Barlow"/>
              </a:rPr>
              <a:t>Fluid maintainer</a:t>
            </a:r>
          </a:p>
          <a:p>
            <a:pPr algn="l">
              <a:lnSpc>
                <a:spcPct val="112000"/>
              </a:lnSpc>
              <a:spcBef>
                <a:spcPts val="1100"/>
              </a:spcBef>
            </a:pPr>
            <a:r>
              <a:rPr sz="1700" b="0" i="0">
                <a:solidFill>
                  <a:srgbClr val="6F8093"/>
                </a:solidFill>
                <a:latin typeface="Barlow"/>
              </a:rPr>
              <a:t>◆  </a:t>
            </a:r>
            <a:r>
              <a:rPr sz="1700" b="0" i="0">
                <a:solidFill>
                  <a:srgbClr val="EAF0F6"/>
                </a:solidFill>
                <a:latin typeface="Barlow"/>
              </a:rPr>
              <a:t>Aviation addict</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03 / 88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54167"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672998"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672998" cy="201168"/>
          </a:xfrm>
          <a:prstGeom prst="rect">
            <a:avLst/>
          </a:prstGeom>
          <a:noFill/>
        </p:spPr>
        <p:txBody>
          <a:bodyPr wrap="square" lIns="0" rIns="0" tIns="0" bIns="0" anchor="t">
            <a:spAutoFit/>
          </a:bodyPr>
          <a:lstStyle/>
          <a:p>
            <a:pPr algn="l"/>
            <a:r>
              <a:rPr sz="1100" b="1">
                <a:solidFill>
                  <a:srgbClr val="0B1016"/>
                </a:solidFill>
                <a:latin typeface="Barlow Condensed"/>
              </a:rPr>
              <a:t>SCOPE</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What this is (not) about</a:t>
            </a:r>
          </a:p>
        </p:txBody>
      </p:sp>
      <p:sp>
        <p:nvSpPr>
          <p:cNvPr id="7" name="Rectangle 6"/>
          <p:cNvSpPr/>
          <p:nvPr/>
        </p:nvSpPr>
        <p:spPr>
          <a:xfrm>
            <a:off x="566928" y="159105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91056"/>
            <a:ext cx="5346039" cy="406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8" y="184708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This is not</a:t>
            </a:r>
          </a:p>
        </p:txBody>
      </p:sp>
      <p:sp>
        <p:nvSpPr>
          <p:cNvPr id="10" name="TextBox 9"/>
          <p:cNvSpPr txBox="1"/>
          <p:nvPr/>
        </p:nvSpPr>
        <p:spPr>
          <a:xfrm>
            <a:off x="795528" y="2304288"/>
            <a:ext cx="4888839" cy="1463040"/>
          </a:xfrm>
          <a:prstGeom prst="rect">
            <a:avLst/>
          </a:prstGeom>
          <a:noFill/>
        </p:spPr>
        <p:txBody>
          <a:bodyPr wrap="square" lIns="0" rIns="0" tIns="0" bIns="0" anchor="t">
            <a:spAutoFit/>
          </a:bodyPr>
          <a:lstStyle/>
          <a:p>
            <a:pPr algn="l">
              <a:lnSpc>
                <a:spcPct val="112000"/>
              </a:lnSpc>
            </a:pPr>
            <a:r>
              <a:rPr sz="1300" b="0" i="0">
                <a:solidFill>
                  <a:srgbClr val="E5484D"/>
                </a:solidFill>
                <a:latin typeface="Barlow"/>
              </a:rPr>
              <a:t>◆  </a:t>
            </a:r>
            <a:r>
              <a:rPr sz="1300" b="0" i="0">
                <a:solidFill>
                  <a:srgbClr val="EAF0F6"/>
                </a:solidFill>
                <a:latin typeface="Barlow"/>
              </a:rPr>
              <a:t>A copy-paste, step-by-step upgrade script</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A claim that one specific tool solves it</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A promise that nothing will go wrong</a:t>
            </a:r>
          </a:p>
        </p:txBody>
      </p:sp>
      <p:sp>
        <p:nvSpPr>
          <p:cNvPr id="11" name="Rectangle 10"/>
          <p:cNvSpPr/>
          <p:nvPr/>
        </p:nvSpPr>
        <p:spPr>
          <a:xfrm>
            <a:off x="6278727" y="159105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8727" y="1591056"/>
            <a:ext cx="5346039"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07327" y="184708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This is</a:t>
            </a:r>
          </a:p>
        </p:txBody>
      </p:sp>
      <p:sp>
        <p:nvSpPr>
          <p:cNvPr id="14" name="TextBox 13"/>
          <p:cNvSpPr txBox="1"/>
          <p:nvPr/>
        </p:nvSpPr>
        <p:spPr>
          <a:xfrm>
            <a:off x="6507327" y="2304288"/>
            <a:ext cx="4888839" cy="1463040"/>
          </a:xfrm>
          <a:prstGeom prst="rect">
            <a:avLst/>
          </a:prstGeom>
          <a:noFill/>
        </p:spPr>
        <p:txBody>
          <a:bodyPr wrap="square" lIns="0" rIns="0" tIns="0" bIns="0" anchor="t">
            <a:spAutoFit/>
          </a:bodyPr>
          <a:lstStyle/>
          <a:p>
            <a:pPr algn="l">
              <a:lnSpc>
                <a:spcPct val="112000"/>
              </a:lnSpc>
            </a:pPr>
            <a:r>
              <a:rPr sz="1300" b="0" i="0">
                <a:solidFill>
                  <a:srgbClr val="3FCF8E"/>
                </a:solidFill>
                <a:latin typeface="Barlow"/>
              </a:rPr>
              <a:t>◆  </a:t>
            </a:r>
            <a:r>
              <a:rPr sz="1300" b="0" i="0">
                <a:solidFill>
                  <a:srgbClr val="EAF0F6"/>
                </a:solidFill>
                <a:latin typeface="Barlow"/>
              </a:rPr>
              <a:t>A repeatable process built from phases</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Checklists you can actually take to work</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Where each tool fits — and where it stops</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How to prepare for what you cannot foresee</a:t>
            </a:r>
          </a:p>
        </p:txBody>
      </p:sp>
      <p:sp>
        <p:nvSpPr>
          <p:cNvPr id="15" name="TextBox 14"/>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6" name="TextBox 15"/>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04 / 88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692709"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Checklists were not invented by careful people.</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They were invented after a crash.</a:t>
            </a:r>
          </a:p>
        </p:txBody>
      </p:sp>
      <p:sp>
        <p:nvSpPr>
          <p:cNvPr id="6" name="Rectangle 5"/>
          <p:cNvSpPr/>
          <p:nvPr/>
        </p:nvSpPr>
        <p:spPr>
          <a:xfrm>
            <a:off x="566928" y="4572000"/>
            <a:ext cx="31750" cy="384048"/>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On 30 October 1935 the Boeing Model 299 — the B-17 prototype — crashed on take-off at Wright Field because the gust locks were still engaged. The crew were among the best pilots in the country. The aircraft was simply more complex than memory could hold. The answer was not better pilots. The answer was the checklist.</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05 / 88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831251"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A TYPO3 upgrade is more complex than your memory.</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That is not a criticism. That is the job description.</a:t>
            </a:r>
          </a:p>
        </p:txBody>
      </p:sp>
      <p:sp>
        <p:nvSpPr>
          <p:cNvPr id="6" name="Rectangle 5"/>
          <p:cNvSpPr/>
          <p:nvPr/>
        </p:nvSpPr>
        <p:spPr>
          <a:xfrm>
            <a:off x="566928" y="4572000"/>
            <a:ext cx="31750" cy="384048"/>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Nobody holds 526 changelog entries, 40 extensions, a PHP jump, a schema migration and a rollback plan in their head at 23:00 on a Thursday.</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06 / 88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69793"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BE HONEST</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“The TYPO3 upgrade is on your task list.”</a:t>
            </a:r>
          </a:p>
        </p:txBody>
      </p:sp>
      <p:sp>
        <p:nvSpPr>
          <p:cNvPr id="7" name="Rectangle 6"/>
          <p:cNvSpPr/>
          <p:nvPr/>
        </p:nvSpPr>
        <p:spPr>
          <a:xfrm>
            <a:off x="566928" y="1499616"/>
            <a:ext cx="5300319" cy="210312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499616"/>
            <a:ext cx="5300319" cy="406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66928" y="1773936"/>
            <a:ext cx="5300319" cy="548640"/>
          </a:xfrm>
          <a:prstGeom prst="rect">
            <a:avLst/>
          </a:prstGeom>
          <a:noFill/>
        </p:spPr>
        <p:txBody>
          <a:bodyPr wrap="square" lIns="0" rIns="0" tIns="0" bIns="0" anchor="t">
            <a:spAutoFit/>
          </a:bodyPr>
          <a:lstStyle/>
          <a:p>
            <a:pPr algn="ctr"/>
            <a:r>
              <a:rPr sz="3600" b="0">
                <a:solidFill>
                  <a:srgbClr val="EAF0F6"/>
                </a:solidFill>
                <a:latin typeface="Barlow"/>
              </a:rPr>
              <a:t>😱</a:t>
            </a:r>
          </a:p>
        </p:txBody>
      </p:sp>
      <p:sp>
        <p:nvSpPr>
          <p:cNvPr id="10" name="TextBox 9"/>
          <p:cNvSpPr txBox="1"/>
          <p:nvPr/>
        </p:nvSpPr>
        <p:spPr>
          <a:xfrm>
            <a:off x="566928" y="2414016"/>
            <a:ext cx="5300319" cy="320040"/>
          </a:xfrm>
          <a:prstGeom prst="rect">
            <a:avLst/>
          </a:prstGeom>
          <a:noFill/>
        </p:spPr>
        <p:txBody>
          <a:bodyPr wrap="square" lIns="0" rIns="0" tIns="0" bIns="0" anchor="t">
            <a:spAutoFit/>
          </a:bodyPr>
          <a:lstStyle/>
          <a:p>
            <a:pPr algn="ctr"/>
            <a:r>
              <a:rPr sz="2000" b="1">
                <a:solidFill>
                  <a:srgbClr val="EAF0F6"/>
                </a:solidFill>
                <a:latin typeface="Barlow Condensed"/>
              </a:rPr>
              <a:t>Dread</a:t>
            </a:r>
          </a:p>
        </p:txBody>
      </p:sp>
      <p:sp>
        <p:nvSpPr>
          <p:cNvPr id="11" name="TextBox 10"/>
          <p:cNvSpPr txBox="1"/>
          <p:nvPr/>
        </p:nvSpPr>
        <p:spPr>
          <a:xfrm>
            <a:off x="841248" y="2825496"/>
            <a:ext cx="4751679" cy="731520"/>
          </a:xfrm>
          <a:prstGeom prst="rect">
            <a:avLst/>
          </a:prstGeom>
          <a:noFill/>
        </p:spPr>
        <p:txBody>
          <a:bodyPr wrap="square" lIns="0" rIns="0" tIns="0" bIns="0" anchor="t">
            <a:spAutoFit/>
          </a:bodyPr>
          <a:lstStyle/>
          <a:p>
            <a:pPr algn="ctr"/>
            <a:r>
              <a:rPr sz="1250" b="0">
                <a:solidFill>
                  <a:srgbClr val="A8B6C6"/>
                </a:solidFill>
                <a:latin typeface="Barlow"/>
              </a:rPr>
              <a:t>Unknown scope. Unknown errors. Unknown hours. A weekend you will not get back.</a:t>
            </a:r>
          </a:p>
        </p:txBody>
      </p:sp>
      <p:sp>
        <p:nvSpPr>
          <p:cNvPr id="12" name="Rectangle 11"/>
          <p:cNvSpPr/>
          <p:nvPr/>
        </p:nvSpPr>
        <p:spPr>
          <a:xfrm>
            <a:off x="6324447" y="1499616"/>
            <a:ext cx="5300319" cy="210312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324447" y="1499616"/>
            <a:ext cx="5300319"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24447" y="1773936"/>
            <a:ext cx="5300319" cy="548640"/>
          </a:xfrm>
          <a:prstGeom prst="rect">
            <a:avLst/>
          </a:prstGeom>
          <a:noFill/>
        </p:spPr>
        <p:txBody>
          <a:bodyPr wrap="square" lIns="0" rIns="0" tIns="0" bIns="0" anchor="t">
            <a:spAutoFit/>
          </a:bodyPr>
          <a:lstStyle/>
          <a:p>
            <a:pPr algn="ctr"/>
            <a:r>
              <a:rPr sz="3600" b="0">
                <a:solidFill>
                  <a:srgbClr val="EAF0F6"/>
                </a:solidFill>
                <a:latin typeface="Barlow"/>
              </a:rPr>
              <a:t>🙂</a:t>
            </a:r>
          </a:p>
        </p:txBody>
      </p:sp>
      <p:sp>
        <p:nvSpPr>
          <p:cNvPr id="15" name="TextBox 14"/>
          <p:cNvSpPr txBox="1"/>
          <p:nvPr/>
        </p:nvSpPr>
        <p:spPr>
          <a:xfrm>
            <a:off x="6324447" y="2414016"/>
            <a:ext cx="5300319" cy="320040"/>
          </a:xfrm>
          <a:prstGeom prst="rect">
            <a:avLst/>
          </a:prstGeom>
          <a:noFill/>
        </p:spPr>
        <p:txBody>
          <a:bodyPr wrap="square" lIns="0" rIns="0" tIns="0" bIns="0" anchor="t">
            <a:spAutoFit/>
          </a:bodyPr>
          <a:lstStyle/>
          <a:p>
            <a:pPr algn="ctr"/>
            <a:r>
              <a:rPr sz="2000" b="1">
                <a:solidFill>
                  <a:srgbClr val="EAF0F6"/>
                </a:solidFill>
                <a:latin typeface="Barlow Condensed"/>
              </a:rPr>
              <a:t>Anticipation</a:t>
            </a:r>
          </a:p>
        </p:txBody>
      </p:sp>
      <p:sp>
        <p:nvSpPr>
          <p:cNvPr id="16" name="TextBox 15"/>
          <p:cNvSpPr txBox="1"/>
          <p:nvPr/>
        </p:nvSpPr>
        <p:spPr>
          <a:xfrm>
            <a:off x="6598767" y="2825496"/>
            <a:ext cx="4751679" cy="731520"/>
          </a:xfrm>
          <a:prstGeom prst="rect">
            <a:avLst/>
          </a:prstGeom>
          <a:noFill/>
        </p:spPr>
        <p:txBody>
          <a:bodyPr wrap="square" lIns="0" rIns="0" tIns="0" bIns="0" anchor="t">
            <a:spAutoFit/>
          </a:bodyPr>
          <a:lstStyle/>
          <a:p>
            <a:pPr algn="ctr"/>
            <a:r>
              <a:rPr sz="1250" b="0">
                <a:solidFill>
                  <a:srgbClr val="A8B6C6"/>
                </a:solidFill>
                <a:latin typeface="Barlow"/>
              </a:rPr>
              <a:t>Known scope. Expected errors. Planned hours. A procedure you have flown before.</a:t>
            </a:r>
          </a:p>
        </p:txBody>
      </p:sp>
      <p:sp>
        <p:nvSpPr>
          <p:cNvPr id="17" name="Rectangle 16"/>
          <p:cNvSpPr/>
          <p:nvPr/>
        </p:nvSpPr>
        <p:spPr>
          <a:xfrm>
            <a:off x="566928" y="3831336"/>
            <a:ext cx="31750" cy="384048"/>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6656" y="3831336"/>
            <a:ext cx="10948111" cy="457200"/>
          </a:xfrm>
          <a:prstGeom prst="rect">
            <a:avLst/>
          </a:prstGeom>
          <a:noFill/>
        </p:spPr>
        <p:txBody>
          <a:bodyPr wrap="square" lIns="0" rIns="0" tIns="0" bIns="0" anchor="t">
            <a:spAutoFit/>
          </a:bodyPr>
          <a:lstStyle/>
          <a:p>
            <a:pPr algn="l"/>
            <a:r>
              <a:rPr sz="1250" b="0">
                <a:solidFill>
                  <a:srgbClr val="A8B6C6"/>
                </a:solidFill>
                <a:latin typeface="Barlow"/>
              </a:rPr>
              <a:t>The difference is not talent. It is preparation.</a:t>
            </a:r>
          </a:p>
        </p:txBody>
      </p:sp>
      <p:sp>
        <p:nvSpPr>
          <p:cNvPr id="19" name="TextBox 18"/>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0" name="TextBox 19"/>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07 / 88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08335"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SITUATION</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Where the fleet stands today</a:t>
            </a:r>
          </a:p>
        </p:txBody>
      </p:sp>
      <p:sp>
        <p:nvSpPr>
          <p:cNvPr id="7" name="TextBox 6"/>
          <p:cNvSpPr txBox="1"/>
          <p:nvPr/>
        </p:nvSpPr>
        <p:spPr>
          <a:xfrm>
            <a:off x="566928" y="1618488"/>
            <a:ext cx="1463040" cy="274320"/>
          </a:xfrm>
          <a:prstGeom prst="rect">
            <a:avLst/>
          </a:prstGeom>
          <a:noFill/>
        </p:spPr>
        <p:txBody>
          <a:bodyPr wrap="square" lIns="0" rIns="0" tIns="0" bIns="0" anchor="t">
            <a:spAutoFit/>
          </a:bodyPr>
          <a:lstStyle/>
          <a:p>
            <a:pPr algn="l"/>
            <a:r>
              <a:rPr sz="1700" b="1">
                <a:solidFill>
                  <a:srgbClr val="EAF0F6"/>
                </a:solidFill>
                <a:latin typeface="Barlow Condensed"/>
              </a:rPr>
              <a:t>TYPO3 v11</a:t>
            </a:r>
          </a:p>
        </p:txBody>
      </p:sp>
      <p:sp>
        <p:nvSpPr>
          <p:cNvPr id="8" name="Rectangle 7"/>
          <p:cNvSpPr/>
          <p:nvPr/>
        </p:nvSpPr>
        <p:spPr>
          <a:xfrm>
            <a:off x="2121408" y="1591056"/>
            <a:ext cx="8131759" cy="27432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2708729" y="1591056"/>
            <a:ext cx="2324538" cy="27432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033267" y="1591056"/>
            <a:ext cx="2410326" cy="274320"/>
          </a:xfrm>
          <a:prstGeom prst="rect">
            <a:avLst/>
          </a:prstGeom>
          <a:solidFill>
            <a:srgbClr val="7A5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390327" y="1636776"/>
            <a:ext cx="1234440" cy="228600"/>
          </a:xfrm>
          <a:prstGeom prst="rect">
            <a:avLst/>
          </a:prstGeom>
          <a:noFill/>
        </p:spPr>
        <p:txBody>
          <a:bodyPr wrap="square" lIns="0" rIns="0" tIns="0" bIns="0" anchor="t">
            <a:spAutoFit/>
          </a:bodyPr>
          <a:lstStyle/>
          <a:p>
            <a:pPr algn="r"/>
            <a:r>
              <a:rPr sz="1000" b="0">
                <a:solidFill>
                  <a:srgbClr val="6F8093"/>
                </a:solidFill>
                <a:latin typeface="IBM Plex Mono"/>
              </a:rPr>
              <a:t>2024-10-31</a:t>
            </a:r>
          </a:p>
        </p:txBody>
      </p:sp>
      <p:sp>
        <p:nvSpPr>
          <p:cNvPr id="12" name="TextBox 11"/>
          <p:cNvSpPr txBox="1"/>
          <p:nvPr/>
        </p:nvSpPr>
        <p:spPr>
          <a:xfrm>
            <a:off x="566928" y="2039112"/>
            <a:ext cx="1463040" cy="274320"/>
          </a:xfrm>
          <a:prstGeom prst="rect">
            <a:avLst/>
          </a:prstGeom>
          <a:noFill/>
        </p:spPr>
        <p:txBody>
          <a:bodyPr wrap="square" lIns="0" rIns="0" tIns="0" bIns="0" anchor="t">
            <a:spAutoFit/>
          </a:bodyPr>
          <a:lstStyle/>
          <a:p>
            <a:pPr algn="l"/>
            <a:r>
              <a:rPr sz="1700" b="1">
                <a:solidFill>
                  <a:srgbClr val="E5484D"/>
                </a:solidFill>
                <a:latin typeface="Barlow Condensed"/>
              </a:rPr>
              <a:t>TYPO3 v12</a:t>
            </a:r>
          </a:p>
        </p:txBody>
      </p:sp>
      <p:sp>
        <p:nvSpPr>
          <p:cNvPr id="13" name="Rectangle 12"/>
          <p:cNvSpPr/>
          <p:nvPr/>
        </p:nvSpPr>
        <p:spPr>
          <a:xfrm>
            <a:off x="2121408" y="2011680"/>
            <a:ext cx="8131759" cy="27432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7640" y="2011680"/>
            <a:ext cx="1816406" cy="27432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934046" y="2011680"/>
            <a:ext cx="2410326" cy="274320"/>
          </a:xfrm>
          <a:prstGeom prst="rect">
            <a:avLst/>
          </a:prstGeom>
          <a:solidFill>
            <a:srgbClr val="7A5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390327" y="2057400"/>
            <a:ext cx="1234440" cy="228600"/>
          </a:xfrm>
          <a:prstGeom prst="rect">
            <a:avLst/>
          </a:prstGeom>
          <a:noFill/>
        </p:spPr>
        <p:txBody>
          <a:bodyPr wrap="square" lIns="0" rIns="0" tIns="0" bIns="0" anchor="t">
            <a:spAutoFit/>
          </a:bodyPr>
          <a:lstStyle/>
          <a:p>
            <a:pPr algn="r"/>
            <a:r>
              <a:rPr sz="1000" b="0">
                <a:solidFill>
                  <a:srgbClr val="6F8093"/>
                </a:solidFill>
                <a:latin typeface="IBM Plex Mono"/>
              </a:rPr>
              <a:t>2026-04-30</a:t>
            </a:r>
          </a:p>
        </p:txBody>
      </p:sp>
      <p:sp>
        <p:nvSpPr>
          <p:cNvPr id="17" name="TextBox 16"/>
          <p:cNvSpPr txBox="1"/>
          <p:nvPr/>
        </p:nvSpPr>
        <p:spPr>
          <a:xfrm>
            <a:off x="566928" y="2459736"/>
            <a:ext cx="1463040" cy="274320"/>
          </a:xfrm>
          <a:prstGeom prst="rect">
            <a:avLst/>
          </a:prstGeom>
          <a:noFill/>
        </p:spPr>
        <p:txBody>
          <a:bodyPr wrap="square" lIns="0" rIns="0" tIns="0" bIns="0" anchor="t">
            <a:spAutoFit/>
          </a:bodyPr>
          <a:lstStyle/>
          <a:p>
            <a:pPr algn="l"/>
            <a:r>
              <a:rPr sz="1700" b="1">
                <a:solidFill>
                  <a:srgbClr val="EAF0F6"/>
                </a:solidFill>
                <a:latin typeface="Barlow Condensed"/>
              </a:rPr>
              <a:t>TYPO3 v13</a:t>
            </a:r>
          </a:p>
        </p:txBody>
      </p:sp>
      <p:sp>
        <p:nvSpPr>
          <p:cNvPr id="18" name="Rectangle 17"/>
          <p:cNvSpPr/>
          <p:nvPr/>
        </p:nvSpPr>
        <p:spPr>
          <a:xfrm>
            <a:off x="2121408" y="2432304"/>
            <a:ext cx="8131759" cy="27432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006870" y="2432304"/>
            <a:ext cx="1933540" cy="27432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940411" y="2432304"/>
            <a:ext cx="1808157" cy="274320"/>
          </a:xfrm>
          <a:prstGeom prst="rect">
            <a:avLst/>
          </a:prstGeom>
          <a:solidFill>
            <a:srgbClr val="7A5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390327" y="2478024"/>
            <a:ext cx="1234440" cy="228600"/>
          </a:xfrm>
          <a:prstGeom prst="rect">
            <a:avLst/>
          </a:prstGeom>
          <a:noFill/>
        </p:spPr>
        <p:txBody>
          <a:bodyPr wrap="square" lIns="0" rIns="0" tIns="0" bIns="0" anchor="t">
            <a:spAutoFit/>
          </a:bodyPr>
          <a:lstStyle/>
          <a:p>
            <a:pPr algn="r"/>
            <a:r>
              <a:rPr sz="1000" b="0">
                <a:solidFill>
                  <a:srgbClr val="6F8093"/>
                </a:solidFill>
                <a:latin typeface="IBM Plex Mono"/>
              </a:rPr>
              <a:t>2027-12-31</a:t>
            </a:r>
          </a:p>
        </p:txBody>
      </p:sp>
      <p:sp>
        <p:nvSpPr>
          <p:cNvPr id="22" name="TextBox 21"/>
          <p:cNvSpPr txBox="1"/>
          <p:nvPr/>
        </p:nvSpPr>
        <p:spPr>
          <a:xfrm>
            <a:off x="566928" y="2880360"/>
            <a:ext cx="1463040" cy="274320"/>
          </a:xfrm>
          <a:prstGeom prst="rect">
            <a:avLst/>
          </a:prstGeom>
          <a:noFill/>
        </p:spPr>
        <p:txBody>
          <a:bodyPr wrap="square" lIns="0" rIns="0" tIns="0" bIns="0" anchor="t">
            <a:spAutoFit/>
          </a:bodyPr>
          <a:lstStyle/>
          <a:p>
            <a:pPr algn="l"/>
            <a:r>
              <a:rPr sz="1700" b="1">
                <a:solidFill>
                  <a:srgbClr val="EAF0F6"/>
                </a:solidFill>
                <a:latin typeface="Barlow Condensed"/>
              </a:rPr>
              <a:t>TYPO3 v14</a:t>
            </a:r>
          </a:p>
        </p:txBody>
      </p:sp>
      <p:sp>
        <p:nvSpPr>
          <p:cNvPr id="23" name="Rectangle 22"/>
          <p:cNvSpPr/>
          <p:nvPr/>
        </p:nvSpPr>
        <p:spPr>
          <a:xfrm>
            <a:off x="2121408" y="2852928"/>
            <a:ext cx="8131759" cy="27432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919198" y="2852928"/>
            <a:ext cx="1923641" cy="27432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7842840" y="2852928"/>
            <a:ext cx="1808157" cy="274320"/>
          </a:xfrm>
          <a:prstGeom prst="rect">
            <a:avLst/>
          </a:prstGeom>
          <a:solidFill>
            <a:srgbClr val="7A5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390327" y="2898648"/>
            <a:ext cx="1234440" cy="228600"/>
          </a:xfrm>
          <a:prstGeom prst="rect">
            <a:avLst/>
          </a:prstGeom>
          <a:noFill/>
        </p:spPr>
        <p:txBody>
          <a:bodyPr wrap="square" lIns="0" rIns="0" tIns="0" bIns="0" anchor="t">
            <a:spAutoFit/>
          </a:bodyPr>
          <a:lstStyle/>
          <a:p>
            <a:pPr algn="r"/>
            <a:r>
              <a:rPr sz="1000" b="0">
                <a:solidFill>
                  <a:srgbClr val="6F8093"/>
                </a:solidFill>
                <a:latin typeface="IBM Plex Mono"/>
              </a:rPr>
              <a:t>2029-06-30</a:t>
            </a:r>
          </a:p>
        </p:txBody>
      </p:sp>
      <p:sp>
        <p:nvSpPr>
          <p:cNvPr id="27" name="Rectangle 26"/>
          <p:cNvSpPr/>
          <p:nvPr/>
        </p:nvSpPr>
        <p:spPr>
          <a:xfrm>
            <a:off x="6125420" y="1536192"/>
            <a:ext cx="22860" cy="173736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66928" y="3383280"/>
            <a:ext cx="11057839" cy="228600"/>
          </a:xfrm>
          <a:prstGeom prst="rect">
            <a:avLst/>
          </a:prstGeom>
          <a:noFill/>
        </p:spPr>
        <p:txBody>
          <a:bodyPr wrap="square" lIns="0" rIns="0" tIns="0" bIns="0" anchor="t">
            <a:spAutoFit/>
          </a:bodyPr>
          <a:lstStyle/>
          <a:p>
            <a:pPr algn="l"/>
            <a:r>
              <a:rPr sz="950" b="0">
                <a:solidFill>
                  <a:srgbClr val="3FCF8E"/>
                </a:solidFill>
                <a:latin typeface="IBM Plex Mono"/>
              </a:rPr>
              <a:t>■ </a:t>
            </a:r>
            <a:r>
              <a:rPr sz="950" b="0">
                <a:solidFill>
                  <a:srgbClr val="6F8093"/>
                </a:solidFill>
                <a:latin typeface="IBM Plex Mono"/>
              </a:rPr>
              <a:t>FREE SUPPORT    </a:t>
            </a:r>
            <a:r>
              <a:rPr sz="950" b="0">
                <a:solidFill>
                  <a:srgbClr val="7A5B1B"/>
                </a:solidFill>
                <a:latin typeface="IBM Plex Mono"/>
              </a:rPr>
              <a:t>■ </a:t>
            </a:r>
            <a:r>
              <a:rPr sz="950" b="0">
                <a:solidFill>
                  <a:srgbClr val="6F8093"/>
                </a:solidFill>
                <a:latin typeface="IBM Plex Mono"/>
              </a:rPr>
              <a:t>ELTS (PAID)    </a:t>
            </a:r>
            <a:r>
              <a:rPr sz="950" b="0">
                <a:solidFill>
                  <a:srgbClr val="FF8700"/>
                </a:solidFill>
                <a:latin typeface="IBM Plex Mono"/>
              </a:rPr>
              <a:t>■ </a:t>
            </a:r>
            <a:r>
              <a:rPr sz="950" b="0">
                <a:solidFill>
                  <a:srgbClr val="6F8093"/>
                </a:solidFill>
                <a:latin typeface="IBM Plex Mono"/>
              </a:rPr>
              <a:t>TODAY, 24 AUGUST 2026</a:t>
            </a:r>
          </a:p>
        </p:txBody>
      </p:sp>
      <p:sp>
        <p:nvSpPr>
          <p:cNvPr id="29" name="Rectangle 28"/>
          <p:cNvSpPr/>
          <p:nvPr/>
        </p:nvSpPr>
        <p:spPr>
          <a:xfrm>
            <a:off x="566928" y="3822192"/>
            <a:ext cx="31750" cy="384048"/>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76656" y="3822192"/>
            <a:ext cx="10948111" cy="457200"/>
          </a:xfrm>
          <a:prstGeom prst="rect">
            <a:avLst/>
          </a:prstGeom>
          <a:noFill/>
        </p:spPr>
        <p:txBody>
          <a:bodyPr wrap="square" lIns="0" rIns="0" tIns="0" bIns="0" anchor="t">
            <a:spAutoFit/>
          </a:bodyPr>
          <a:lstStyle/>
          <a:p>
            <a:pPr algn="l"/>
            <a:r>
              <a:rPr sz="1250" b="0">
                <a:solidFill>
                  <a:srgbClr val="A8B6C6"/>
                </a:solidFill>
                <a:latin typeface="Barlow"/>
              </a:rPr>
              <a:t>Free support for v12 ended on 30 April 2026. If you are still on v12 today, you are flying on ELTS reserves — legal, paid for, and not a long-term plan.</a:t>
            </a:r>
          </a:p>
        </p:txBody>
      </p:sp>
      <p:sp>
        <p:nvSpPr>
          <p:cNvPr id="31" name="TextBox 30"/>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32" name="TextBox 31"/>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08 / 88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46877"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SITUATION</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Your dispatcher already noticed</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composer refuses to release the aircraft</a:t>
            </a:r>
          </a:p>
        </p:txBody>
      </p:sp>
      <p:sp>
        <p:nvSpPr>
          <p:cNvPr id="8" name="Rectangle 7"/>
          <p:cNvSpPr/>
          <p:nvPr/>
        </p:nvSpPr>
        <p:spPr>
          <a:xfrm>
            <a:off x="566928" y="1975104"/>
            <a:ext cx="11057839" cy="1920240"/>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ddev composer require webvision/flight-ops -W</a:t>
            </a:r>
          </a:p>
        </p:txBody>
      </p:sp>
      <p:sp>
        <p:nvSpPr>
          <p:cNvPr id="11" name="TextBox 10"/>
          <p:cNvSpPr txBox="1"/>
          <p:nvPr/>
        </p:nvSpPr>
        <p:spPr>
          <a:xfrm>
            <a:off x="713232" y="2395728"/>
            <a:ext cx="10765231" cy="1389888"/>
          </a:xfrm>
          <a:prstGeom prst="rect">
            <a:avLst/>
          </a:prstGeom>
          <a:noFill/>
        </p:spPr>
        <p:txBody>
          <a:bodyPr wrap="square" lIns="0" rIns="0" tIns="0" bIns="0" anchor="t">
            <a:spAutoFit/>
          </a:bodyPr>
          <a:lstStyle/>
          <a:p>
            <a:pPr algn="l">
              <a:lnSpc>
                <a:spcPct val="106000"/>
              </a:lnSpc>
            </a:pPr>
            <a:r>
              <a:rPr sz="836" b="0" i="0">
                <a:solidFill>
                  <a:srgbClr val="C9D6E2"/>
                </a:solidFill>
                <a:latin typeface="IBM Plex Mono"/>
              </a:rPr>
              <a:t>  Problem 26</a:t>
            </a:r>
          </a:p>
          <a:p>
            <a:pPr algn="l">
              <a:lnSpc>
                <a:spcPct val="106000"/>
              </a:lnSpc>
              <a:spcBef>
                <a:spcPts val="0"/>
              </a:spcBef>
            </a:pPr>
            <a:r>
              <a:rPr sz="836" b="0" i="0">
                <a:solidFill>
                  <a:srgbClr val="E5484D"/>
                </a:solidFill>
                <a:latin typeface="IBM Plex Mono"/>
              </a:rPr>
              <a:t>    - Root composer.json requires webvision/flight-ops @dev</a:t>
            </a:r>
          </a:p>
          <a:p>
            <a:pPr algn="l">
              <a:lnSpc>
                <a:spcPct val="106000"/>
              </a:lnSpc>
              <a:spcBef>
                <a:spcPts val="0"/>
              </a:spcBef>
            </a:pPr>
            <a:r>
              <a:rPr sz="836" b="0" i="0">
                <a:solidFill>
                  <a:srgbClr val="E5484D"/>
                </a:solidFill>
                <a:latin typeface="IBM Plex Mono"/>
              </a:rPr>
              <a:t>      -&gt; satisfiable by webvision/flight-ops[dev-main].</a:t>
            </a:r>
          </a:p>
          <a:p>
            <a:pPr algn="l">
              <a:lnSpc>
                <a:spcPct val="106000"/>
              </a:lnSpc>
              <a:spcBef>
                <a:spcPts val="0"/>
              </a:spcBef>
            </a:pPr>
            <a:r>
              <a:rPr sz="836" b="0" i="0">
                <a:solidFill>
                  <a:srgbClr val="E5484D"/>
                </a:solidFill>
                <a:latin typeface="IBM Plex Mono"/>
              </a:rPr>
              <a:t>    - webvision/flight-ops dev-main requires typo3/cms-core ^12.4</a:t>
            </a:r>
          </a:p>
          <a:p>
            <a:pPr algn="l">
              <a:lnSpc>
                <a:spcPct val="106000"/>
              </a:lnSpc>
              <a:spcBef>
                <a:spcPts val="0"/>
              </a:spcBef>
            </a:pPr>
            <a:r>
              <a:rPr sz="836" b="0" i="0">
                <a:solidFill>
                  <a:srgbClr val="E5484D"/>
                </a:solidFill>
                <a:latin typeface="IBM Plex Mono"/>
              </a:rPr>
              <a:t>      -&gt; found typo3/cms-core[v12.4.0, ..., v12.4.45] but these were not</a:t>
            </a:r>
          </a:p>
          <a:p>
            <a:pPr algn="l">
              <a:lnSpc>
                <a:spcPct val="106000"/>
              </a:lnSpc>
              <a:spcBef>
                <a:spcPts val="0"/>
              </a:spcBef>
            </a:pPr>
            <a:r>
              <a:rPr sz="836" b="0" i="0">
                <a:solidFill>
                  <a:srgbClr val="C9D6E2"/>
                </a:solidFill>
                <a:latin typeface="IBM Plex Mono"/>
              </a:rPr>
              <a:t>         loaded, because they are affected by security advisories</a:t>
            </a:r>
          </a:p>
          <a:p>
            <a:pPr algn="l">
              <a:lnSpc>
                <a:spcPct val="106000"/>
              </a:lnSpc>
              <a:spcBef>
                <a:spcPts val="0"/>
              </a:spcBef>
            </a:pPr>
            <a:r>
              <a:rPr sz="836" b="0" i="0">
                <a:solidFill>
                  <a:srgbClr val="C9D6E2"/>
                </a:solidFill>
                <a:latin typeface="IBM Plex Mono"/>
              </a:rPr>
              <a:t>         ("PKSA-2yr3-by9d-r1gh", "PKSA-q3vc-jr63-rrrj", "PKSA-gj1k-954p-nhmk",</a:t>
            </a:r>
          </a:p>
          <a:p>
            <a:pPr algn="l">
              <a:lnSpc>
                <a:spcPct val="106000"/>
              </a:lnSpc>
              <a:spcBef>
                <a:spcPts val="0"/>
              </a:spcBef>
            </a:pPr>
            <a:r>
              <a:rPr sz="836" b="0" i="0">
                <a:solidFill>
                  <a:srgbClr val="C9D6E2"/>
                </a:solidFill>
                <a:latin typeface="IBM Plex Mono"/>
              </a:rPr>
              <a:t>          "PKSA-gr4f-6g49-cg8v", "PKSA-32mm-z25f-2ysj", ... 25 more).</a:t>
            </a:r>
          </a:p>
          <a:p>
            <a:pPr algn="l">
              <a:lnSpc>
                <a:spcPct val="106000"/>
              </a:lnSpc>
              <a:spcBef>
                <a:spcPts val="0"/>
              </a:spcBef>
            </a:pPr>
            <a:r>
              <a:rPr sz="836" b="0" i="0">
                <a:solidFill>
                  <a:srgbClr val="C9D6E2"/>
                </a:solidFill>
                <a:latin typeface="IBM Plex Mono"/>
              </a:rPr>
              <a:t> </a:t>
            </a:r>
          </a:p>
          <a:p>
            <a:pPr algn="l">
              <a:lnSpc>
                <a:spcPct val="106000"/>
              </a:lnSpc>
              <a:spcBef>
                <a:spcPts val="0"/>
              </a:spcBef>
            </a:pPr>
            <a:r>
              <a:rPr sz="836" b="0" i="0">
                <a:solidFill>
                  <a:srgbClr val="C9D6E2"/>
                </a:solidFill>
                <a:latin typeface="IBM Plex Mono"/>
              </a:rPr>
              <a:t>Installation failed, reverting ./composer.json and ./composer.lock</a:t>
            </a:r>
          </a:p>
        </p:txBody>
      </p:sp>
      <p:sp>
        <p:nvSpPr>
          <p:cNvPr id="12" name="TextBox 11"/>
          <p:cNvSpPr txBox="1"/>
          <p:nvPr/>
        </p:nvSpPr>
        <p:spPr>
          <a:xfrm>
            <a:off x="566928" y="4041648"/>
            <a:ext cx="11057839" cy="914400"/>
          </a:xfrm>
          <a:prstGeom prst="rect">
            <a:avLst/>
          </a:prstGeom>
          <a:noFill/>
        </p:spPr>
        <p:txBody>
          <a:bodyPr wrap="square" lIns="0" rIns="0" tIns="0" bIns="0" anchor="t">
            <a:spAutoFit/>
          </a:bodyPr>
          <a:lstStyle/>
          <a:p>
            <a:pPr algn="l">
              <a:lnSpc>
                <a:spcPct val="112000"/>
              </a:lnSpc>
            </a:pPr>
            <a:r>
              <a:rPr sz="1250" b="0" i="0">
                <a:solidFill>
                  <a:srgbClr val="6F8093"/>
                </a:solidFill>
                <a:latin typeface="Barlow"/>
              </a:rPr>
              <a:t>◆  </a:t>
            </a:r>
            <a:r>
              <a:rPr sz="1250" b="0" i="0">
                <a:solidFill>
                  <a:srgbClr val="EAF0F6"/>
                </a:solidFill>
                <a:latin typeface="Barlow"/>
              </a:rPr>
              <a:t>This is real output from the demo instance for this talk, on a fully patched v12.4.45.</a:t>
            </a:r>
          </a:p>
          <a:p>
            <a:pPr algn="l">
              <a:lnSpc>
                <a:spcPct val="112000"/>
              </a:lnSpc>
              <a:spcBef>
                <a:spcPts val="700"/>
              </a:spcBef>
            </a:pPr>
            <a:r>
              <a:rPr sz="1250" b="0" i="0">
                <a:solidFill>
                  <a:srgbClr val="6F8093"/>
                </a:solidFill>
                <a:latin typeface="Barlow"/>
              </a:rPr>
              <a:t>◆  </a:t>
            </a:r>
            <a:r>
              <a:rPr sz="1250" b="0" i="0">
                <a:solidFill>
                  <a:srgbClr val="EAF0F6"/>
                </a:solidFill>
                <a:latin typeface="Barlow"/>
              </a:rPr>
              <a:t>Once free support ends, the last public release stays frozen while advisories keep landing.</a:t>
            </a:r>
          </a:p>
          <a:p>
            <a:pPr algn="l">
              <a:lnSpc>
                <a:spcPct val="112000"/>
              </a:lnSpc>
              <a:spcBef>
                <a:spcPts val="700"/>
              </a:spcBef>
            </a:pPr>
            <a:r>
              <a:rPr sz="1250" b="0" i="0">
                <a:solidFill>
                  <a:srgbClr val="6F8093"/>
                </a:solidFill>
                <a:latin typeface="Barlow"/>
              </a:rPr>
              <a:t>◆  </a:t>
            </a:r>
            <a:r>
              <a:rPr sz="1250" b="0" i="0">
                <a:solidFill>
                  <a:srgbClr val="EAF0F6"/>
                </a:solidFill>
                <a:latin typeface="Barlow"/>
              </a:rPr>
              <a:t>You can silence it. You cannot fix it without ELTS — or an upgrade.</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09 / 88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385419"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THE MODEL</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Three phases, one flight</a:t>
            </a:r>
          </a:p>
        </p:txBody>
      </p:sp>
      <p:sp>
        <p:nvSpPr>
          <p:cNvPr id="7" name="Rectangle 6"/>
          <p:cNvSpPr/>
          <p:nvPr/>
        </p:nvSpPr>
        <p:spPr>
          <a:xfrm>
            <a:off x="566928" y="1591056"/>
            <a:ext cx="3533546"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91056"/>
            <a:ext cx="3533546" cy="4064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8" y="1792224"/>
            <a:ext cx="3533546" cy="548640"/>
          </a:xfrm>
          <a:prstGeom prst="rect">
            <a:avLst/>
          </a:prstGeom>
          <a:noFill/>
        </p:spPr>
        <p:txBody>
          <a:bodyPr wrap="square" lIns="0" rIns="0" tIns="0" bIns="0" anchor="t">
            <a:spAutoFit/>
          </a:bodyPr>
          <a:lstStyle/>
          <a:p>
            <a:pPr algn="l"/>
            <a:r>
              <a:rPr sz="4000" b="1">
                <a:solidFill>
                  <a:srgbClr val="4EC3E0"/>
                </a:solidFill>
                <a:latin typeface="Barlow Condensed"/>
              </a:rPr>
              <a:t>1</a:t>
            </a:r>
          </a:p>
        </p:txBody>
      </p:sp>
      <p:sp>
        <p:nvSpPr>
          <p:cNvPr id="10" name="TextBox 9"/>
          <p:cNvSpPr txBox="1"/>
          <p:nvPr/>
        </p:nvSpPr>
        <p:spPr>
          <a:xfrm>
            <a:off x="795528" y="2432304"/>
            <a:ext cx="3167786" cy="320040"/>
          </a:xfrm>
          <a:prstGeom prst="rect">
            <a:avLst/>
          </a:prstGeom>
          <a:noFill/>
        </p:spPr>
        <p:txBody>
          <a:bodyPr wrap="square" lIns="0" rIns="0" tIns="0" bIns="0" anchor="t">
            <a:spAutoFit/>
          </a:bodyPr>
          <a:lstStyle/>
          <a:p>
            <a:pPr algn="l"/>
            <a:r>
              <a:rPr sz="2100" b="1">
                <a:solidFill>
                  <a:srgbClr val="EAF0F6"/>
                </a:solidFill>
                <a:latin typeface="Barlow Condensed"/>
              </a:rPr>
              <a:t>Pre-Flight</a:t>
            </a:r>
          </a:p>
        </p:txBody>
      </p:sp>
      <p:sp>
        <p:nvSpPr>
          <p:cNvPr id="11" name="TextBox 10"/>
          <p:cNvSpPr txBox="1"/>
          <p:nvPr/>
        </p:nvSpPr>
        <p:spPr>
          <a:xfrm>
            <a:off x="795528" y="2825496"/>
            <a:ext cx="3167786" cy="365760"/>
          </a:xfrm>
          <a:prstGeom prst="rect">
            <a:avLst/>
          </a:prstGeom>
          <a:noFill/>
        </p:spPr>
        <p:txBody>
          <a:bodyPr wrap="square" lIns="0" rIns="0" tIns="0" bIns="0" anchor="t">
            <a:spAutoFit/>
          </a:bodyPr>
          <a:lstStyle/>
          <a:p>
            <a:pPr algn="l"/>
            <a:r>
              <a:rPr sz="950" b="0">
                <a:solidFill>
                  <a:srgbClr val="6F8093"/>
                </a:solidFill>
                <a:latin typeface="IBM Plex Mono"/>
              </a:rPr>
              <a:t>DISPATCH, BRIEFING, WALKAROUND</a:t>
            </a:r>
          </a:p>
        </p:txBody>
      </p:sp>
      <p:sp>
        <p:nvSpPr>
          <p:cNvPr id="12" name="TextBox 11"/>
          <p:cNvSpPr txBox="1"/>
          <p:nvPr/>
        </p:nvSpPr>
        <p:spPr>
          <a:xfrm>
            <a:off x="795528" y="3282696"/>
            <a:ext cx="3167786" cy="457200"/>
          </a:xfrm>
          <a:prstGeom prst="rect">
            <a:avLst/>
          </a:prstGeom>
          <a:noFill/>
        </p:spPr>
        <p:txBody>
          <a:bodyPr wrap="square" lIns="0" rIns="0" tIns="0" bIns="0" anchor="t">
            <a:spAutoFit/>
          </a:bodyPr>
          <a:lstStyle/>
          <a:p>
            <a:pPr algn="l"/>
            <a:r>
              <a:rPr sz="1250" b="0">
                <a:solidFill>
                  <a:srgbClr val="A8B6C6"/>
                </a:solidFill>
                <a:latin typeface="Barlow"/>
              </a:rPr>
              <a:t>Everything before you touch composer</a:t>
            </a:r>
          </a:p>
        </p:txBody>
      </p:sp>
      <p:sp>
        <p:nvSpPr>
          <p:cNvPr id="13" name="Rectangle 12"/>
          <p:cNvSpPr/>
          <p:nvPr/>
        </p:nvSpPr>
        <p:spPr>
          <a:xfrm>
            <a:off x="4329074" y="1591056"/>
            <a:ext cx="3533546"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29074" y="1591056"/>
            <a:ext cx="3533546" cy="4064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557674" y="1792224"/>
            <a:ext cx="3533546" cy="548640"/>
          </a:xfrm>
          <a:prstGeom prst="rect">
            <a:avLst/>
          </a:prstGeom>
          <a:noFill/>
        </p:spPr>
        <p:txBody>
          <a:bodyPr wrap="square" lIns="0" rIns="0" tIns="0" bIns="0" anchor="t">
            <a:spAutoFit/>
          </a:bodyPr>
          <a:lstStyle/>
          <a:p>
            <a:pPr algn="l"/>
            <a:r>
              <a:rPr sz="4000" b="1">
                <a:solidFill>
                  <a:srgbClr val="FF8700"/>
                </a:solidFill>
                <a:latin typeface="Barlow Condensed"/>
              </a:rPr>
              <a:t>2</a:t>
            </a:r>
          </a:p>
        </p:txBody>
      </p:sp>
      <p:sp>
        <p:nvSpPr>
          <p:cNvPr id="16" name="TextBox 15"/>
          <p:cNvSpPr txBox="1"/>
          <p:nvPr/>
        </p:nvSpPr>
        <p:spPr>
          <a:xfrm>
            <a:off x="4557674" y="2432304"/>
            <a:ext cx="3167786" cy="320040"/>
          </a:xfrm>
          <a:prstGeom prst="rect">
            <a:avLst/>
          </a:prstGeom>
          <a:noFill/>
        </p:spPr>
        <p:txBody>
          <a:bodyPr wrap="square" lIns="0" rIns="0" tIns="0" bIns="0" anchor="t">
            <a:spAutoFit/>
          </a:bodyPr>
          <a:lstStyle/>
          <a:p>
            <a:pPr algn="l"/>
            <a:r>
              <a:rPr sz="2100" b="1">
                <a:solidFill>
                  <a:srgbClr val="EAF0F6"/>
                </a:solidFill>
                <a:latin typeface="Barlow Condensed"/>
              </a:rPr>
              <a:t>Flight</a:t>
            </a:r>
          </a:p>
        </p:txBody>
      </p:sp>
      <p:sp>
        <p:nvSpPr>
          <p:cNvPr id="17" name="TextBox 16"/>
          <p:cNvSpPr txBox="1"/>
          <p:nvPr/>
        </p:nvSpPr>
        <p:spPr>
          <a:xfrm>
            <a:off x="4557674" y="2825496"/>
            <a:ext cx="3167786" cy="365760"/>
          </a:xfrm>
          <a:prstGeom prst="rect">
            <a:avLst/>
          </a:prstGeom>
          <a:noFill/>
        </p:spPr>
        <p:txBody>
          <a:bodyPr wrap="square" lIns="0" rIns="0" tIns="0" bIns="0" anchor="t">
            <a:spAutoFit/>
          </a:bodyPr>
          <a:lstStyle/>
          <a:p>
            <a:pPr algn="l"/>
            <a:r>
              <a:rPr sz="950" b="0">
                <a:solidFill>
                  <a:srgbClr val="6F8093"/>
                </a:solidFill>
                <a:latin typeface="IBM Plex Mono"/>
              </a:rPr>
              <a:t>TAKE-OFF, CRUISE, THE STERILE COCKPIT</a:t>
            </a:r>
          </a:p>
        </p:txBody>
      </p:sp>
      <p:sp>
        <p:nvSpPr>
          <p:cNvPr id="18" name="TextBox 17"/>
          <p:cNvSpPr txBox="1"/>
          <p:nvPr/>
        </p:nvSpPr>
        <p:spPr>
          <a:xfrm>
            <a:off x="4557674" y="3282696"/>
            <a:ext cx="3167786" cy="457200"/>
          </a:xfrm>
          <a:prstGeom prst="rect">
            <a:avLst/>
          </a:prstGeom>
          <a:noFill/>
        </p:spPr>
        <p:txBody>
          <a:bodyPr wrap="square" lIns="0" rIns="0" tIns="0" bIns="0" anchor="t">
            <a:spAutoFit/>
          </a:bodyPr>
          <a:lstStyle/>
          <a:p>
            <a:pPr algn="l"/>
            <a:r>
              <a:rPr sz="1250" b="0">
                <a:solidFill>
                  <a:srgbClr val="A8B6C6"/>
                </a:solidFill>
                <a:latin typeface="Barlow"/>
              </a:rPr>
              <a:t>The upgrade window itself</a:t>
            </a:r>
          </a:p>
        </p:txBody>
      </p:sp>
      <p:sp>
        <p:nvSpPr>
          <p:cNvPr id="19" name="Rectangle 18"/>
          <p:cNvSpPr/>
          <p:nvPr/>
        </p:nvSpPr>
        <p:spPr>
          <a:xfrm>
            <a:off x="8091220" y="1591056"/>
            <a:ext cx="3533546"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91220" y="1591056"/>
            <a:ext cx="3533546"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19820" y="1792224"/>
            <a:ext cx="3533546" cy="548640"/>
          </a:xfrm>
          <a:prstGeom prst="rect">
            <a:avLst/>
          </a:prstGeom>
          <a:noFill/>
        </p:spPr>
        <p:txBody>
          <a:bodyPr wrap="square" lIns="0" rIns="0" tIns="0" bIns="0" anchor="t">
            <a:spAutoFit/>
          </a:bodyPr>
          <a:lstStyle/>
          <a:p>
            <a:pPr algn="l"/>
            <a:r>
              <a:rPr sz="4000" b="1">
                <a:solidFill>
                  <a:srgbClr val="3FCF8E"/>
                </a:solidFill>
                <a:latin typeface="Barlow Condensed"/>
              </a:rPr>
              <a:t>3</a:t>
            </a:r>
          </a:p>
        </p:txBody>
      </p:sp>
      <p:sp>
        <p:nvSpPr>
          <p:cNvPr id="22" name="TextBox 21"/>
          <p:cNvSpPr txBox="1"/>
          <p:nvPr/>
        </p:nvSpPr>
        <p:spPr>
          <a:xfrm>
            <a:off x="8319820" y="2432304"/>
            <a:ext cx="3167786" cy="320040"/>
          </a:xfrm>
          <a:prstGeom prst="rect">
            <a:avLst/>
          </a:prstGeom>
          <a:noFill/>
        </p:spPr>
        <p:txBody>
          <a:bodyPr wrap="square" lIns="0" rIns="0" tIns="0" bIns="0" anchor="t">
            <a:spAutoFit/>
          </a:bodyPr>
          <a:lstStyle/>
          <a:p>
            <a:pPr algn="l"/>
            <a:r>
              <a:rPr sz="2100" b="1">
                <a:solidFill>
                  <a:srgbClr val="EAF0F6"/>
                </a:solidFill>
                <a:latin typeface="Barlow Condensed"/>
              </a:rPr>
              <a:t>Post-Flight</a:t>
            </a:r>
          </a:p>
        </p:txBody>
      </p:sp>
      <p:sp>
        <p:nvSpPr>
          <p:cNvPr id="23" name="TextBox 22"/>
          <p:cNvSpPr txBox="1"/>
          <p:nvPr/>
        </p:nvSpPr>
        <p:spPr>
          <a:xfrm>
            <a:off x="8319820" y="2825496"/>
            <a:ext cx="3167786" cy="365760"/>
          </a:xfrm>
          <a:prstGeom prst="rect">
            <a:avLst/>
          </a:prstGeom>
          <a:noFill/>
        </p:spPr>
        <p:txBody>
          <a:bodyPr wrap="square" lIns="0" rIns="0" tIns="0" bIns="0" anchor="t">
            <a:spAutoFit/>
          </a:bodyPr>
          <a:lstStyle/>
          <a:p>
            <a:pPr algn="l"/>
            <a:r>
              <a:rPr sz="950" b="0">
                <a:solidFill>
                  <a:srgbClr val="6F8093"/>
                </a:solidFill>
                <a:latin typeface="IBM Plex Mono"/>
              </a:rPr>
              <a:t>LANDING, TECH LOG, DEBRIEF</a:t>
            </a:r>
          </a:p>
        </p:txBody>
      </p:sp>
      <p:sp>
        <p:nvSpPr>
          <p:cNvPr id="24" name="TextBox 23"/>
          <p:cNvSpPr txBox="1"/>
          <p:nvPr/>
        </p:nvSpPr>
        <p:spPr>
          <a:xfrm>
            <a:off x="8319820" y="3282696"/>
            <a:ext cx="3167786" cy="457200"/>
          </a:xfrm>
          <a:prstGeom prst="rect">
            <a:avLst/>
          </a:prstGeom>
          <a:noFill/>
        </p:spPr>
        <p:txBody>
          <a:bodyPr wrap="square" lIns="0" rIns="0" tIns="0" bIns="0" anchor="t">
            <a:spAutoFit/>
          </a:bodyPr>
          <a:lstStyle/>
          <a:p>
            <a:pPr algn="l"/>
            <a:r>
              <a:rPr sz="1250" b="0">
                <a:solidFill>
                  <a:srgbClr val="A8B6C6"/>
                </a:solidFill>
                <a:latin typeface="Barlow"/>
              </a:rPr>
              <a:t>Verification and the next flight's plan</a:t>
            </a:r>
          </a:p>
        </p:txBody>
      </p:sp>
      <p:sp>
        <p:nvSpPr>
          <p:cNvPr id="25" name="Rectangle 24"/>
          <p:cNvSpPr/>
          <p:nvPr/>
        </p:nvSpPr>
        <p:spPr>
          <a:xfrm>
            <a:off x="566928" y="4059936"/>
            <a:ext cx="11057839" cy="384048"/>
          </a:xfrm>
          <a:prstGeom prst="rect">
            <a:avLst/>
          </a:prstGeom>
          <a:solidFill>
            <a:srgbClr val="2A2414"/>
          </a:solidFill>
          <a:ln w="952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66928" y="4151376"/>
            <a:ext cx="11057839" cy="274320"/>
          </a:xfrm>
          <a:prstGeom prst="rect">
            <a:avLst/>
          </a:prstGeom>
          <a:noFill/>
        </p:spPr>
        <p:txBody>
          <a:bodyPr wrap="square" lIns="0" rIns="0" tIns="0" bIns="0" anchor="t">
            <a:spAutoFit/>
          </a:bodyPr>
          <a:lstStyle/>
          <a:p>
            <a:pPr algn="ctr"/>
            <a:r>
              <a:rPr sz="1250" b="1">
                <a:solidFill>
                  <a:srgbClr val="FFB020"/>
                </a:solidFill>
                <a:latin typeface="Barlow Condensed"/>
              </a:rPr>
              <a:t>THE CORE CHANGELOG RUNS UNDERNEATH ALL THREE</a:t>
            </a:r>
          </a:p>
        </p:txBody>
      </p:sp>
      <p:sp>
        <p:nvSpPr>
          <p:cNvPr id="27" name="TextBox 2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8" name="TextBox 2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10 / 88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523961"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THE MODEL</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mapping</a:t>
            </a:r>
          </a:p>
        </p:txBody>
      </p:sp>
      <p:sp>
        <p:nvSpPr>
          <p:cNvPr id="7" name="TextBox 6"/>
          <p:cNvSpPr txBox="1"/>
          <p:nvPr/>
        </p:nvSpPr>
        <p:spPr>
          <a:xfrm>
            <a:off x="566928" y="1591056"/>
            <a:ext cx="4023360" cy="201168"/>
          </a:xfrm>
          <a:prstGeom prst="rect">
            <a:avLst/>
          </a:prstGeom>
          <a:noFill/>
        </p:spPr>
        <p:txBody>
          <a:bodyPr wrap="square" lIns="0" rIns="0" tIns="0" bIns="0" anchor="t">
            <a:spAutoFit/>
          </a:bodyPr>
          <a:lstStyle/>
          <a:p>
            <a:pPr algn="l"/>
            <a:r>
              <a:rPr sz="900" b="0">
                <a:solidFill>
                  <a:srgbClr val="6F8093"/>
                </a:solidFill>
                <a:latin typeface="IBM Plex Mono"/>
              </a:rPr>
              <a:t>AVIATION</a:t>
            </a:r>
          </a:p>
        </p:txBody>
      </p:sp>
      <p:sp>
        <p:nvSpPr>
          <p:cNvPr id="8" name="TextBox 7"/>
          <p:cNvSpPr txBox="1"/>
          <p:nvPr/>
        </p:nvSpPr>
        <p:spPr>
          <a:xfrm>
            <a:off x="4773168" y="1591056"/>
            <a:ext cx="5486400" cy="201168"/>
          </a:xfrm>
          <a:prstGeom prst="rect">
            <a:avLst/>
          </a:prstGeom>
          <a:noFill/>
        </p:spPr>
        <p:txBody>
          <a:bodyPr wrap="square" lIns="0" rIns="0" tIns="0" bIns="0" anchor="t">
            <a:spAutoFit/>
          </a:bodyPr>
          <a:lstStyle/>
          <a:p>
            <a:pPr algn="l"/>
            <a:r>
              <a:rPr sz="900" b="0">
                <a:solidFill>
                  <a:srgbClr val="6F8093"/>
                </a:solidFill>
                <a:latin typeface="IBM Plex Mono"/>
              </a:rPr>
              <a:t>TYPO3 UPGRADE</a:t>
            </a:r>
          </a:p>
        </p:txBody>
      </p:sp>
      <p:sp>
        <p:nvSpPr>
          <p:cNvPr id="9" name="TextBox 8"/>
          <p:cNvSpPr txBox="1"/>
          <p:nvPr/>
        </p:nvSpPr>
        <p:spPr>
          <a:xfrm>
            <a:off x="566928" y="1847088"/>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NOTAM briefing</a:t>
            </a:r>
          </a:p>
        </p:txBody>
      </p:sp>
      <p:sp>
        <p:nvSpPr>
          <p:cNvPr id="10" name="TextBox 9"/>
          <p:cNvSpPr txBox="1"/>
          <p:nvPr/>
        </p:nvSpPr>
        <p:spPr>
          <a:xfrm>
            <a:off x="4773168" y="1856232"/>
            <a:ext cx="6851599" cy="237744"/>
          </a:xfrm>
          <a:prstGeom prst="rect">
            <a:avLst/>
          </a:prstGeom>
          <a:noFill/>
        </p:spPr>
        <p:txBody>
          <a:bodyPr wrap="square" lIns="0" rIns="0" tIns="0" bIns="0" anchor="t">
            <a:spAutoFit/>
          </a:bodyPr>
          <a:lstStyle/>
          <a:p>
            <a:pPr algn="l"/>
            <a:r>
              <a:rPr sz="1200" b="0">
                <a:solidFill>
                  <a:srgbClr val="A8B6C6"/>
                </a:solidFill>
                <a:latin typeface="Barlow"/>
              </a:rPr>
              <a:t>Core Changelog: Breaking, Deprecation, Feature, Important</a:t>
            </a:r>
          </a:p>
        </p:txBody>
      </p:sp>
      <p:sp>
        <p:nvSpPr>
          <p:cNvPr id="11" name="Rectangle 10"/>
          <p:cNvSpPr/>
          <p:nvPr/>
        </p:nvSpPr>
        <p:spPr>
          <a:xfrm>
            <a:off x="566928" y="2066544"/>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66928" y="2112264"/>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Airworthiness Directive with a compliance date</a:t>
            </a:r>
          </a:p>
        </p:txBody>
      </p:sp>
      <p:sp>
        <p:nvSpPr>
          <p:cNvPr id="13" name="TextBox 12"/>
          <p:cNvSpPr txBox="1"/>
          <p:nvPr/>
        </p:nvSpPr>
        <p:spPr>
          <a:xfrm>
            <a:off x="4773168" y="2121408"/>
            <a:ext cx="6851599" cy="237744"/>
          </a:xfrm>
          <a:prstGeom prst="rect">
            <a:avLst/>
          </a:prstGeom>
          <a:noFill/>
        </p:spPr>
        <p:txBody>
          <a:bodyPr wrap="square" lIns="0" rIns="0" tIns="0" bIns="0" anchor="t">
            <a:spAutoFit/>
          </a:bodyPr>
          <a:lstStyle/>
          <a:p>
            <a:pPr algn="l"/>
            <a:r>
              <a:rPr sz="1200" b="0">
                <a:solidFill>
                  <a:srgbClr val="A8B6C6"/>
                </a:solidFill>
                <a:latin typeface="Barlow"/>
              </a:rPr>
              <a:t>Deprecation — flies today, grounded later</a:t>
            </a:r>
          </a:p>
        </p:txBody>
      </p:sp>
      <p:sp>
        <p:nvSpPr>
          <p:cNvPr id="14" name="Rectangle 13"/>
          <p:cNvSpPr/>
          <p:nvPr/>
        </p:nvSpPr>
        <p:spPr>
          <a:xfrm>
            <a:off x="566928" y="2331720"/>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2377440"/>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Runway closed / navaid out of service</a:t>
            </a:r>
          </a:p>
        </p:txBody>
      </p:sp>
      <p:sp>
        <p:nvSpPr>
          <p:cNvPr id="16" name="TextBox 15"/>
          <p:cNvSpPr txBox="1"/>
          <p:nvPr/>
        </p:nvSpPr>
        <p:spPr>
          <a:xfrm>
            <a:off x="4773168" y="2386584"/>
            <a:ext cx="6851599" cy="237744"/>
          </a:xfrm>
          <a:prstGeom prst="rect">
            <a:avLst/>
          </a:prstGeom>
          <a:noFill/>
        </p:spPr>
        <p:txBody>
          <a:bodyPr wrap="square" lIns="0" rIns="0" tIns="0" bIns="0" anchor="t">
            <a:spAutoFit/>
          </a:bodyPr>
          <a:lstStyle/>
          <a:p>
            <a:pPr algn="l"/>
            <a:r>
              <a:rPr sz="1200" b="0">
                <a:solidFill>
                  <a:srgbClr val="A8B6C6"/>
                </a:solidFill>
                <a:latin typeface="Barlow"/>
              </a:rPr>
              <a:t>Breaking change — replan or do not depart</a:t>
            </a:r>
          </a:p>
        </p:txBody>
      </p:sp>
      <p:sp>
        <p:nvSpPr>
          <p:cNvPr id="17" name="Rectangle 16"/>
          <p:cNvSpPr/>
          <p:nvPr/>
        </p:nvSpPr>
        <p:spPr>
          <a:xfrm>
            <a:off x="566928" y="2596896"/>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6928" y="2642616"/>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Pre-flight walkaround</a:t>
            </a:r>
          </a:p>
        </p:txBody>
      </p:sp>
      <p:sp>
        <p:nvSpPr>
          <p:cNvPr id="19" name="TextBox 18"/>
          <p:cNvSpPr txBox="1"/>
          <p:nvPr/>
        </p:nvSpPr>
        <p:spPr>
          <a:xfrm>
            <a:off x="4773168" y="2651760"/>
            <a:ext cx="6851599" cy="237744"/>
          </a:xfrm>
          <a:prstGeom prst="rect">
            <a:avLst/>
          </a:prstGeom>
          <a:noFill/>
        </p:spPr>
        <p:txBody>
          <a:bodyPr wrap="square" lIns="0" rIns="0" tIns="0" bIns="0" anchor="t">
            <a:spAutoFit/>
          </a:bodyPr>
          <a:lstStyle/>
          <a:p>
            <a:pPr algn="l"/>
            <a:r>
              <a:rPr sz="1200" b="0">
                <a:solidFill>
                  <a:srgbClr val="A8B6C6"/>
                </a:solidFill>
                <a:latin typeface="Barlow"/>
              </a:rPr>
              <a:t>Is the current version clean? Zero known deprecations</a:t>
            </a:r>
          </a:p>
        </p:txBody>
      </p:sp>
      <p:sp>
        <p:nvSpPr>
          <p:cNvPr id="20" name="Rectangle 19"/>
          <p:cNvSpPr/>
          <p:nvPr/>
        </p:nvSpPr>
        <p:spPr>
          <a:xfrm>
            <a:off x="566928" y="2862072"/>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66928" y="2907792"/>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Performance calculation</a:t>
            </a:r>
          </a:p>
        </p:txBody>
      </p:sp>
      <p:sp>
        <p:nvSpPr>
          <p:cNvPr id="22" name="TextBox 21"/>
          <p:cNvSpPr txBox="1"/>
          <p:nvPr/>
        </p:nvSpPr>
        <p:spPr>
          <a:xfrm>
            <a:off x="4773168" y="2916936"/>
            <a:ext cx="6851599" cy="237744"/>
          </a:xfrm>
          <a:prstGeom prst="rect">
            <a:avLst/>
          </a:prstGeom>
          <a:noFill/>
        </p:spPr>
        <p:txBody>
          <a:bodyPr wrap="square" lIns="0" rIns="0" tIns="0" bIns="0" anchor="t">
            <a:spAutoFit/>
          </a:bodyPr>
          <a:lstStyle/>
          <a:p>
            <a:pPr algn="l"/>
            <a:r>
              <a:rPr sz="1200" b="0">
                <a:solidFill>
                  <a:srgbClr val="A8B6C6"/>
                </a:solidFill>
                <a:latin typeface="Barlow"/>
              </a:rPr>
              <a:t>composer why-not, platform and PHP constraints</a:t>
            </a:r>
          </a:p>
        </p:txBody>
      </p:sp>
      <p:sp>
        <p:nvSpPr>
          <p:cNvPr id="23" name="Rectangle 22"/>
          <p:cNvSpPr/>
          <p:nvPr/>
        </p:nvSpPr>
        <p:spPr>
          <a:xfrm>
            <a:off x="566928" y="3127248"/>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66928" y="3172968"/>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MEL — Minimum Equipment List</a:t>
            </a:r>
          </a:p>
        </p:txBody>
      </p:sp>
      <p:sp>
        <p:nvSpPr>
          <p:cNvPr id="25" name="TextBox 24"/>
          <p:cNvSpPr txBox="1"/>
          <p:nvPr/>
        </p:nvSpPr>
        <p:spPr>
          <a:xfrm>
            <a:off x="4773168" y="3182112"/>
            <a:ext cx="6851599" cy="237744"/>
          </a:xfrm>
          <a:prstGeom prst="rect">
            <a:avLst/>
          </a:prstGeom>
          <a:noFill/>
        </p:spPr>
        <p:txBody>
          <a:bodyPr wrap="square" lIns="0" rIns="0" tIns="0" bIns="0" anchor="t">
            <a:spAutoFit/>
          </a:bodyPr>
          <a:lstStyle/>
          <a:p>
            <a:pPr algn="l"/>
            <a:r>
              <a:rPr sz="1200" b="0">
                <a:solidFill>
                  <a:srgbClr val="A8B6C6"/>
                </a:solidFill>
                <a:latin typeface="Barlow"/>
              </a:rPr>
              <a:t>Findings you accept deliberately, in writing, with a date</a:t>
            </a:r>
          </a:p>
        </p:txBody>
      </p:sp>
      <p:sp>
        <p:nvSpPr>
          <p:cNvPr id="26" name="Rectangle 25"/>
          <p:cNvSpPr/>
          <p:nvPr/>
        </p:nvSpPr>
        <p:spPr>
          <a:xfrm>
            <a:off x="566928" y="3392424"/>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66928" y="3438144"/>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Departure briefing</a:t>
            </a:r>
          </a:p>
        </p:txBody>
      </p:sp>
      <p:sp>
        <p:nvSpPr>
          <p:cNvPr id="28" name="TextBox 27"/>
          <p:cNvSpPr txBox="1"/>
          <p:nvPr/>
        </p:nvSpPr>
        <p:spPr>
          <a:xfrm>
            <a:off x="4773168" y="3447288"/>
            <a:ext cx="6851599" cy="237744"/>
          </a:xfrm>
          <a:prstGeom prst="rect">
            <a:avLst/>
          </a:prstGeom>
          <a:noFill/>
        </p:spPr>
        <p:txBody>
          <a:bodyPr wrap="square" lIns="0" rIns="0" tIns="0" bIns="0" anchor="t">
            <a:spAutoFit/>
          </a:bodyPr>
          <a:lstStyle/>
          <a:p>
            <a:pPr algn="l"/>
            <a:r>
              <a:rPr sz="1200" b="0">
                <a:solidFill>
                  <a:srgbClr val="A8B6C6"/>
                </a:solidFill>
                <a:latin typeface="Barlow"/>
              </a:rPr>
              <a:t>The written plan, shared with the whole team</a:t>
            </a:r>
          </a:p>
        </p:txBody>
      </p:sp>
      <p:sp>
        <p:nvSpPr>
          <p:cNvPr id="29" name="Rectangle 28"/>
          <p:cNvSpPr/>
          <p:nvPr/>
        </p:nvSpPr>
        <p:spPr>
          <a:xfrm>
            <a:off x="566928" y="3657600"/>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66928" y="3703320"/>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V1 — decision speed</a:t>
            </a:r>
          </a:p>
        </p:txBody>
      </p:sp>
      <p:sp>
        <p:nvSpPr>
          <p:cNvPr id="31" name="TextBox 30"/>
          <p:cNvSpPr txBox="1"/>
          <p:nvPr/>
        </p:nvSpPr>
        <p:spPr>
          <a:xfrm>
            <a:off x="4773168" y="3712464"/>
            <a:ext cx="6851599" cy="237744"/>
          </a:xfrm>
          <a:prstGeom prst="rect">
            <a:avLst/>
          </a:prstGeom>
          <a:noFill/>
        </p:spPr>
        <p:txBody>
          <a:bodyPr wrap="square" lIns="0" rIns="0" tIns="0" bIns="0" anchor="t">
            <a:spAutoFit/>
          </a:bodyPr>
          <a:lstStyle/>
          <a:p>
            <a:pPr algn="l"/>
            <a:r>
              <a:rPr sz="1200" b="0">
                <a:solidFill>
                  <a:srgbClr val="A8B6C6"/>
                </a:solidFill>
                <a:latin typeface="Barlow"/>
              </a:rPr>
              <a:t>Schema migration and wizards: the point of no return</a:t>
            </a:r>
          </a:p>
        </p:txBody>
      </p:sp>
      <p:sp>
        <p:nvSpPr>
          <p:cNvPr id="32" name="Rectangle 31"/>
          <p:cNvSpPr/>
          <p:nvPr/>
        </p:nvSpPr>
        <p:spPr>
          <a:xfrm>
            <a:off x="566928" y="3922776"/>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66928" y="3968496"/>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Sterile cockpit below 10,000 ft</a:t>
            </a:r>
          </a:p>
        </p:txBody>
      </p:sp>
      <p:sp>
        <p:nvSpPr>
          <p:cNvPr id="34" name="TextBox 33"/>
          <p:cNvSpPr txBox="1"/>
          <p:nvPr/>
        </p:nvSpPr>
        <p:spPr>
          <a:xfrm>
            <a:off x="4773168" y="3977640"/>
            <a:ext cx="6851599" cy="237744"/>
          </a:xfrm>
          <a:prstGeom prst="rect">
            <a:avLst/>
          </a:prstGeom>
          <a:noFill/>
        </p:spPr>
        <p:txBody>
          <a:bodyPr wrap="square" lIns="0" rIns="0" tIns="0" bIns="0" anchor="t">
            <a:spAutoFit/>
          </a:bodyPr>
          <a:lstStyle/>
          <a:p>
            <a:pPr algn="l"/>
            <a:r>
              <a:rPr sz="1200" b="0">
                <a:solidFill>
                  <a:srgbClr val="A8B6C6"/>
                </a:solidFill>
                <a:latin typeface="Barlow"/>
              </a:rPr>
              <a:t>Code and content freeze during the window</a:t>
            </a:r>
          </a:p>
        </p:txBody>
      </p:sp>
      <p:sp>
        <p:nvSpPr>
          <p:cNvPr id="35" name="Rectangle 34"/>
          <p:cNvSpPr/>
          <p:nvPr/>
        </p:nvSpPr>
        <p:spPr>
          <a:xfrm>
            <a:off x="566928" y="4187952"/>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66928" y="4233672"/>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QRH — Quick Reference Handbook</a:t>
            </a:r>
          </a:p>
        </p:txBody>
      </p:sp>
      <p:sp>
        <p:nvSpPr>
          <p:cNvPr id="37" name="TextBox 36"/>
          <p:cNvSpPr txBox="1"/>
          <p:nvPr/>
        </p:nvSpPr>
        <p:spPr>
          <a:xfrm>
            <a:off x="4773168" y="4242816"/>
            <a:ext cx="6851599" cy="237744"/>
          </a:xfrm>
          <a:prstGeom prst="rect">
            <a:avLst/>
          </a:prstGeom>
          <a:noFill/>
        </p:spPr>
        <p:txBody>
          <a:bodyPr wrap="square" lIns="0" rIns="0" tIns="0" bIns="0" anchor="t">
            <a:spAutoFit/>
          </a:bodyPr>
          <a:lstStyle/>
          <a:p>
            <a:pPr algn="l"/>
            <a:r>
              <a:rPr sz="1200" b="0">
                <a:solidFill>
                  <a:srgbClr val="A8B6C6"/>
                </a:solidFill>
                <a:latin typeface="Barlow"/>
              </a:rPr>
              <a:t>Prepared responses for the errors you expect</a:t>
            </a:r>
          </a:p>
        </p:txBody>
      </p:sp>
      <p:sp>
        <p:nvSpPr>
          <p:cNvPr id="38" name="Rectangle 37"/>
          <p:cNvSpPr/>
          <p:nvPr/>
        </p:nvSpPr>
        <p:spPr>
          <a:xfrm>
            <a:off x="566928" y="4453128"/>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66928" y="4498848"/>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Stabilised approach criteria → go-around</a:t>
            </a:r>
          </a:p>
        </p:txBody>
      </p:sp>
      <p:sp>
        <p:nvSpPr>
          <p:cNvPr id="40" name="TextBox 39"/>
          <p:cNvSpPr txBox="1"/>
          <p:nvPr/>
        </p:nvSpPr>
        <p:spPr>
          <a:xfrm>
            <a:off x="4773168" y="4507992"/>
            <a:ext cx="6851599" cy="237744"/>
          </a:xfrm>
          <a:prstGeom prst="rect">
            <a:avLst/>
          </a:prstGeom>
          <a:noFill/>
        </p:spPr>
        <p:txBody>
          <a:bodyPr wrap="square" lIns="0" rIns="0" tIns="0" bIns="0" anchor="t">
            <a:spAutoFit/>
          </a:bodyPr>
          <a:lstStyle/>
          <a:p>
            <a:pPr algn="l"/>
            <a:r>
              <a:rPr sz="1200" b="0">
                <a:solidFill>
                  <a:srgbClr val="A8B6C6"/>
                </a:solidFill>
                <a:latin typeface="Barlow"/>
              </a:rPr>
              <a:t>Written rollback criteria, executed without ego</a:t>
            </a:r>
          </a:p>
        </p:txBody>
      </p:sp>
      <p:sp>
        <p:nvSpPr>
          <p:cNvPr id="41" name="Rectangle 40"/>
          <p:cNvSpPr/>
          <p:nvPr/>
        </p:nvSpPr>
        <p:spPr>
          <a:xfrm>
            <a:off x="566928" y="4718304"/>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66928" y="4764024"/>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Autopilot quietly trimming out an imbalance</a:t>
            </a:r>
          </a:p>
        </p:txBody>
      </p:sp>
      <p:sp>
        <p:nvSpPr>
          <p:cNvPr id="43" name="TextBox 42"/>
          <p:cNvSpPr txBox="1"/>
          <p:nvPr/>
        </p:nvSpPr>
        <p:spPr>
          <a:xfrm>
            <a:off x="4773168" y="4773168"/>
            <a:ext cx="6851599" cy="237744"/>
          </a:xfrm>
          <a:prstGeom prst="rect">
            <a:avLst/>
          </a:prstGeom>
          <a:noFill/>
        </p:spPr>
        <p:txBody>
          <a:bodyPr wrap="square" lIns="0" rIns="0" tIns="0" bIns="0" anchor="t">
            <a:spAutoFit/>
          </a:bodyPr>
          <a:lstStyle/>
          <a:p>
            <a:pPr algn="l"/>
            <a:r>
              <a:rPr sz="1200" b="0">
                <a:solidFill>
                  <a:srgbClr val="A8B6C6"/>
                </a:solidFill>
                <a:latin typeface="Barlow"/>
              </a:rPr>
              <a:t>TCA auto-migration — it keeps flying, and it hides the problem</a:t>
            </a:r>
          </a:p>
        </p:txBody>
      </p:sp>
      <p:sp>
        <p:nvSpPr>
          <p:cNvPr id="44" name="Rectangle 43"/>
          <p:cNvSpPr/>
          <p:nvPr/>
        </p:nvSpPr>
        <p:spPr>
          <a:xfrm>
            <a:off x="566928" y="4983480"/>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66928" y="5029200"/>
            <a:ext cx="4114800" cy="237744"/>
          </a:xfrm>
          <a:prstGeom prst="rect">
            <a:avLst/>
          </a:prstGeom>
          <a:noFill/>
        </p:spPr>
        <p:txBody>
          <a:bodyPr wrap="square" lIns="0" rIns="0" tIns="0" bIns="0" anchor="t">
            <a:spAutoFit/>
          </a:bodyPr>
          <a:lstStyle/>
          <a:p>
            <a:pPr algn="l"/>
            <a:r>
              <a:rPr sz="1300" b="0">
                <a:solidFill>
                  <a:srgbClr val="4EC3E0"/>
                </a:solidFill>
                <a:latin typeface="Barlow Condensed"/>
              </a:rPr>
              <a:t>Tech log write-up</a:t>
            </a:r>
          </a:p>
        </p:txBody>
      </p:sp>
      <p:sp>
        <p:nvSpPr>
          <p:cNvPr id="46" name="TextBox 45"/>
          <p:cNvSpPr txBox="1"/>
          <p:nvPr/>
        </p:nvSpPr>
        <p:spPr>
          <a:xfrm>
            <a:off x="4773168" y="5038344"/>
            <a:ext cx="6851599" cy="237744"/>
          </a:xfrm>
          <a:prstGeom prst="rect">
            <a:avLst/>
          </a:prstGeom>
          <a:noFill/>
        </p:spPr>
        <p:txBody>
          <a:bodyPr wrap="square" lIns="0" rIns="0" tIns="0" bIns="0" anchor="t">
            <a:spAutoFit/>
          </a:bodyPr>
          <a:lstStyle/>
          <a:p>
            <a:pPr algn="l"/>
            <a:r>
              <a:rPr sz="1200" b="0">
                <a:solidFill>
                  <a:srgbClr val="A8B6C6"/>
                </a:solidFill>
                <a:latin typeface="Barlow"/>
              </a:rPr>
              <a:t>Deprecation log, debrief, and the next upgrade's input</a:t>
            </a:r>
          </a:p>
        </p:txBody>
      </p:sp>
      <p:sp>
        <p:nvSpPr>
          <p:cNvPr id="47" name="Rectangle 46"/>
          <p:cNvSpPr/>
          <p:nvPr/>
        </p:nvSpPr>
        <p:spPr>
          <a:xfrm>
            <a:off x="566928" y="5248656"/>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49" name="TextBox 4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11 / 88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41C"/>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62503"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920240"/>
            <a:ext cx="1463040" cy="1463040"/>
          </a:xfrm>
          <a:prstGeom prst="rect">
            <a:avLst/>
          </a:prstGeom>
          <a:noFill/>
        </p:spPr>
        <p:txBody>
          <a:bodyPr wrap="square" lIns="0" rIns="0" tIns="0" bIns="0" anchor="t">
            <a:spAutoFit/>
          </a:bodyPr>
          <a:lstStyle/>
          <a:p>
            <a:pPr algn="ctr"/>
            <a:r>
              <a:rPr sz="5400" b="1">
                <a:solidFill>
                  <a:srgbClr val="FFB020"/>
                </a:solidFill>
                <a:latin typeface="Barlow Condensed"/>
              </a:rPr>
              <a:t>✚</a:t>
            </a:r>
          </a:p>
        </p:txBody>
      </p:sp>
      <p:sp>
        <p:nvSpPr>
          <p:cNvPr id="5" name="TextBox 4"/>
          <p:cNvSpPr txBox="1"/>
          <p:nvPr/>
        </p:nvSpPr>
        <p:spPr>
          <a:xfrm>
            <a:off x="2167128" y="2148840"/>
            <a:ext cx="9457639" cy="274320"/>
          </a:xfrm>
          <a:prstGeom prst="rect">
            <a:avLst/>
          </a:prstGeom>
          <a:noFill/>
        </p:spPr>
        <p:txBody>
          <a:bodyPr wrap="square" lIns="0" rIns="0" tIns="0" bIns="0" anchor="t">
            <a:spAutoFit/>
          </a:bodyPr>
          <a:lstStyle/>
          <a:p>
            <a:pPr algn="l"/>
            <a:r>
              <a:rPr sz="1250" b="1">
                <a:solidFill>
                  <a:srgbClr val="FFB020"/>
                </a:solidFill>
                <a:latin typeface="Barlow Condensed"/>
              </a:rPr>
              <a:t>YOUR NOTAM PACKAGE</a:t>
            </a:r>
          </a:p>
        </p:txBody>
      </p:sp>
      <p:sp>
        <p:nvSpPr>
          <p:cNvPr id="6" name="TextBox 5"/>
          <p:cNvSpPr txBox="1"/>
          <p:nvPr/>
        </p:nvSpPr>
        <p:spPr>
          <a:xfrm>
            <a:off x="2167128" y="2514600"/>
            <a:ext cx="9457639" cy="822960"/>
          </a:xfrm>
          <a:prstGeom prst="rect">
            <a:avLst/>
          </a:prstGeom>
          <a:noFill/>
        </p:spPr>
        <p:txBody>
          <a:bodyPr wrap="square" lIns="0" rIns="0" tIns="0" bIns="0" anchor="t">
            <a:spAutoFit/>
          </a:bodyPr>
          <a:lstStyle/>
          <a:p>
            <a:pPr algn="l"/>
            <a:r>
              <a:rPr sz="4800" b="1">
                <a:solidFill>
                  <a:srgbClr val="EAF0F6"/>
                </a:solidFill>
                <a:latin typeface="Barlow Condensed"/>
              </a:rPr>
              <a:t>The Changelog</a:t>
            </a:r>
          </a:p>
        </p:txBody>
      </p:sp>
      <p:sp>
        <p:nvSpPr>
          <p:cNvPr id="7" name="TextBox 6"/>
          <p:cNvSpPr txBox="1"/>
          <p:nvPr/>
        </p:nvSpPr>
        <p:spPr>
          <a:xfrm>
            <a:off x="2167128" y="3520440"/>
            <a:ext cx="8771839" cy="640080"/>
          </a:xfrm>
          <a:prstGeom prst="rect">
            <a:avLst/>
          </a:prstGeom>
          <a:noFill/>
        </p:spPr>
        <p:txBody>
          <a:bodyPr wrap="square" lIns="0" rIns="0" tIns="0" bIns="0" anchor="t">
            <a:spAutoFit/>
          </a:bodyPr>
          <a:lstStyle/>
          <a:p>
            <a:pPr algn="l"/>
            <a:r>
              <a:rPr sz="1500" b="0">
                <a:solidFill>
                  <a:srgbClr val="A8B6C6"/>
                </a:solidFill>
                <a:latin typeface="Barlow"/>
              </a:rPr>
              <a:t>Read before every flight. Not once, not sometimes. Every flight.</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12 / 88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801045"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CHANGELOG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What a NOTAM actually is</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FFB020"/>
                </a:solidFill>
                <a:latin typeface="Barlow"/>
              </a:rPr>
              <a:t>◆  </a:t>
            </a:r>
            <a:r>
              <a:rPr sz="1600" b="0" i="0">
                <a:solidFill>
                  <a:srgbClr val="EAF0F6"/>
                </a:solidFill>
                <a:latin typeface="Barlow"/>
              </a:rPr>
              <a:t>A NOTAM — Notice to Air Missions — tells a crew what changed since last time.</a:t>
            </a:r>
          </a:p>
          <a:p>
            <a:pPr algn="l">
              <a:lnSpc>
                <a:spcPct val="112000"/>
              </a:lnSpc>
              <a:spcBef>
                <a:spcPts val="1200"/>
              </a:spcBef>
            </a:pPr>
            <a:r>
              <a:rPr sz="1600" b="0" i="0">
                <a:solidFill>
                  <a:srgbClr val="FFB020"/>
                </a:solidFill>
                <a:latin typeface="Barlow"/>
              </a:rPr>
              <a:t>◆  </a:t>
            </a:r>
            <a:r>
              <a:rPr sz="1600" b="0" i="0">
                <a:solidFill>
                  <a:srgbClr val="EAF0F6"/>
                </a:solidFill>
                <a:latin typeface="Barlow"/>
              </a:rPr>
              <a:t>Runway 07 closed. Navaid out of service. New obstacle 1.2 NM short of threshold.</a:t>
            </a:r>
          </a:p>
          <a:p>
            <a:pPr algn="l">
              <a:lnSpc>
                <a:spcPct val="112000"/>
              </a:lnSpc>
              <a:spcBef>
                <a:spcPts val="1200"/>
              </a:spcBef>
            </a:pPr>
            <a:r>
              <a:rPr sz="1600" b="0" i="0">
                <a:solidFill>
                  <a:srgbClr val="FFB020"/>
                </a:solidFill>
                <a:latin typeface="Barlow"/>
              </a:rPr>
              <a:t>◆  </a:t>
            </a:r>
            <a:r>
              <a:rPr sz="1600" b="0" i="0">
                <a:solidFill>
                  <a:srgbClr val="EAF0F6"/>
                </a:solidFill>
                <a:latin typeface="Barlow"/>
              </a:rPr>
              <a:t>It is not interesting reading. It is mandatory reading.</a:t>
            </a:r>
          </a:p>
          <a:p>
            <a:pPr algn="l">
              <a:lnSpc>
                <a:spcPct val="112000"/>
              </a:lnSpc>
              <a:spcBef>
                <a:spcPts val="1200"/>
              </a:spcBef>
            </a:pPr>
            <a:r>
              <a:rPr sz="1600" b="0" i="0">
                <a:solidFill>
                  <a:srgbClr val="FFB020"/>
                </a:solidFill>
                <a:latin typeface="Barlow"/>
              </a:rPr>
              <a:t>◆  </a:t>
            </a:r>
            <a:r>
              <a:rPr sz="1600" b="0" i="0">
                <a:solidFill>
                  <a:srgbClr val="EAF0F6"/>
                </a:solidFill>
                <a:latin typeface="Barlow"/>
              </a:rPr>
              <a:t>No crew departs on the assumption that the airport is the same as last month.</a:t>
            </a:r>
          </a:p>
        </p:txBody>
      </p:sp>
      <p:sp>
        <p:nvSpPr>
          <p:cNvPr id="8" name="Rectangle 7"/>
          <p:cNvSpPr/>
          <p:nvPr/>
        </p:nvSpPr>
        <p:spPr>
          <a:xfrm>
            <a:off x="566928" y="3401568"/>
            <a:ext cx="31750" cy="38404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Yet we routinely upgrade TYPO3 on exactly that assumption.</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13 / 88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939587"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CHANGELOG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Four types, four different demands</a:t>
            </a:r>
          </a:p>
        </p:txBody>
      </p:sp>
      <p:sp>
        <p:nvSpPr>
          <p:cNvPr id="7" name="Rectangle 6"/>
          <p:cNvSpPr/>
          <p:nvPr/>
        </p:nvSpPr>
        <p:spPr>
          <a:xfrm>
            <a:off x="566928" y="1591056"/>
            <a:ext cx="2627299" cy="28346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91056"/>
            <a:ext cx="2627299" cy="406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792224"/>
            <a:ext cx="2352979" cy="320040"/>
          </a:xfrm>
          <a:prstGeom prst="rect">
            <a:avLst/>
          </a:prstGeom>
          <a:noFill/>
        </p:spPr>
        <p:txBody>
          <a:bodyPr wrap="square" lIns="0" rIns="0" tIns="0" bIns="0" anchor="t">
            <a:spAutoFit/>
          </a:bodyPr>
          <a:lstStyle/>
          <a:p>
            <a:pPr algn="l"/>
            <a:r>
              <a:rPr sz="1900" b="1">
                <a:solidFill>
                  <a:srgbClr val="E5484D"/>
                </a:solidFill>
                <a:latin typeface="Barlow Condensed"/>
              </a:rPr>
              <a:t>Breaking</a:t>
            </a:r>
          </a:p>
        </p:txBody>
      </p:sp>
      <p:sp>
        <p:nvSpPr>
          <p:cNvPr id="10" name="TextBox 9"/>
          <p:cNvSpPr txBox="1"/>
          <p:nvPr/>
        </p:nvSpPr>
        <p:spPr>
          <a:xfrm>
            <a:off x="731520" y="2212848"/>
            <a:ext cx="2352979" cy="457200"/>
          </a:xfrm>
          <a:prstGeom prst="rect">
            <a:avLst/>
          </a:prstGeom>
          <a:noFill/>
        </p:spPr>
        <p:txBody>
          <a:bodyPr wrap="square" lIns="0" rIns="0" tIns="0" bIns="0" anchor="t">
            <a:spAutoFit/>
          </a:bodyPr>
          <a:lstStyle/>
          <a:p>
            <a:pPr algn="l"/>
            <a:r>
              <a:rPr sz="850" b="0">
                <a:solidFill>
                  <a:srgbClr val="6F8093"/>
                </a:solidFill>
                <a:latin typeface="IBM Plex Mono"/>
              </a:rPr>
              <a:t>RUNWAY CLOSED</a:t>
            </a:r>
          </a:p>
        </p:txBody>
      </p:sp>
      <p:sp>
        <p:nvSpPr>
          <p:cNvPr id="11" name="TextBox 10"/>
          <p:cNvSpPr txBox="1"/>
          <p:nvPr/>
        </p:nvSpPr>
        <p:spPr>
          <a:xfrm>
            <a:off x="731520" y="2779776"/>
            <a:ext cx="2352979" cy="640080"/>
          </a:xfrm>
          <a:prstGeom prst="rect">
            <a:avLst/>
          </a:prstGeom>
          <a:noFill/>
        </p:spPr>
        <p:txBody>
          <a:bodyPr wrap="square" lIns="0" rIns="0" tIns="0" bIns="0" anchor="t">
            <a:spAutoFit/>
          </a:bodyPr>
          <a:lstStyle/>
          <a:p>
            <a:pPr algn="l"/>
            <a:r>
              <a:rPr sz="1150" b="0">
                <a:solidFill>
                  <a:srgbClr val="EAF0F6"/>
                </a:solidFill>
                <a:latin typeface="Barlow"/>
              </a:rPr>
              <a:t>Something was removed or changed incompatibly.</a:t>
            </a:r>
          </a:p>
        </p:txBody>
      </p:sp>
      <p:sp>
        <p:nvSpPr>
          <p:cNvPr id="12" name="Rectangle 11"/>
          <p:cNvSpPr/>
          <p:nvPr/>
        </p:nvSpPr>
        <p:spPr>
          <a:xfrm>
            <a:off x="731520" y="3648456"/>
            <a:ext cx="2298115"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3767328"/>
            <a:ext cx="2352979" cy="594360"/>
          </a:xfrm>
          <a:prstGeom prst="rect">
            <a:avLst/>
          </a:prstGeom>
          <a:noFill/>
        </p:spPr>
        <p:txBody>
          <a:bodyPr wrap="square" lIns="0" rIns="0" tIns="0" bIns="0" anchor="t">
            <a:spAutoFit/>
          </a:bodyPr>
          <a:lstStyle/>
          <a:p>
            <a:pPr algn="l"/>
            <a:r>
              <a:rPr sz="1100" b="0">
                <a:solidFill>
                  <a:srgbClr val="A8B6C6"/>
                </a:solidFill>
                <a:latin typeface="Barlow"/>
              </a:rPr>
              <a:t>Fix before you can run on the new version. No grace period.</a:t>
            </a:r>
          </a:p>
        </p:txBody>
      </p:sp>
      <p:sp>
        <p:nvSpPr>
          <p:cNvPr id="14" name="Rectangle 13"/>
          <p:cNvSpPr/>
          <p:nvPr/>
        </p:nvSpPr>
        <p:spPr>
          <a:xfrm>
            <a:off x="3377107" y="1591056"/>
            <a:ext cx="2627299" cy="28346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377107" y="1591056"/>
            <a:ext cx="2627299" cy="4064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41699" y="1792224"/>
            <a:ext cx="2352979" cy="320040"/>
          </a:xfrm>
          <a:prstGeom prst="rect">
            <a:avLst/>
          </a:prstGeom>
          <a:noFill/>
        </p:spPr>
        <p:txBody>
          <a:bodyPr wrap="square" lIns="0" rIns="0" tIns="0" bIns="0" anchor="t">
            <a:spAutoFit/>
          </a:bodyPr>
          <a:lstStyle/>
          <a:p>
            <a:pPr algn="l"/>
            <a:r>
              <a:rPr sz="1900" b="1">
                <a:solidFill>
                  <a:srgbClr val="FFB020"/>
                </a:solidFill>
                <a:latin typeface="Barlow Condensed"/>
              </a:rPr>
              <a:t>Deprecation</a:t>
            </a:r>
          </a:p>
        </p:txBody>
      </p:sp>
      <p:sp>
        <p:nvSpPr>
          <p:cNvPr id="17" name="TextBox 16"/>
          <p:cNvSpPr txBox="1"/>
          <p:nvPr/>
        </p:nvSpPr>
        <p:spPr>
          <a:xfrm>
            <a:off x="3541699" y="2212848"/>
            <a:ext cx="2352979" cy="457200"/>
          </a:xfrm>
          <a:prstGeom prst="rect">
            <a:avLst/>
          </a:prstGeom>
          <a:noFill/>
        </p:spPr>
        <p:txBody>
          <a:bodyPr wrap="square" lIns="0" rIns="0" tIns="0" bIns="0" anchor="t">
            <a:spAutoFit/>
          </a:bodyPr>
          <a:lstStyle/>
          <a:p>
            <a:pPr algn="l"/>
            <a:r>
              <a:rPr sz="850" b="0">
                <a:solidFill>
                  <a:srgbClr val="6F8093"/>
                </a:solidFill>
                <a:latin typeface="IBM Plex Mono"/>
              </a:rPr>
              <a:t>AIRWORTHINESS DIRECTIVE WITH A COMPLIANCE DATE</a:t>
            </a:r>
          </a:p>
        </p:txBody>
      </p:sp>
      <p:sp>
        <p:nvSpPr>
          <p:cNvPr id="18" name="TextBox 17"/>
          <p:cNvSpPr txBox="1"/>
          <p:nvPr/>
        </p:nvSpPr>
        <p:spPr>
          <a:xfrm>
            <a:off x="3541699" y="2779776"/>
            <a:ext cx="2352979" cy="640080"/>
          </a:xfrm>
          <a:prstGeom prst="rect">
            <a:avLst/>
          </a:prstGeom>
          <a:noFill/>
        </p:spPr>
        <p:txBody>
          <a:bodyPr wrap="square" lIns="0" rIns="0" tIns="0" bIns="0" anchor="t">
            <a:spAutoFit/>
          </a:bodyPr>
          <a:lstStyle/>
          <a:p>
            <a:pPr algn="l"/>
            <a:r>
              <a:rPr sz="1150" b="0">
                <a:solidFill>
                  <a:srgbClr val="EAF0F6"/>
                </a:solidFill>
                <a:latin typeface="Barlow"/>
              </a:rPr>
              <a:t>Still works — and is already scheduled for removal.</a:t>
            </a:r>
          </a:p>
        </p:txBody>
      </p:sp>
      <p:sp>
        <p:nvSpPr>
          <p:cNvPr id="19" name="Rectangle 18"/>
          <p:cNvSpPr/>
          <p:nvPr/>
        </p:nvSpPr>
        <p:spPr>
          <a:xfrm>
            <a:off x="3541699" y="3648456"/>
            <a:ext cx="2298115"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41699" y="3767328"/>
            <a:ext cx="2352979" cy="594360"/>
          </a:xfrm>
          <a:prstGeom prst="rect">
            <a:avLst/>
          </a:prstGeom>
          <a:noFill/>
        </p:spPr>
        <p:txBody>
          <a:bodyPr wrap="square" lIns="0" rIns="0" tIns="0" bIns="0" anchor="t">
            <a:spAutoFit/>
          </a:bodyPr>
          <a:lstStyle/>
          <a:p>
            <a:pPr algn="l"/>
            <a:r>
              <a:rPr sz="1100" b="0">
                <a:solidFill>
                  <a:srgbClr val="A8B6C6"/>
                </a:solidFill>
                <a:latin typeface="Barlow"/>
              </a:rPr>
              <a:t>Fix now, on your schedule, or it becomes a Breaking change later.</a:t>
            </a:r>
          </a:p>
        </p:txBody>
      </p:sp>
      <p:sp>
        <p:nvSpPr>
          <p:cNvPr id="21" name="Rectangle 20"/>
          <p:cNvSpPr/>
          <p:nvPr/>
        </p:nvSpPr>
        <p:spPr>
          <a:xfrm>
            <a:off x="6187287" y="1591056"/>
            <a:ext cx="2627299" cy="28346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187287" y="1591056"/>
            <a:ext cx="2627299"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1792224"/>
            <a:ext cx="2352979" cy="320040"/>
          </a:xfrm>
          <a:prstGeom prst="rect">
            <a:avLst/>
          </a:prstGeom>
          <a:noFill/>
        </p:spPr>
        <p:txBody>
          <a:bodyPr wrap="square" lIns="0" rIns="0" tIns="0" bIns="0" anchor="t">
            <a:spAutoFit/>
          </a:bodyPr>
          <a:lstStyle/>
          <a:p>
            <a:pPr algn="l"/>
            <a:r>
              <a:rPr sz="1900" b="1">
                <a:solidFill>
                  <a:srgbClr val="3FCF8E"/>
                </a:solidFill>
                <a:latin typeface="Barlow Condensed"/>
              </a:rPr>
              <a:t>Feature</a:t>
            </a:r>
          </a:p>
        </p:txBody>
      </p:sp>
      <p:sp>
        <p:nvSpPr>
          <p:cNvPr id="24" name="TextBox 23"/>
          <p:cNvSpPr txBox="1"/>
          <p:nvPr/>
        </p:nvSpPr>
        <p:spPr>
          <a:xfrm>
            <a:off x="6351879" y="2212848"/>
            <a:ext cx="2352979" cy="457200"/>
          </a:xfrm>
          <a:prstGeom prst="rect">
            <a:avLst/>
          </a:prstGeom>
          <a:noFill/>
        </p:spPr>
        <p:txBody>
          <a:bodyPr wrap="square" lIns="0" rIns="0" tIns="0" bIns="0" anchor="t">
            <a:spAutoFit/>
          </a:bodyPr>
          <a:lstStyle/>
          <a:p>
            <a:pPr algn="l"/>
            <a:r>
              <a:rPr sz="850" b="0">
                <a:solidFill>
                  <a:srgbClr val="6F8093"/>
                </a:solidFill>
                <a:latin typeface="IBM Plex Mono"/>
              </a:rPr>
              <a:t>NEW EQUIPMENT FITTED</a:t>
            </a:r>
          </a:p>
        </p:txBody>
      </p:sp>
      <p:sp>
        <p:nvSpPr>
          <p:cNvPr id="25" name="TextBox 24"/>
          <p:cNvSpPr txBox="1"/>
          <p:nvPr/>
        </p:nvSpPr>
        <p:spPr>
          <a:xfrm>
            <a:off x="6351879" y="2779776"/>
            <a:ext cx="2352979" cy="640080"/>
          </a:xfrm>
          <a:prstGeom prst="rect">
            <a:avLst/>
          </a:prstGeom>
          <a:noFill/>
        </p:spPr>
        <p:txBody>
          <a:bodyPr wrap="square" lIns="0" rIns="0" tIns="0" bIns="0" anchor="t">
            <a:spAutoFit/>
          </a:bodyPr>
          <a:lstStyle/>
          <a:p>
            <a:pPr algn="l"/>
            <a:r>
              <a:rPr sz="1150" b="0">
                <a:solidFill>
                  <a:srgbClr val="EAF0F6"/>
                </a:solidFill>
                <a:latin typeface="Barlow"/>
              </a:rPr>
              <a:t>New API or capability you may adopt.</a:t>
            </a:r>
          </a:p>
        </p:txBody>
      </p:sp>
      <p:sp>
        <p:nvSpPr>
          <p:cNvPr id="26" name="Rectangle 25"/>
          <p:cNvSpPr/>
          <p:nvPr/>
        </p:nvSpPr>
        <p:spPr>
          <a:xfrm>
            <a:off x="6351879" y="3648456"/>
            <a:ext cx="2298115"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3767328"/>
            <a:ext cx="2352979" cy="594360"/>
          </a:xfrm>
          <a:prstGeom prst="rect">
            <a:avLst/>
          </a:prstGeom>
          <a:noFill/>
        </p:spPr>
        <p:txBody>
          <a:bodyPr wrap="square" lIns="0" rIns="0" tIns="0" bIns="0" anchor="t">
            <a:spAutoFit/>
          </a:bodyPr>
          <a:lstStyle/>
          <a:p>
            <a:pPr algn="l"/>
            <a:r>
              <a:rPr sz="1100" b="0">
                <a:solidFill>
                  <a:srgbClr val="A8B6C6"/>
                </a:solidFill>
                <a:latin typeface="Barlow"/>
              </a:rPr>
              <a:t>Optional — but often the migration target of a deprecation.</a:t>
            </a:r>
          </a:p>
        </p:txBody>
      </p:sp>
      <p:sp>
        <p:nvSpPr>
          <p:cNvPr id="28" name="Rectangle 27"/>
          <p:cNvSpPr/>
          <p:nvPr/>
        </p:nvSpPr>
        <p:spPr>
          <a:xfrm>
            <a:off x="8997467" y="1591056"/>
            <a:ext cx="2627299" cy="28346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997467" y="1591056"/>
            <a:ext cx="2627299" cy="4064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162059" y="1792224"/>
            <a:ext cx="2352979" cy="320040"/>
          </a:xfrm>
          <a:prstGeom prst="rect">
            <a:avLst/>
          </a:prstGeom>
          <a:noFill/>
        </p:spPr>
        <p:txBody>
          <a:bodyPr wrap="square" lIns="0" rIns="0" tIns="0" bIns="0" anchor="t">
            <a:spAutoFit/>
          </a:bodyPr>
          <a:lstStyle/>
          <a:p>
            <a:pPr algn="l"/>
            <a:r>
              <a:rPr sz="1900" b="1">
                <a:solidFill>
                  <a:srgbClr val="5B8DEF"/>
                </a:solidFill>
                <a:latin typeface="Barlow Condensed"/>
              </a:rPr>
              <a:t>Important</a:t>
            </a:r>
          </a:p>
        </p:txBody>
      </p:sp>
      <p:sp>
        <p:nvSpPr>
          <p:cNvPr id="31" name="TextBox 30"/>
          <p:cNvSpPr txBox="1"/>
          <p:nvPr/>
        </p:nvSpPr>
        <p:spPr>
          <a:xfrm>
            <a:off x="9162059" y="2212848"/>
            <a:ext cx="2352979" cy="457200"/>
          </a:xfrm>
          <a:prstGeom prst="rect">
            <a:avLst/>
          </a:prstGeom>
          <a:noFill/>
        </p:spPr>
        <p:txBody>
          <a:bodyPr wrap="square" lIns="0" rIns="0" tIns="0" bIns="0" anchor="t">
            <a:spAutoFit/>
          </a:bodyPr>
          <a:lstStyle/>
          <a:p>
            <a:pPr algn="l"/>
            <a:r>
              <a:rPr sz="850" b="0">
                <a:solidFill>
                  <a:srgbClr val="6F8093"/>
                </a:solidFill>
                <a:latin typeface="IBM Plex Mono"/>
              </a:rPr>
              <a:t>OPERATIONAL BULLETIN</a:t>
            </a:r>
          </a:p>
        </p:txBody>
      </p:sp>
      <p:sp>
        <p:nvSpPr>
          <p:cNvPr id="32" name="TextBox 31"/>
          <p:cNvSpPr txBox="1"/>
          <p:nvPr/>
        </p:nvSpPr>
        <p:spPr>
          <a:xfrm>
            <a:off x="9162059" y="2779776"/>
            <a:ext cx="2352979" cy="640080"/>
          </a:xfrm>
          <a:prstGeom prst="rect">
            <a:avLst/>
          </a:prstGeom>
          <a:noFill/>
        </p:spPr>
        <p:txBody>
          <a:bodyPr wrap="square" lIns="0" rIns="0" tIns="0" bIns="0" anchor="t">
            <a:spAutoFit/>
          </a:bodyPr>
          <a:lstStyle/>
          <a:p>
            <a:pPr algn="l"/>
            <a:r>
              <a:rPr sz="1150" b="0">
                <a:solidFill>
                  <a:srgbClr val="EAF0F6"/>
                </a:solidFill>
                <a:latin typeface="Barlow"/>
              </a:rPr>
              <a:t>Behaviour changed in a way you should know about.</a:t>
            </a:r>
          </a:p>
        </p:txBody>
      </p:sp>
      <p:sp>
        <p:nvSpPr>
          <p:cNvPr id="33" name="Rectangle 32"/>
          <p:cNvSpPr/>
          <p:nvPr/>
        </p:nvSpPr>
        <p:spPr>
          <a:xfrm>
            <a:off x="9162059" y="3648456"/>
            <a:ext cx="2298115"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62059" y="3767328"/>
            <a:ext cx="2352979" cy="594360"/>
          </a:xfrm>
          <a:prstGeom prst="rect">
            <a:avLst/>
          </a:prstGeom>
          <a:noFill/>
        </p:spPr>
        <p:txBody>
          <a:bodyPr wrap="square" lIns="0" rIns="0" tIns="0" bIns="0" anchor="t">
            <a:spAutoFit/>
          </a:bodyPr>
          <a:lstStyle/>
          <a:p>
            <a:pPr algn="l"/>
            <a:r>
              <a:rPr sz="1100" b="0">
                <a:solidFill>
                  <a:srgbClr val="A8B6C6"/>
                </a:solidFill>
                <a:latin typeface="Barlow"/>
              </a:rPr>
              <a:t>Read it. It is where the surprises hide.</a:t>
            </a:r>
          </a:p>
        </p:txBody>
      </p:sp>
      <p:sp>
        <p:nvSpPr>
          <p:cNvPr id="35" name="TextBox 34"/>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36" name="TextBox 35"/>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14 / 88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78129"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CHANGELOG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size of the briefing package</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Changelog entries shipped in typo3/cms-core</a:t>
            </a:r>
          </a:p>
        </p:txBody>
      </p:sp>
      <p:sp>
        <p:nvSpPr>
          <p:cNvPr id="8" name="TextBox 7"/>
          <p:cNvSpPr txBox="1"/>
          <p:nvPr/>
        </p:nvSpPr>
        <p:spPr>
          <a:xfrm>
            <a:off x="566928" y="1975104"/>
            <a:ext cx="2743200" cy="274320"/>
          </a:xfrm>
          <a:prstGeom prst="rect">
            <a:avLst/>
          </a:prstGeom>
          <a:noFill/>
        </p:spPr>
        <p:txBody>
          <a:bodyPr wrap="square" lIns="0" rIns="0" tIns="0" bIns="0" anchor="t">
            <a:spAutoFit/>
          </a:bodyPr>
          <a:lstStyle/>
          <a:p>
            <a:pPr algn="l"/>
            <a:r>
              <a:rPr sz="1600" b="1">
                <a:solidFill>
                  <a:srgbClr val="EAF0F6"/>
                </a:solidFill>
                <a:latin typeface="Barlow Condensed"/>
              </a:rPr>
              <a:t>TYPO3 v11</a:t>
            </a:r>
          </a:p>
        </p:txBody>
      </p:sp>
      <p:sp>
        <p:nvSpPr>
          <p:cNvPr id="9" name="TextBox 8"/>
          <p:cNvSpPr txBox="1"/>
          <p:nvPr/>
        </p:nvSpPr>
        <p:spPr>
          <a:xfrm>
            <a:off x="9795967" y="2011680"/>
            <a:ext cx="1828800" cy="228600"/>
          </a:xfrm>
          <a:prstGeom prst="rect">
            <a:avLst/>
          </a:prstGeom>
          <a:noFill/>
        </p:spPr>
        <p:txBody>
          <a:bodyPr wrap="square" lIns="0" rIns="0" tIns="0" bIns="0" anchor="t">
            <a:spAutoFit/>
          </a:bodyPr>
          <a:lstStyle/>
          <a:p>
            <a:pPr algn="r"/>
            <a:r>
              <a:rPr sz="1000" b="0">
                <a:solidFill>
                  <a:srgbClr val="6F8093"/>
                </a:solidFill>
                <a:latin typeface="IBM Plex Mono"/>
              </a:rPr>
              <a:t>351 entries</a:t>
            </a:r>
          </a:p>
        </p:txBody>
      </p:sp>
      <p:sp>
        <p:nvSpPr>
          <p:cNvPr id="10" name="Rectangle 9"/>
          <p:cNvSpPr/>
          <p:nvPr/>
        </p:nvSpPr>
        <p:spPr>
          <a:xfrm>
            <a:off x="566928" y="2304288"/>
            <a:ext cx="2236770" cy="384048"/>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66928" y="2395728"/>
            <a:ext cx="2236770" cy="228600"/>
          </a:xfrm>
          <a:prstGeom prst="rect">
            <a:avLst/>
          </a:prstGeom>
          <a:noFill/>
        </p:spPr>
        <p:txBody>
          <a:bodyPr wrap="square" lIns="0" rIns="0" tIns="0" bIns="0" anchor="t">
            <a:spAutoFit/>
          </a:bodyPr>
          <a:lstStyle/>
          <a:p>
            <a:pPr algn="ctr"/>
            <a:r>
              <a:rPr sz="1000" b="1">
                <a:solidFill>
                  <a:srgbClr val="0B1016"/>
                </a:solidFill>
                <a:latin typeface="IBM Plex Mono"/>
              </a:rPr>
              <a:t>71</a:t>
            </a:r>
          </a:p>
        </p:txBody>
      </p:sp>
      <p:sp>
        <p:nvSpPr>
          <p:cNvPr id="12" name="Rectangle 11"/>
          <p:cNvSpPr/>
          <p:nvPr/>
        </p:nvSpPr>
        <p:spPr>
          <a:xfrm>
            <a:off x="2803698" y="2304288"/>
            <a:ext cx="3559931" cy="38404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803698" y="2395728"/>
            <a:ext cx="3559931" cy="228600"/>
          </a:xfrm>
          <a:prstGeom prst="rect">
            <a:avLst/>
          </a:prstGeom>
          <a:noFill/>
        </p:spPr>
        <p:txBody>
          <a:bodyPr wrap="square" lIns="0" rIns="0" tIns="0" bIns="0" anchor="t">
            <a:spAutoFit/>
          </a:bodyPr>
          <a:lstStyle/>
          <a:p>
            <a:pPr algn="ctr"/>
            <a:r>
              <a:rPr sz="1000" b="1">
                <a:solidFill>
                  <a:srgbClr val="0B1016"/>
                </a:solidFill>
                <a:latin typeface="IBM Plex Mono"/>
              </a:rPr>
              <a:t>113</a:t>
            </a:r>
          </a:p>
        </p:txBody>
      </p:sp>
      <p:sp>
        <p:nvSpPr>
          <p:cNvPr id="14" name="Rectangle 13"/>
          <p:cNvSpPr/>
          <p:nvPr/>
        </p:nvSpPr>
        <p:spPr>
          <a:xfrm>
            <a:off x="6363629" y="2304288"/>
            <a:ext cx="4126999"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3629" y="2395728"/>
            <a:ext cx="4126999" cy="228600"/>
          </a:xfrm>
          <a:prstGeom prst="rect">
            <a:avLst/>
          </a:prstGeom>
          <a:noFill/>
        </p:spPr>
        <p:txBody>
          <a:bodyPr wrap="square" lIns="0" rIns="0" tIns="0" bIns="0" anchor="t">
            <a:spAutoFit/>
          </a:bodyPr>
          <a:lstStyle/>
          <a:p>
            <a:pPr algn="ctr"/>
            <a:r>
              <a:rPr sz="1000" b="1">
                <a:solidFill>
                  <a:srgbClr val="0B1016"/>
                </a:solidFill>
                <a:latin typeface="IBM Plex Mono"/>
              </a:rPr>
              <a:t>131</a:t>
            </a:r>
          </a:p>
        </p:txBody>
      </p:sp>
      <p:sp>
        <p:nvSpPr>
          <p:cNvPr id="16" name="Rectangle 15"/>
          <p:cNvSpPr/>
          <p:nvPr/>
        </p:nvSpPr>
        <p:spPr>
          <a:xfrm>
            <a:off x="10490629" y="2304288"/>
            <a:ext cx="1134137" cy="384048"/>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490629" y="2395728"/>
            <a:ext cx="1134137" cy="228600"/>
          </a:xfrm>
          <a:prstGeom prst="rect">
            <a:avLst/>
          </a:prstGeom>
          <a:noFill/>
        </p:spPr>
        <p:txBody>
          <a:bodyPr wrap="square" lIns="0" rIns="0" tIns="0" bIns="0" anchor="t">
            <a:spAutoFit/>
          </a:bodyPr>
          <a:lstStyle/>
          <a:p>
            <a:pPr algn="ctr"/>
            <a:r>
              <a:rPr sz="1000" b="1">
                <a:solidFill>
                  <a:srgbClr val="0B1016"/>
                </a:solidFill>
                <a:latin typeface="IBM Plex Mono"/>
              </a:rPr>
              <a:t>36</a:t>
            </a:r>
          </a:p>
        </p:txBody>
      </p:sp>
      <p:sp>
        <p:nvSpPr>
          <p:cNvPr id="18" name="TextBox 17"/>
          <p:cNvSpPr txBox="1"/>
          <p:nvPr/>
        </p:nvSpPr>
        <p:spPr>
          <a:xfrm>
            <a:off x="566928" y="2871216"/>
            <a:ext cx="2743200" cy="274320"/>
          </a:xfrm>
          <a:prstGeom prst="rect">
            <a:avLst/>
          </a:prstGeom>
          <a:noFill/>
        </p:spPr>
        <p:txBody>
          <a:bodyPr wrap="square" lIns="0" rIns="0" tIns="0" bIns="0" anchor="t">
            <a:spAutoFit/>
          </a:bodyPr>
          <a:lstStyle/>
          <a:p>
            <a:pPr algn="l"/>
            <a:r>
              <a:rPr sz="1600" b="1">
                <a:solidFill>
                  <a:srgbClr val="EAF0F6"/>
                </a:solidFill>
                <a:latin typeface="Barlow Condensed"/>
              </a:rPr>
              <a:t>TYPO3 v12</a:t>
            </a:r>
          </a:p>
        </p:txBody>
      </p:sp>
      <p:sp>
        <p:nvSpPr>
          <p:cNvPr id="19" name="TextBox 18"/>
          <p:cNvSpPr txBox="1"/>
          <p:nvPr/>
        </p:nvSpPr>
        <p:spPr>
          <a:xfrm>
            <a:off x="9795967" y="2907792"/>
            <a:ext cx="1828800" cy="228600"/>
          </a:xfrm>
          <a:prstGeom prst="rect">
            <a:avLst/>
          </a:prstGeom>
          <a:noFill/>
        </p:spPr>
        <p:txBody>
          <a:bodyPr wrap="square" lIns="0" rIns="0" tIns="0" bIns="0" anchor="t">
            <a:spAutoFit/>
          </a:bodyPr>
          <a:lstStyle/>
          <a:p>
            <a:pPr algn="r"/>
            <a:r>
              <a:rPr sz="1000" b="0">
                <a:solidFill>
                  <a:srgbClr val="6F8093"/>
                </a:solidFill>
                <a:latin typeface="IBM Plex Mono"/>
              </a:rPr>
              <a:t>526 entries</a:t>
            </a:r>
          </a:p>
        </p:txBody>
      </p:sp>
      <p:sp>
        <p:nvSpPr>
          <p:cNvPr id="20" name="Rectangle 19"/>
          <p:cNvSpPr/>
          <p:nvPr/>
        </p:nvSpPr>
        <p:spPr>
          <a:xfrm>
            <a:off x="566928" y="3200400"/>
            <a:ext cx="2690880" cy="384048"/>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66928" y="3291840"/>
            <a:ext cx="2690880" cy="228600"/>
          </a:xfrm>
          <a:prstGeom prst="rect">
            <a:avLst/>
          </a:prstGeom>
          <a:noFill/>
        </p:spPr>
        <p:txBody>
          <a:bodyPr wrap="square" lIns="0" rIns="0" tIns="0" bIns="0" anchor="t">
            <a:spAutoFit/>
          </a:bodyPr>
          <a:lstStyle/>
          <a:p>
            <a:pPr algn="ctr"/>
            <a:r>
              <a:rPr sz="1000" b="1">
                <a:solidFill>
                  <a:srgbClr val="0B1016"/>
                </a:solidFill>
                <a:latin typeface="IBM Plex Mono"/>
              </a:rPr>
              <a:t>128</a:t>
            </a:r>
          </a:p>
        </p:txBody>
      </p:sp>
      <p:sp>
        <p:nvSpPr>
          <p:cNvPr id="22" name="Rectangle 21"/>
          <p:cNvSpPr/>
          <p:nvPr/>
        </p:nvSpPr>
        <p:spPr>
          <a:xfrm>
            <a:off x="3257808" y="3200400"/>
            <a:ext cx="2690880" cy="38404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257808" y="3291840"/>
            <a:ext cx="2690880" cy="228600"/>
          </a:xfrm>
          <a:prstGeom prst="rect">
            <a:avLst/>
          </a:prstGeom>
          <a:noFill/>
        </p:spPr>
        <p:txBody>
          <a:bodyPr wrap="square" lIns="0" rIns="0" tIns="0" bIns="0" anchor="t">
            <a:spAutoFit/>
          </a:bodyPr>
          <a:lstStyle/>
          <a:p>
            <a:pPr algn="ctr"/>
            <a:r>
              <a:rPr sz="1000" b="1">
                <a:solidFill>
                  <a:srgbClr val="0B1016"/>
                </a:solidFill>
                <a:latin typeface="IBM Plex Mono"/>
              </a:rPr>
              <a:t>128</a:t>
            </a:r>
          </a:p>
        </p:txBody>
      </p:sp>
      <p:sp>
        <p:nvSpPr>
          <p:cNvPr id="24" name="Rectangle 23"/>
          <p:cNvSpPr/>
          <p:nvPr/>
        </p:nvSpPr>
        <p:spPr>
          <a:xfrm>
            <a:off x="5948689" y="3200400"/>
            <a:ext cx="4561884"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948689" y="3291840"/>
            <a:ext cx="4561884" cy="228600"/>
          </a:xfrm>
          <a:prstGeom prst="rect">
            <a:avLst/>
          </a:prstGeom>
          <a:noFill/>
        </p:spPr>
        <p:txBody>
          <a:bodyPr wrap="square" lIns="0" rIns="0" tIns="0" bIns="0" anchor="t">
            <a:spAutoFit/>
          </a:bodyPr>
          <a:lstStyle/>
          <a:p>
            <a:pPr algn="ctr"/>
            <a:r>
              <a:rPr sz="1000" b="1">
                <a:solidFill>
                  <a:srgbClr val="0B1016"/>
                </a:solidFill>
                <a:latin typeface="IBM Plex Mono"/>
              </a:rPr>
              <a:t>217</a:t>
            </a:r>
          </a:p>
        </p:txBody>
      </p:sp>
      <p:sp>
        <p:nvSpPr>
          <p:cNvPr id="26" name="Rectangle 25"/>
          <p:cNvSpPr/>
          <p:nvPr/>
        </p:nvSpPr>
        <p:spPr>
          <a:xfrm>
            <a:off x="10510574" y="3200400"/>
            <a:ext cx="1114192" cy="384048"/>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510574" y="3291840"/>
            <a:ext cx="1114192" cy="228600"/>
          </a:xfrm>
          <a:prstGeom prst="rect">
            <a:avLst/>
          </a:prstGeom>
          <a:noFill/>
        </p:spPr>
        <p:txBody>
          <a:bodyPr wrap="square" lIns="0" rIns="0" tIns="0" bIns="0" anchor="t">
            <a:spAutoFit/>
          </a:bodyPr>
          <a:lstStyle/>
          <a:p>
            <a:pPr algn="ctr"/>
            <a:r>
              <a:rPr sz="1000" b="1">
                <a:solidFill>
                  <a:srgbClr val="0B1016"/>
                </a:solidFill>
                <a:latin typeface="IBM Plex Mono"/>
              </a:rPr>
              <a:t>53</a:t>
            </a:r>
          </a:p>
        </p:txBody>
      </p:sp>
      <p:sp>
        <p:nvSpPr>
          <p:cNvPr id="28" name="TextBox 27"/>
          <p:cNvSpPr txBox="1"/>
          <p:nvPr/>
        </p:nvSpPr>
        <p:spPr>
          <a:xfrm>
            <a:off x="566928" y="3767328"/>
            <a:ext cx="11057839" cy="228600"/>
          </a:xfrm>
          <a:prstGeom prst="rect">
            <a:avLst/>
          </a:prstGeom>
          <a:noFill/>
        </p:spPr>
        <p:txBody>
          <a:bodyPr wrap="square" lIns="0" rIns="0" tIns="0" bIns="0" anchor="t">
            <a:spAutoFit/>
          </a:bodyPr>
          <a:lstStyle/>
          <a:p>
            <a:pPr algn="l"/>
            <a:r>
              <a:rPr sz="950" b="0">
                <a:solidFill>
                  <a:srgbClr val="E5484D"/>
                </a:solidFill>
                <a:latin typeface="IBM Plex Mono"/>
              </a:rPr>
              <a:t>■ </a:t>
            </a:r>
            <a:r>
              <a:rPr sz="950" b="0">
                <a:solidFill>
                  <a:srgbClr val="6F8093"/>
                </a:solidFill>
                <a:latin typeface="IBM Plex Mono"/>
              </a:rPr>
              <a:t>BREAKING   </a:t>
            </a:r>
            <a:r>
              <a:rPr sz="950" b="0">
                <a:solidFill>
                  <a:srgbClr val="FFB020"/>
                </a:solidFill>
                <a:latin typeface="IBM Plex Mono"/>
              </a:rPr>
              <a:t>■ </a:t>
            </a:r>
            <a:r>
              <a:rPr sz="950" b="0">
                <a:solidFill>
                  <a:srgbClr val="6F8093"/>
                </a:solidFill>
                <a:latin typeface="IBM Plex Mono"/>
              </a:rPr>
              <a:t>DEPRECATION   </a:t>
            </a:r>
            <a:r>
              <a:rPr sz="950" b="0">
                <a:solidFill>
                  <a:srgbClr val="3FCF8E"/>
                </a:solidFill>
                <a:latin typeface="IBM Plex Mono"/>
              </a:rPr>
              <a:t>■ </a:t>
            </a:r>
            <a:r>
              <a:rPr sz="950" b="0">
                <a:solidFill>
                  <a:srgbClr val="6F8093"/>
                </a:solidFill>
                <a:latin typeface="IBM Plex Mono"/>
              </a:rPr>
              <a:t>FEATURE   </a:t>
            </a:r>
            <a:r>
              <a:rPr sz="950" b="0">
                <a:solidFill>
                  <a:srgbClr val="5B8DEF"/>
                </a:solidFill>
                <a:latin typeface="IBM Plex Mono"/>
              </a:rPr>
              <a:t>■ </a:t>
            </a:r>
            <a:r>
              <a:rPr sz="950" b="0">
                <a:solidFill>
                  <a:srgbClr val="6F8093"/>
                </a:solidFill>
                <a:latin typeface="IBM Plex Mono"/>
              </a:rPr>
              <a:t>IMPORTANT   </a:t>
            </a:r>
          </a:p>
        </p:txBody>
      </p:sp>
      <p:sp>
        <p:nvSpPr>
          <p:cNvPr id="29" name="Rectangle 28"/>
          <p:cNvSpPr/>
          <p:nvPr/>
        </p:nvSpPr>
        <p:spPr>
          <a:xfrm>
            <a:off x="566928" y="4133088"/>
            <a:ext cx="31750" cy="38404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76656" y="4133088"/>
            <a:ext cx="10948111" cy="457200"/>
          </a:xfrm>
          <a:prstGeom prst="rect">
            <a:avLst/>
          </a:prstGeom>
          <a:noFill/>
        </p:spPr>
        <p:txBody>
          <a:bodyPr wrap="square" lIns="0" rIns="0" tIns="0" bIns="0" anchor="t">
            <a:spAutoFit/>
          </a:bodyPr>
          <a:lstStyle/>
          <a:p>
            <a:pPr algn="l"/>
            <a:r>
              <a:rPr sz="1250" b="0">
                <a:solidFill>
                  <a:srgbClr val="A8B6C6"/>
                </a:solidFill>
                <a:latin typeface="Barlow"/>
              </a:rPr>
              <a:t>Counted in the Documentation/Changelog folder of the shipped core. You do not read all of them — you triage them. That is a skill, and it is the job.</a:t>
            </a:r>
          </a:p>
        </p:txBody>
      </p:sp>
      <p:sp>
        <p:nvSpPr>
          <p:cNvPr id="31" name="TextBox 30"/>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32" name="TextBox 31"/>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15 / 88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216671"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CHANGELOG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Anatomy of an entry</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Deprecation: #96136 — Deprecate inline JavaScript in backend update signals</a:t>
            </a:r>
          </a:p>
        </p:txBody>
      </p:sp>
      <p:sp>
        <p:nvSpPr>
          <p:cNvPr id="8" name="Rectangle 7"/>
          <p:cNvSpPr/>
          <p:nvPr/>
        </p:nvSpPr>
        <p:spPr>
          <a:xfrm>
            <a:off x="566928" y="1975104"/>
            <a:ext cx="31750" cy="47548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94944" y="1975104"/>
            <a:ext cx="5117439" cy="237744"/>
          </a:xfrm>
          <a:prstGeom prst="rect">
            <a:avLst/>
          </a:prstGeom>
          <a:noFill/>
        </p:spPr>
        <p:txBody>
          <a:bodyPr wrap="square" lIns="0" rIns="0" tIns="0" bIns="0" anchor="t">
            <a:spAutoFit/>
          </a:bodyPr>
          <a:lstStyle/>
          <a:p>
            <a:pPr algn="l"/>
            <a:r>
              <a:rPr sz="1400" b="1">
                <a:solidFill>
                  <a:srgbClr val="EAF0F6"/>
                </a:solidFill>
                <a:latin typeface="Barlow Condensed"/>
              </a:rPr>
              <a:t>Description</a:t>
            </a:r>
          </a:p>
        </p:txBody>
      </p:sp>
      <p:sp>
        <p:nvSpPr>
          <p:cNvPr id="10" name="TextBox 9"/>
          <p:cNvSpPr txBox="1"/>
          <p:nvPr/>
        </p:nvSpPr>
        <p:spPr>
          <a:xfrm>
            <a:off x="694944" y="2194560"/>
            <a:ext cx="5117439" cy="274320"/>
          </a:xfrm>
          <a:prstGeom prst="rect">
            <a:avLst/>
          </a:prstGeom>
          <a:noFill/>
        </p:spPr>
        <p:txBody>
          <a:bodyPr wrap="square" lIns="0" rIns="0" tIns="0" bIns="0" anchor="t">
            <a:spAutoFit/>
          </a:bodyPr>
          <a:lstStyle/>
          <a:p>
            <a:pPr algn="l"/>
            <a:r>
              <a:rPr sz="1150" b="0">
                <a:solidFill>
                  <a:srgbClr val="A8B6C6"/>
                </a:solidFill>
                <a:latin typeface="Barlow"/>
              </a:rPr>
              <a:t>What changed and why.</a:t>
            </a:r>
          </a:p>
        </p:txBody>
      </p:sp>
      <p:sp>
        <p:nvSpPr>
          <p:cNvPr id="11" name="Rectangle 10"/>
          <p:cNvSpPr/>
          <p:nvPr/>
        </p:nvSpPr>
        <p:spPr>
          <a:xfrm>
            <a:off x="566928" y="2578608"/>
            <a:ext cx="31750" cy="47548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94944" y="2578608"/>
            <a:ext cx="5117439" cy="237744"/>
          </a:xfrm>
          <a:prstGeom prst="rect">
            <a:avLst/>
          </a:prstGeom>
          <a:noFill/>
        </p:spPr>
        <p:txBody>
          <a:bodyPr wrap="square" lIns="0" rIns="0" tIns="0" bIns="0" anchor="t">
            <a:spAutoFit/>
          </a:bodyPr>
          <a:lstStyle/>
          <a:p>
            <a:pPr algn="l"/>
            <a:r>
              <a:rPr sz="1400" b="1">
                <a:solidFill>
                  <a:srgbClr val="EAF0F6"/>
                </a:solidFill>
                <a:latin typeface="Barlow Condensed"/>
              </a:rPr>
              <a:t>Impact</a:t>
            </a:r>
          </a:p>
        </p:txBody>
      </p:sp>
      <p:sp>
        <p:nvSpPr>
          <p:cNvPr id="13" name="TextBox 12"/>
          <p:cNvSpPr txBox="1"/>
          <p:nvPr/>
        </p:nvSpPr>
        <p:spPr>
          <a:xfrm>
            <a:off x="694944" y="2798064"/>
            <a:ext cx="5117439" cy="274320"/>
          </a:xfrm>
          <a:prstGeom prst="rect">
            <a:avLst/>
          </a:prstGeom>
          <a:noFill/>
        </p:spPr>
        <p:txBody>
          <a:bodyPr wrap="square" lIns="0" rIns="0" tIns="0" bIns="0" anchor="t">
            <a:spAutoFit/>
          </a:bodyPr>
          <a:lstStyle/>
          <a:p>
            <a:pPr algn="l"/>
            <a:r>
              <a:rPr sz="1150" b="0">
                <a:solidFill>
                  <a:srgbClr val="A8B6C6"/>
                </a:solidFill>
                <a:latin typeface="Barlow"/>
              </a:rPr>
              <a:t>What breaks, and what it will do instead.</a:t>
            </a:r>
          </a:p>
        </p:txBody>
      </p:sp>
      <p:sp>
        <p:nvSpPr>
          <p:cNvPr id="14" name="Rectangle 13"/>
          <p:cNvSpPr/>
          <p:nvPr/>
        </p:nvSpPr>
        <p:spPr>
          <a:xfrm>
            <a:off x="566928" y="3182112"/>
            <a:ext cx="31750" cy="47548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94944" y="3182112"/>
            <a:ext cx="5117439" cy="237744"/>
          </a:xfrm>
          <a:prstGeom prst="rect">
            <a:avLst/>
          </a:prstGeom>
          <a:noFill/>
        </p:spPr>
        <p:txBody>
          <a:bodyPr wrap="square" lIns="0" rIns="0" tIns="0" bIns="0" anchor="t">
            <a:spAutoFit/>
          </a:bodyPr>
          <a:lstStyle/>
          <a:p>
            <a:pPr algn="l"/>
            <a:r>
              <a:rPr sz="1400" b="1">
                <a:solidFill>
                  <a:srgbClr val="EAF0F6"/>
                </a:solidFill>
                <a:latin typeface="Barlow Condensed"/>
              </a:rPr>
              <a:t>Affected Installations</a:t>
            </a:r>
          </a:p>
        </p:txBody>
      </p:sp>
      <p:sp>
        <p:nvSpPr>
          <p:cNvPr id="16" name="TextBox 15"/>
          <p:cNvSpPr txBox="1"/>
          <p:nvPr/>
        </p:nvSpPr>
        <p:spPr>
          <a:xfrm>
            <a:off x="694944" y="3401568"/>
            <a:ext cx="5117439" cy="274320"/>
          </a:xfrm>
          <a:prstGeom prst="rect">
            <a:avLst/>
          </a:prstGeom>
          <a:noFill/>
        </p:spPr>
        <p:txBody>
          <a:bodyPr wrap="square" lIns="0" rIns="0" tIns="0" bIns="0" anchor="t">
            <a:spAutoFit/>
          </a:bodyPr>
          <a:lstStyle/>
          <a:p>
            <a:pPr algn="l"/>
            <a:r>
              <a:rPr sz="1150" b="0">
                <a:solidFill>
                  <a:srgbClr val="A8B6C6"/>
                </a:solidFill>
                <a:latin typeface="Barlow"/>
              </a:rPr>
              <a:t>Whether this is even your problem.</a:t>
            </a:r>
          </a:p>
        </p:txBody>
      </p:sp>
      <p:sp>
        <p:nvSpPr>
          <p:cNvPr id="17" name="Rectangle 16"/>
          <p:cNvSpPr/>
          <p:nvPr/>
        </p:nvSpPr>
        <p:spPr>
          <a:xfrm>
            <a:off x="566928" y="3785616"/>
            <a:ext cx="31750" cy="47548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94944" y="3785616"/>
            <a:ext cx="5117439" cy="237744"/>
          </a:xfrm>
          <a:prstGeom prst="rect">
            <a:avLst/>
          </a:prstGeom>
          <a:noFill/>
        </p:spPr>
        <p:txBody>
          <a:bodyPr wrap="square" lIns="0" rIns="0" tIns="0" bIns="0" anchor="t">
            <a:spAutoFit/>
          </a:bodyPr>
          <a:lstStyle/>
          <a:p>
            <a:pPr algn="l"/>
            <a:r>
              <a:rPr sz="1400" b="1">
                <a:solidFill>
                  <a:srgbClr val="EAF0F6"/>
                </a:solidFill>
                <a:latin typeface="Barlow Condensed"/>
              </a:rPr>
              <a:t>Migration</a:t>
            </a:r>
          </a:p>
        </p:txBody>
      </p:sp>
      <p:sp>
        <p:nvSpPr>
          <p:cNvPr id="19" name="TextBox 18"/>
          <p:cNvSpPr txBox="1"/>
          <p:nvPr/>
        </p:nvSpPr>
        <p:spPr>
          <a:xfrm>
            <a:off x="694944" y="4005072"/>
            <a:ext cx="5117439" cy="274320"/>
          </a:xfrm>
          <a:prstGeom prst="rect">
            <a:avLst/>
          </a:prstGeom>
          <a:noFill/>
        </p:spPr>
        <p:txBody>
          <a:bodyPr wrap="square" lIns="0" rIns="0" tIns="0" bIns="0" anchor="t">
            <a:spAutoFit/>
          </a:bodyPr>
          <a:lstStyle/>
          <a:p>
            <a:pPr algn="l"/>
            <a:r>
              <a:rPr sz="1150" b="0">
                <a:solidFill>
                  <a:srgbClr val="A8B6C6"/>
                </a:solidFill>
                <a:latin typeface="Barlow"/>
              </a:rPr>
              <a:t>The concrete replacement. This is the response half of the checklist.</a:t>
            </a:r>
          </a:p>
        </p:txBody>
      </p:sp>
      <p:sp>
        <p:nvSpPr>
          <p:cNvPr id="20" name="Rectangle 19"/>
          <p:cNvSpPr/>
          <p:nvPr/>
        </p:nvSpPr>
        <p:spPr>
          <a:xfrm>
            <a:off x="6324447" y="1975104"/>
            <a:ext cx="5300319" cy="23774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53047" y="2249424"/>
            <a:ext cx="4843119" cy="1280160"/>
          </a:xfrm>
          <a:prstGeom prst="rect">
            <a:avLst/>
          </a:prstGeom>
          <a:noFill/>
        </p:spPr>
        <p:txBody>
          <a:bodyPr wrap="square" lIns="0" rIns="0" tIns="0" bIns="0" anchor="t">
            <a:spAutoFit/>
          </a:bodyPr>
          <a:lstStyle/>
          <a:p>
            <a:pPr algn="l"/>
            <a:r>
              <a:rPr sz="1500" b="0">
                <a:solidFill>
                  <a:srgbClr val="EAF0F6"/>
                </a:solidFill>
                <a:latin typeface="Barlow"/>
              </a:rPr>
              <a:t>“… is deprecated and will be ignored in TYPO3 v13.0.”</a:t>
            </a:r>
          </a:p>
        </p:txBody>
      </p:sp>
      <p:sp>
        <p:nvSpPr>
          <p:cNvPr id="22" name="TextBox 21"/>
          <p:cNvSpPr txBox="1"/>
          <p:nvPr/>
        </p:nvSpPr>
        <p:spPr>
          <a:xfrm>
            <a:off x="6553047" y="3758184"/>
            <a:ext cx="4843119" cy="548640"/>
          </a:xfrm>
          <a:prstGeom prst="rect">
            <a:avLst/>
          </a:prstGeom>
          <a:noFill/>
        </p:spPr>
        <p:txBody>
          <a:bodyPr wrap="square" lIns="0" rIns="0" tIns="0" bIns="0" anchor="t">
            <a:spAutoFit/>
          </a:bodyPr>
          <a:lstStyle/>
          <a:p>
            <a:pPr algn="l"/>
            <a:r>
              <a:rPr sz="800" b="0">
                <a:solidFill>
                  <a:srgbClr val="6F8093"/>
                </a:solidFill>
                <a:latin typeface="IBM Plex Mono"/>
              </a:rPr>
              <a:t>typo3/cms-core, Documentation/Changelog/12.0/Deprecation-96136-DeprecateInlineJavaScriptInBackendUpdateSignals.rst</a:t>
            </a:r>
          </a:p>
        </p:txBody>
      </p:sp>
      <p:sp>
        <p:nvSpPr>
          <p:cNvPr id="23" name="Rectangle 22"/>
          <p:cNvSpPr/>
          <p:nvPr/>
        </p:nvSpPr>
        <p:spPr>
          <a:xfrm>
            <a:off x="566928" y="4581144"/>
            <a:ext cx="31750" cy="38404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6656" y="4581144"/>
            <a:ext cx="10948111" cy="457200"/>
          </a:xfrm>
          <a:prstGeom prst="rect">
            <a:avLst/>
          </a:prstGeom>
          <a:noFill/>
        </p:spPr>
        <p:txBody>
          <a:bodyPr wrap="square" lIns="0" rIns="0" tIns="0" bIns="0" anchor="t">
            <a:spAutoFit/>
          </a:bodyPr>
          <a:lstStyle/>
          <a:p>
            <a:pPr algn="l"/>
            <a:r>
              <a:rPr sz="1250" b="0">
                <a:solidFill>
                  <a:srgbClr val="A8B6C6"/>
                </a:solidFill>
                <a:latin typeface="Barlow"/>
              </a:rPr>
              <a:t>Every entry carries its own migration instructions. The work is reading them, not inventing them.</a:t>
            </a:r>
          </a:p>
        </p:txBody>
      </p:sp>
      <p:sp>
        <p:nvSpPr>
          <p:cNvPr id="25" name="TextBox 24"/>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6" name="TextBox 25"/>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16 / 88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355213"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Today's Deprecation is tomorrow's Breaking change.</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Deprecated in 12.0 → removed in 13.0. The changelog told you two years in advance.</a:t>
            </a:r>
          </a:p>
        </p:txBody>
      </p:sp>
      <p:sp>
        <p:nvSpPr>
          <p:cNvPr id="6" name="Rectangle 5"/>
          <p:cNvSpPr/>
          <p:nvPr/>
        </p:nvSpPr>
        <p:spPr>
          <a:xfrm>
            <a:off x="566928" y="4572000"/>
            <a:ext cx="31750" cy="384048"/>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This is why deprecation is not a phase-1 task. It is checked in all three phases, for three different reasons.</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17 / 88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493755"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CHANGELOG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Deprecation is checked in every phase</a:t>
            </a:r>
          </a:p>
        </p:txBody>
      </p:sp>
      <p:sp>
        <p:nvSpPr>
          <p:cNvPr id="7" name="Rectangle 6"/>
          <p:cNvSpPr/>
          <p:nvPr/>
        </p:nvSpPr>
        <p:spPr>
          <a:xfrm>
            <a:off x="566928" y="1499616"/>
            <a:ext cx="3533546" cy="27432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499616"/>
            <a:ext cx="3533546" cy="4064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1700784"/>
            <a:ext cx="3259226" cy="320040"/>
          </a:xfrm>
          <a:prstGeom prst="rect">
            <a:avLst/>
          </a:prstGeom>
          <a:noFill/>
        </p:spPr>
        <p:txBody>
          <a:bodyPr wrap="square" lIns="0" rIns="0" tIns="0" bIns="0" anchor="t">
            <a:spAutoFit/>
          </a:bodyPr>
          <a:lstStyle/>
          <a:p>
            <a:pPr algn="l"/>
            <a:r>
              <a:rPr sz="2400" b="1">
                <a:solidFill>
                  <a:srgbClr val="4EC3E0"/>
                </a:solidFill>
                <a:latin typeface="Barlow Condensed"/>
              </a:rPr>
              <a:t>1  </a:t>
            </a:r>
            <a:r>
              <a:rPr sz="1600" b="1">
                <a:solidFill>
                  <a:srgbClr val="EAF0F6"/>
                </a:solidFill>
                <a:latin typeface="Barlow Condensed"/>
              </a:rPr>
              <a:t>Pre-Flight</a:t>
            </a:r>
          </a:p>
        </p:txBody>
      </p:sp>
      <p:sp>
        <p:nvSpPr>
          <p:cNvPr id="10" name="TextBox 9"/>
          <p:cNvSpPr txBox="1"/>
          <p:nvPr/>
        </p:nvSpPr>
        <p:spPr>
          <a:xfrm>
            <a:off x="749808" y="2157984"/>
            <a:ext cx="3213506" cy="548640"/>
          </a:xfrm>
          <a:prstGeom prst="rect">
            <a:avLst/>
          </a:prstGeom>
          <a:noFill/>
        </p:spPr>
        <p:txBody>
          <a:bodyPr wrap="square" lIns="0" rIns="0" tIns="0" bIns="0" anchor="t">
            <a:spAutoFit/>
          </a:bodyPr>
          <a:lstStyle/>
          <a:p>
            <a:pPr algn="l"/>
            <a:r>
              <a:rPr sz="1250" b="1">
                <a:solidFill>
                  <a:srgbClr val="EAF0F6"/>
                </a:solidFill>
                <a:latin typeface="Barlow"/>
              </a:rPr>
              <a:t>Which deprecations of my CURRENT version am I still using?</a:t>
            </a:r>
          </a:p>
        </p:txBody>
      </p:sp>
      <p:sp>
        <p:nvSpPr>
          <p:cNvPr id="11" name="TextBox 10"/>
          <p:cNvSpPr txBox="1"/>
          <p:nvPr/>
        </p:nvSpPr>
        <p:spPr>
          <a:xfrm>
            <a:off x="749808" y="2825496"/>
            <a:ext cx="3213506" cy="914400"/>
          </a:xfrm>
          <a:prstGeom prst="rect">
            <a:avLst/>
          </a:prstGeom>
          <a:noFill/>
        </p:spPr>
        <p:txBody>
          <a:bodyPr wrap="square" lIns="0" rIns="0" tIns="0" bIns="0" anchor="t">
            <a:spAutoFit/>
          </a:bodyPr>
          <a:lstStyle/>
          <a:p>
            <a:pPr algn="l"/>
            <a:r>
              <a:rPr sz="1100" b="0">
                <a:solidFill>
                  <a:srgbClr val="A8B6C6"/>
                </a:solidFill>
                <a:latin typeface="Barlow"/>
              </a:rPr>
              <a:t>They are the removals of the version you are flying to. Clear them while the old version still runs and still forgives you.</a:t>
            </a:r>
          </a:p>
        </p:txBody>
      </p:sp>
      <p:sp>
        <p:nvSpPr>
          <p:cNvPr id="12" name="Rectangle 11"/>
          <p:cNvSpPr/>
          <p:nvPr/>
        </p:nvSpPr>
        <p:spPr>
          <a:xfrm>
            <a:off x="749808" y="3831336"/>
            <a:ext cx="3167786"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49808" y="3931920"/>
            <a:ext cx="3213506" cy="274320"/>
          </a:xfrm>
          <a:prstGeom prst="rect">
            <a:avLst/>
          </a:prstGeom>
          <a:noFill/>
        </p:spPr>
        <p:txBody>
          <a:bodyPr wrap="square" lIns="0" rIns="0" tIns="0" bIns="0" anchor="t">
            <a:spAutoFit/>
          </a:bodyPr>
          <a:lstStyle/>
          <a:p>
            <a:pPr algn="l"/>
            <a:r>
              <a:rPr sz="900" b="0">
                <a:solidFill>
                  <a:srgbClr val="4EC3E0"/>
                </a:solidFill>
                <a:latin typeface="IBM Plex Mono"/>
              </a:rPr>
              <a:t>Extension Scanner · rector --dry-run</a:t>
            </a:r>
          </a:p>
        </p:txBody>
      </p:sp>
      <p:sp>
        <p:nvSpPr>
          <p:cNvPr id="14" name="Rectangle 13"/>
          <p:cNvSpPr/>
          <p:nvPr/>
        </p:nvSpPr>
        <p:spPr>
          <a:xfrm>
            <a:off x="4329074" y="1499616"/>
            <a:ext cx="3533546" cy="27432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29074" y="1499616"/>
            <a:ext cx="3533546" cy="4064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11954" y="1700784"/>
            <a:ext cx="3259226" cy="320040"/>
          </a:xfrm>
          <a:prstGeom prst="rect">
            <a:avLst/>
          </a:prstGeom>
          <a:noFill/>
        </p:spPr>
        <p:txBody>
          <a:bodyPr wrap="square" lIns="0" rIns="0" tIns="0" bIns="0" anchor="t">
            <a:spAutoFit/>
          </a:bodyPr>
          <a:lstStyle/>
          <a:p>
            <a:pPr algn="l"/>
            <a:r>
              <a:rPr sz="2400" b="1">
                <a:solidFill>
                  <a:srgbClr val="FF8700"/>
                </a:solidFill>
                <a:latin typeface="Barlow Condensed"/>
              </a:rPr>
              <a:t>2  </a:t>
            </a:r>
            <a:r>
              <a:rPr sz="1600" b="1">
                <a:solidFill>
                  <a:srgbClr val="EAF0F6"/>
                </a:solidFill>
                <a:latin typeface="Barlow Condensed"/>
              </a:rPr>
              <a:t>Flight</a:t>
            </a:r>
          </a:p>
        </p:txBody>
      </p:sp>
      <p:sp>
        <p:nvSpPr>
          <p:cNvPr id="17" name="TextBox 16"/>
          <p:cNvSpPr txBox="1"/>
          <p:nvPr/>
        </p:nvSpPr>
        <p:spPr>
          <a:xfrm>
            <a:off x="4511954" y="2157984"/>
            <a:ext cx="3213506" cy="548640"/>
          </a:xfrm>
          <a:prstGeom prst="rect">
            <a:avLst/>
          </a:prstGeom>
          <a:noFill/>
        </p:spPr>
        <p:txBody>
          <a:bodyPr wrap="square" lIns="0" rIns="0" tIns="0" bIns="0" anchor="t">
            <a:spAutoFit/>
          </a:bodyPr>
          <a:lstStyle/>
          <a:p>
            <a:pPr algn="l"/>
            <a:r>
              <a:rPr sz="1250" b="1">
                <a:solidFill>
                  <a:srgbClr val="EAF0F6"/>
                </a:solidFill>
                <a:latin typeface="Barlow"/>
              </a:rPr>
              <a:t>Which of them actually bite now that they are gone?</a:t>
            </a:r>
          </a:p>
        </p:txBody>
      </p:sp>
      <p:sp>
        <p:nvSpPr>
          <p:cNvPr id="18" name="TextBox 17"/>
          <p:cNvSpPr txBox="1"/>
          <p:nvPr/>
        </p:nvSpPr>
        <p:spPr>
          <a:xfrm>
            <a:off x="4511954" y="2825496"/>
            <a:ext cx="3213506" cy="914400"/>
          </a:xfrm>
          <a:prstGeom prst="rect">
            <a:avLst/>
          </a:prstGeom>
          <a:noFill/>
        </p:spPr>
        <p:txBody>
          <a:bodyPr wrap="square" lIns="0" rIns="0" tIns="0" bIns="0" anchor="t">
            <a:spAutoFit/>
          </a:bodyPr>
          <a:lstStyle/>
          <a:p>
            <a:pPr algn="l"/>
            <a:r>
              <a:rPr sz="1100" b="0">
                <a:solidFill>
                  <a:srgbClr val="A8B6C6"/>
                </a:solidFill>
                <a:latin typeface="Barlow"/>
              </a:rPr>
              <a:t>What was a warning yesterday is a fatal error today. The scanner now ships the target version's rules.</a:t>
            </a:r>
          </a:p>
        </p:txBody>
      </p:sp>
      <p:sp>
        <p:nvSpPr>
          <p:cNvPr id="19" name="Rectangle 18"/>
          <p:cNvSpPr/>
          <p:nvPr/>
        </p:nvSpPr>
        <p:spPr>
          <a:xfrm>
            <a:off x="4511954" y="3831336"/>
            <a:ext cx="3167786"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11954" y="3931920"/>
            <a:ext cx="3213506" cy="274320"/>
          </a:xfrm>
          <a:prstGeom prst="rect">
            <a:avLst/>
          </a:prstGeom>
          <a:noFill/>
        </p:spPr>
        <p:txBody>
          <a:bodyPr wrap="square" lIns="0" rIns="0" tIns="0" bIns="0" anchor="t">
            <a:spAutoFit/>
          </a:bodyPr>
          <a:lstStyle/>
          <a:p>
            <a:pPr algn="l"/>
            <a:r>
              <a:rPr sz="900" b="0">
                <a:solidFill>
                  <a:srgbClr val="FF8700"/>
                </a:solidFill>
                <a:latin typeface="IBM Plex Mono"/>
              </a:rPr>
              <a:t>Extension Scanner (v13 rules) · rector · fractor</a:t>
            </a:r>
          </a:p>
        </p:txBody>
      </p:sp>
      <p:sp>
        <p:nvSpPr>
          <p:cNvPr id="21" name="Rectangle 20"/>
          <p:cNvSpPr/>
          <p:nvPr/>
        </p:nvSpPr>
        <p:spPr>
          <a:xfrm>
            <a:off x="8091220" y="1499616"/>
            <a:ext cx="3533546" cy="27432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91220" y="1499616"/>
            <a:ext cx="3533546"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74100" y="1700784"/>
            <a:ext cx="3259226" cy="320040"/>
          </a:xfrm>
          <a:prstGeom prst="rect">
            <a:avLst/>
          </a:prstGeom>
          <a:noFill/>
        </p:spPr>
        <p:txBody>
          <a:bodyPr wrap="square" lIns="0" rIns="0" tIns="0" bIns="0" anchor="t">
            <a:spAutoFit/>
          </a:bodyPr>
          <a:lstStyle/>
          <a:p>
            <a:pPr algn="l"/>
            <a:r>
              <a:rPr sz="2400" b="1">
                <a:solidFill>
                  <a:srgbClr val="3FCF8E"/>
                </a:solidFill>
                <a:latin typeface="Barlow Condensed"/>
              </a:rPr>
              <a:t>3  </a:t>
            </a:r>
            <a:r>
              <a:rPr sz="1600" b="1">
                <a:solidFill>
                  <a:srgbClr val="EAF0F6"/>
                </a:solidFill>
                <a:latin typeface="Barlow Condensed"/>
              </a:rPr>
              <a:t>Post-Flight</a:t>
            </a:r>
          </a:p>
        </p:txBody>
      </p:sp>
      <p:sp>
        <p:nvSpPr>
          <p:cNvPr id="24" name="TextBox 23"/>
          <p:cNvSpPr txBox="1"/>
          <p:nvPr/>
        </p:nvSpPr>
        <p:spPr>
          <a:xfrm>
            <a:off x="8274100" y="2157984"/>
            <a:ext cx="3213506" cy="548640"/>
          </a:xfrm>
          <a:prstGeom prst="rect">
            <a:avLst/>
          </a:prstGeom>
          <a:noFill/>
        </p:spPr>
        <p:txBody>
          <a:bodyPr wrap="square" lIns="0" rIns="0" tIns="0" bIns="0" anchor="t">
            <a:spAutoFit/>
          </a:bodyPr>
          <a:lstStyle/>
          <a:p>
            <a:pPr algn="l"/>
            <a:r>
              <a:rPr sz="1250" b="1">
                <a:solidFill>
                  <a:srgbClr val="EAF0F6"/>
                </a:solidFill>
                <a:latin typeface="Barlow"/>
              </a:rPr>
              <a:t>Which NEW deprecations did I just inherit?</a:t>
            </a:r>
          </a:p>
        </p:txBody>
      </p:sp>
      <p:sp>
        <p:nvSpPr>
          <p:cNvPr id="25" name="TextBox 24"/>
          <p:cNvSpPr txBox="1"/>
          <p:nvPr/>
        </p:nvSpPr>
        <p:spPr>
          <a:xfrm>
            <a:off x="8274100" y="2825496"/>
            <a:ext cx="3213506" cy="914400"/>
          </a:xfrm>
          <a:prstGeom prst="rect">
            <a:avLst/>
          </a:prstGeom>
          <a:noFill/>
        </p:spPr>
        <p:txBody>
          <a:bodyPr wrap="square" lIns="0" rIns="0" tIns="0" bIns="0" anchor="t">
            <a:spAutoFit/>
          </a:bodyPr>
          <a:lstStyle/>
          <a:p>
            <a:pPr algn="l"/>
            <a:r>
              <a:rPr sz="1100" b="0">
                <a:solidFill>
                  <a:srgbClr val="A8B6C6"/>
                </a:solidFill>
                <a:latin typeface="Barlow"/>
              </a:rPr>
              <a:t>The version you just landed on deprecates things too. That list is the flight plan for the next upgrade.</a:t>
            </a:r>
          </a:p>
        </p:txBody>
      </p:sp>
      <p:sp>
        <p:nvSpPr>
          <p:cNvPr id="26" name="Rectangle 25"/>
          <p:cNvSpPr/>
          <p:nvPr/>
        </p:nvSpPr>
        <p:spPr>
          <a:xfrm>
            <a:off x="8274100" y="3831336"/>
            <a:ext cx="3167786"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74100" y="3931920"/>
            <a:ext cx="3213506" cy="274320"/>
          </a:xfrm>
          <a:prstGeom prst="rect">
            <a:avLst/>
          </a:prstGeom>
          <a:noFill/>
        </p:spPr>
        <p:txBody>
          <a:bodyPr wrap="square" lIns="0" rIns="0" tIns="0" bIns="0" anchor="t">
            <a:spAutoFit/>
          </a:bodyPr>
          <a:lstStyle/>
          <a:p>
            <a:pPr algn="l"/>
            <a:r>
              <a:rPr sz="900" b="0">
                <a:solidFill>
                  <a:srgbClr val="3FCF8E"/>
                </a:solidFill>
                <a:latin typeface="IBM Plex Mono"/>
              </a:rPr>
              <a:t>Deprecation log · Extension Scanner · rector, next level set</a:t>
            </a:r>
          </a:p>
        </p:txBody>
      </p:sp>
      <p:sp>
        <p:nvSpPr>
          <p:cNvPr id="28" name="TextBox 2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9" name="TextBox 2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18 / 88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632297"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CHANGELOG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briefing is in your backend</a:t>
            </a:r>
          </a:p>
        </p:txBody>
      </p:sp>
      <p:sp>
        <p:nvSpPr>
          <p:cNvPr id="7" name="Rectangle 6"/>
          <p:cNvSpPr/>
          <p:nvPr/>
        </p:nvSpPr>
        <p:spPr>
          <a:xfrm>
            <a:off x="566928" y="1591056"/>
            <a:ext cx="6400800" cy="395020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04-upgrade-documentation.png"/>
          <p:cNvPicPr>
            <a:picLocks noChangeAspect="1"/>
          </p:cNvPicPr>
          <p:nvPr/>
        </p:nvPicPr>
        <p:blipFill>
          <a:blip r:embed="rId2"/>
          <a:stretch>
            <a:fillRect/>
          </a:stretch>
        </p:blipFill>
        <p:spPr>
          <a:xfrm>
            <a:off x="1538478" y="1682496"/>
            <a:ext cx="4457700" cy="3566160"/>
          </a:xfrm>
          <a:prstGeom prst="rect">
            <a:avLst/>
          </a:prstGeom>
        </p:spPr>
      </p:pic>
      <p:sp>
        <p:nvSpPr>
          <p:cNvPr id="9" name="TextBox 8"/>
          <p:cNvSpPr txBox="1"/>
          <p:nvPr/>
        </p:nvSpPr>
        <p:spPr>
          <a:xfrm>
            <a:off x="676656" y="5303520"/>
            <a:ext cx="6181344" cy="201168"/>
          </a:xfrm>
          <a:prstGeom prst="rect">
            <a:avLst/>
          </a:prstGeom>
          <a:noFill/>
        </p:spPr>
        <p:txBody>
          <a:bodyPr wrap="square" lIns="0" rIns="0" tIns="0" bIns="0" anchor="t">
            <a:spAutoFit/>
          </a:bodyPr>
          <a:lstStyle/>
          <a:p>
            <a:pPr algn="l"/>
            <a:r>
              <a:rPr sz="800" b="0">
                <a:solidFill>
                  <a:srgbClr val="6F8093"/>
                </a:solidFill>
                <a:latin typeface="IBM Plex Mono"/>
              </a:rPr>
              <a:t>Admin Tools › Upgrade › View Upgrade Documentation — TYPO3 12.4.45</a:t>
            </a:r>
          </a:p>
        </p:txBody>
      </p:sp>
      <p:sp>
        <p:nvSpPr>
          <p:cNvPr id="10" name="TextBox 9"/>
          <p:cNvSpPr txBox="1"/>
          <p:nvPr/>
        </p:nvSpPr>
        <p:spPr>
          <a:xfrm>
            <a:off x="7333488" y="1819656"/>
            <a:ext cx="4291279" cy="2194560"/>
          </a:xfrm>
          <a:prstGeom prst="rect">
            <a:avLst/>
          </a:prstGeom>
          <a:noFill/>
        </p:spPr>
        <p:txBody>
          <a:bodyPr wrap="square" lIns="0" rIns="0" tIns="0" bIns="0" anchor="t">
            <a:spAutoFit/>
          </a:bodyPr>
          <a:lstStyle/>
          <a:p>
            <a:pPr algn="l">
              <a:lnSpc>
                <a:spcPct val="112000"/>
              </a:lnSpc>
            </a:pPr>
            <a:r>
              <a:rPr sz="1300" b="0" i="0">
                <a:solidFill>
                  <a:srgbClr val="FFB020"/>
                </a:solidFill>
                <a:latin typeface="Barlow"/>
              </a:rPr>
              <a:t>◆  </a:t>
            </a:r>
            <a:r>
              <a:rPr sz="1300" b="0" i="0">
                <a:solidFill>
                  <a:srgbClr val="EAF0F6"/>
                </a:solidFill>
                <a:latin typeface="Barlow"/>
              </a:rPr>
              <a:t>Every changelog entry that ships with your core, searchable and filterable by tag.</a:t>
            </a:r>
          </a:p>
          <a:p>
            <a:pPr algn="l">
              <a:lnSpc>
                <a:spcPct val="112000"/>
              </a:lnSpc>
              <a:spcBef>
                <a:spcPts val="1100"/>
              </a:spcBef>
            </a:pPr>
            <a:r>
              <a:rPr sz="1300" b="0" i="0">
                <a:solidFill>
                  <a:srgbClr val="FFB020"/>
                </a:solidFill>
                <a:latin typeface="Barlow"/>
              </a:rPr>
              <a:t>◆  </a:t>
            </a:r>
            <a:r>
              <a:rPr sz="1300" b="0" i="0">
                <a:solidFill>
                  <a:srgbClr val="EAF0F6"/>
                </a:solidFill>
                <a:latin typeface="Barlow"/>
              </a:rPr>
              <a:t>Mark entries as read so the list shrinks as you triage.</a:t>
            </a:r>
          </a:p>
          <a:p>
            <a:pPr algn="l">
              <a:lnSpc>
                <a:spcPct val="112000"/>
              </a:lnSpc>
              <a:spcBef>
                <a:spcPts val="1100"/>
              </a:spcBef>
            </a:pPr>
            <a:r>
              <a:rPr sz="1300" b="0" i="0">
                <a:solidFill>
                  <a:srgbClr val="FFB020"/>
                </a:solidFill>
                <a:latin typeface="Barlow"/>
              </a:rPr>
              <a:t>◆  </a:t>
            </a:r>
            <a:r>
              <a:rPr sz="1300" b="0" i="0">
                <a:solidFill>
                  <a:srgbClr val="EAF0F6"/>
                </a:solidFill>
                <a:latin typeface="Barlow"/>
              </a:rPr>
              <a:t>You do not need the internet to do your NOTAM briefing.</a:t>
            </a:r>
          </a:p>
        </p:txBody>
      </p:sp>
      <p:sp>
        <p:nvSpPr>
          <p:cNvPr id="11" name="TextBox 10"/>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2" name="TextBox 11"/>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19 / 88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770839" cy="3810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035832" cy="2560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035832" cy="201168"/>
          </a:xfrm>
          <a:prstGeom prst="rect">
            <a:avLst/>
          </a:prstGeom>
          <a:noFill/>
        </p:spPr>
        <p:txBody>
          <a:bodyPr wrap="square" lIns="0" rIns="0" tIns="0" bIns="0" anchor="t">
            <a:spAutoFit/>
          </a:bodyPr>
          <a:lstStyle/>
          <a:p>
            <a:pPr algn="l"/>
            <a:r>
              <a:rPr sz="1100" b="1">
                <a:solidFill>
                  <a:srgbClr val="0B1016"/>
                </a:solidFill>
                <a:latin typeface="Barlow Condensed"/>
              </a:rPr>
              <a:t>CHANGELOG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Where to read them</a:t>
            </a:r>
          </a:p>
        </p:txBody>
      </p:sp>
      <p:sp>
        <p:nvSpPr>
          <p:cNvPr id="7" name="TextBox 6"/>
          <p:cNvSpPr txBox="1"/>
          <p:nvPr/>
        </p:nvSpPr>
        <p:spPr>
          <a:xfrm>
            <a:off x="566928" y="1591056"/>
            <a:ext cx="2743200" cy="274320"/>
          </a:xfrm>
          <a:prstGeom prst="rect">
            <a:avLst/>
          </a:prstGeom>
          <a:noFill/>
        </p:spPr>
        <p:txBody>
          <a:bodyPr wrap="square" lIns="0" rIns="0" tIns="0" bIns="0" anchor="t">
            <a:spAutoFit/>
          </a:bodyPr>
          <a:lstStyle/>
          <a:p>
            <a:pPr algn="l"/>
            <a:r>
              <a:rPr sz="1600" b="1">
                <a:solidFill>
                  <a:srgbClr val="FFB020"/>
                </a:solidFill>
                <a:latin typeface="Barlow Condensed"/>
              </a:rPr>
              <a:t>Rendered documentation</a:t>
            </a:r>
          </a:p>
        </p:txBody>
      </p:sp>
      <p:sp>
        <p:nvSpPr>
          <p:cNvPr id="8" name="TextBox 7"/>
          <p:cNvSpPr txBox="1"/>
          <p:nvPr/>
        </p:nvSpPr>
        <p:spPr>
          <a:xfrm>
            <a:off x="3401568" y="1591056"/>
            <a:ext cx="8223199" cy="256032"/>
          </a:xfrm>
          <a:prstGeom prst="rect">
            <a:avLst/>
          </a:prstGeom>
          <a:noFill/>
        </p:spPr>
        <p:txBody>
          <a:bodyPr wrap="square" lIns="0" rIns="0" tIns="0" bIns="0" anchor="t">
            <a:spAutoFit/>
          </a:bodyPr>
          <a:lstStyle/>
          <a:p>
            <a:pPr algn="l"/>
            <a:r>
              <a:rPr sz="1150" b="0">
                <a:solidFill>
                  <a:srgbClr val="EAF0F6"/>
                </a:solidFill>
                <a:latin typeface="IBM Plex Mono"/>
              </a:rPr>
              <a:t>docs.typo3.org/c/typo3/cms-core/main/en-us/Index.html</a:t>
            </a:r>
          </a:p>
        </p:txBody>
      </p:sp>
      <p:sp>
        <p:nvSpPr>
          <p:cNvPr id="9" name="TextBox 8"/>
          <p:cNvSpPr txBox="1"/>
          <p:nvPr/>
        </p:nvSpPr>
        <p:spPr>
          <a:xfrm>
            <a:off x="3401568" y="1837944"/>
            <a:ext cx="8223199" cy="256032"/>
          </a:xfrm>
          <a:prstGeom prst="rect">
            <a:avLst/>
          </a:prstGeom>
          <a:noFill/>
        </p:spPr>
        <p:txBody>
          <a:bodyPr wrap="square" lIns="0" rIns="0" tIns="0" bIns="0" anchor="t">
            <a:spAutoFit/>
          </a:bodyPr>
          <a:lstStyle/>
          <a:p>
            <a:pPr algn="l"/>
            <a:r>
              <a:rPr sz="1100" b="0">
                <a:solidFill>
                  <a:srgbClr val="6F8093"/>
                </a:solidFill>
                <a:latin typeface="Barlow"/>
              </a:rPr>
              <a:t>Filterable by version and type. The canonical source.</a:t>
            </a:r>
          </a:p>
        </p:txBody>
      </p:sp>
      <p:sp>
        <p:nvSpPr>
          <p:cNvPr id="10" name="Rectangle 9"/>
          <p:cNvSpPr/>
          <p:nvPr/>
        </p:nvSpPr>
        <p:spPr>
          <a:xfrm>
            <a:off x="566928" y="2121408"/>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66928" y="2249424"/>
            <a:ext cx="2743200" cy="274320"/>
          </a:xfrm>
          <a:prstGeom prst="rect">
            <a:avLst/>
          </a:prstGeom>
          <a:noFill/>
        </p:spPr>
        <p:txBody>
          <a:bodyPr wrap="square" lIns="0" rIns="0" tIns="0" bIns="0" anchor="t">
            <a:spAutoFit/>
          </a:bodyPr>
          <a:lstStyle/>
          <a:p>
            <a:pPr algn="l"/>
            <a:r>
              <a:rPr sz="1600" b="1">
                <a:solidFill>
                  <a:srgbClr val="FFB020"/>
                </a:solidFill>
                <a:latin typeface="Barlow Condensed"/>
              </a:rPr>
              <a:t>Shipped with the core</a:t>
            </a:r>
          </a:p>
        </p:txBody>
      </p:sp>
      <p:sp>
        <p:nvSpPr>
          <p:cNvPr id="12" name="TextBox 11"/>
          <p:cNvSpPr txBox="1"/>
          <p:nvPr/>
        </p:nvSpPr>
        <p:spPr>
          <a:xfrm>
            <a:off x="3401568" y="2249424"/>
            <a:ext cx="8223199" cy="256032"/>
          </a:xfrm>
          <a:prstGeom prst="rect">
            <a:avLst/>
          </a:prstGeom>
          <a:noFill/>
        </p:spPr>
        <p:txBody>
          <a:bodyPr wrap="square" lIns="0" rIns="0" tIns="0" bIns="0" anchor="t">
            <a:spAutoFit/>
          </a:bodyPr>
          <a:lstStyle/>
          <a:p>
            <a:pPr algn="l"/>
            <a:r>
              <a:rPr sz="1150" b="0">
                <a:solidFill>
                  <a:srgbClr val="EAF0F6"/>
                </a:solidFill>
                <a:latin typeface="IBM Plex Mono"/>
              </a:rPr>
              <a:t>vendor/typo3/cms-core/Documentation/Changelog/</a:t>
            </a:r>
          </a:p>
        </p:txBody>
      </p:sp>
      <p:sp>
        <p:nvSpPr>
          <p:cNvPr id="13" name="TextBox 12"/>
          <p:cNvSpPr txBox="1"/>
          <p:nvPr/>
        </p:nvSpPr>
        <p:spPr>
          <a:xfrm>
            <a:off x="3401568" y="2496312"/>
            <a:ext cx="8223199" cy="256032"/>
          </a:xfrm>
          <a:prstGeom prst="rect">
            <a:avLst/>
          </a:prstGeom>
          <a:noFill/>
        </p:spPr>
        <p:txBody>
          <a:bodyPr wrap="square" lIns="0" rIns="0" tIns="0" bIns="0" anchor="t">
            <a:spAutoFit/>
          </a:bodyPr>
          <a:lstStyle/>
          <a:p>
            <a:pPr algn="l"/>
            <a:r>
              <a:rPr sz="1100" b="0">
                <a:solidFill>
                  <a:srgbClr val="6F8093"/>
                </a:solidFill>
                <a:latin typeface="Barlow"/>
              </a:rPr>
              <a:t>Offline, grep-able, and exactly matching your installed version.</a:t>
            </a:r>
          </a:p>
        </p:txBody>
      </p:sp>
      <p:sp>
        <p:nvSpPr>
          <p:cNvPr id="14" name="Rectangle 13"/>
          <p:cNvSpPr/>
          <p:nvPr/>
        </p:nvSpPr>
        <p:spPr>
          <a:xfrm>
            <a:off x="566928" y="2779776"/>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2907792"/>
            <a:ext cx="2743200" cy="274320"/>
          </a:xfrm>
          <a:prstGeom prst="rect">
            <a:avLst/>
          </a:prstGeom>
          <a:noFill/>
        </p:spPr>
        <p:txBody>
          <a:bodyPr wrap="square" lIns="0" rIns="0" tIns="0" bIns="0" anchor="t">
            <a:spAutoFit/>
          </a:bodyPr>
          <a:lstStyle/>
          <a:p>
            <a:pPr algn="l"/>
            <a:r>
              <a:rPr sz="1600" b="1">
                <a:solidFill>
                  <a:srgbClr val="FFB020"/>
                </a:solidFill>
                <a:latin typeface="Barlow Condensed"/>
              </a:rPr>
              <a:t>In the Install Tool</a:t>
            </a:r>
          </a:p>
        </p:txBody>
      </p:sp>
      <p:sp>
        <p:nvSpPr>
          <p:cNvPr id="16" name="TextBox 15"/>
          <p:cNvSpPr txBox="1"/>
          <p:nvPr/>
        </p:nvSpPr>
        <p:spPr>
          <a:xfrm>
            <a:off x="3401568" y="2907792"/>
            <a:ext cx="8223199" cy="256032"/>
          </a:xfrm>
          <a:prstGeom prst="rect">
            <a:avLst/>
          </a:prstGeom>
          <a:noFill/>
        </p:spPr>
        <p:txBody>
          <a:bodyPr wrap="square" lIns="0" rIns="0" tIns="0" bIns="0" anchor="t">
            <a:spAutoFit/>
          </a:bodyPr>
          <a:lstStyle/>
          <a:p>
            <a:pPr algn="l"/>
            <a:r>
              <a:rPr sz="1150" b="0">
                <a:solidFill>
                  <a:srgbClr val="EAF0F6"/>
                </a:solidFill>
                <a:latin typeface="IBM Plex Mono"/>
              </a:rPr>
              <a:t>Admin Tools › Upgrade › View Upgrade Documentation</a:t>
            </a:r>
          </a:p>
        </p:txBody>
      </p:sp>
      <p:sp>
        <p:nvSpPr>
          <p:cNvPr id="17" name="TextBox 16"/>
          <p:cNvSpPr txBox="1"/>
          <p:nvPr/>
        </p:nvSpPr>
        <p:spPr>
          <a:xfrm>
            <a:off x="3401568" y="3154680"/>
            <a:ext cx="8223199" cy="256032"/>
          </a:xfrm>
          <a:prstGeom prst="rect">
            <a:avLst/>
          </a:prstGeom>
          <a:noFill/>
        </p:spPr>
        <p:txBody>
          <a:bodyPr wrap="square" lIns="0" rIns="0" tIns="0" bIns="0" anchor="t">
            <a:spAutoFit/>
          </a:bodyPr>
          <a:lstStyle/>
          <a:p>
            <a:pPr algn="l"/>
            <a:r>
              <a:rPr sz="1100" b="0">
                <a:solidFill>
                  <a:srgbClr val="6F8093"/>
                </a:solidFill>
                <a:latin typeface="Barlow"/>
              </a:rPr>
              <a:t>Same entries, with read/unread state.</a:t>
            </a:r>
          </a:p>
        </p:txBody>
      </p:sp>
      <p:sp>
        <p:nvSpPr>
          <p:cNvPr id="18" name="Rectangle 17"/>
          <p:cNvSpPr/>
          <p:nvPr/>
        </p:nvSpPr>
        <p:spPr>
          <a:xfrm>
            <a:off x="566928" y="3438144"/>
            <a:ext cx="11057839"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0" name="TextBox 19"/>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20 / 88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41C"/>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909381"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920240"/>
            <a:ext cx="1463040" cy="1463040"/>
          </a:xfrm>
          <a:prstGeom prst="rect">
            <a:avLst/>
          </a:prstGeom>
          <a:noFill/>
        </p:spPr>
        <p:txBody>
          <a:bodyPr wrap="square" lIns="0" rIns="0" tIns="0" bIns="0" anchor="t">
            <a:spAutoFit/>
          </a:bodyPr>
          <a:lstStyle/>
          <a:p>
            <a:pPr algn="ctr"/>
            <a:r>
              <a:rPr sz="9600" b="1">
                <a:solidFill>
                  <a:srgbClr val="4EC3E0"/>
                </a:solidFill>
                <a:latin typeface="Barlow Condensed"/>
              </a:rPr>
              <a:t>1</a:t>
            </a:r>
          </a:p>
        </p:txBody>
      </p:sp>
      <p:sp>
        <p:nvSpPr>
          <p:cNvPr id="5" name="TextBox 4"/>
          <p:cNvSpPr txBox="1"/>
          <p:nvPr/>
        </p:nvSpPr>
        <p:spPr>
          <a:xfrm>
            <a:off x="2167128" y="2148840"/>
            <a:ext cx="9457639" cy="274320"/>
          </a:xfrm>
          <a:prstGeom prst="rect">
            <a:avLst/>
          </a:prstGeom>
          <a:noFill/>
        </p:spPr>
        <p:txBody>
          <a:bodyPr wrap="square" lIns="0" rIns="0" tIns="0" bIns="0" anchor="t">
            <a:spAutoFit/>
          </a:bodyPr>
          <a:lstStyle/>
          <a:p>
            <a:pPr algn="l"/>
            <a:r>
              <a:rPr sz="1250" b="1">
                <a:solidFill>
                  <a:srgbClr val="4EC3E0"/>
                </a:solidFill>
                <a:latin typeface="Barlow Condensed"/>
              </a:rPr>
              <a:t>EVERYTHING BEFORE YOU TOUCH COMPOSER</a:t>
            </a:r>
          </a:p>
        </p:txBody>
      </p:sp>
      <p:sp>
        <p:nvSpPr>
          <p:cNvPr id="6" name="TextBox 5"/>
          <p:cNvSpPr txBox="1"/>
          <p:nvPr/>
        </p:nvSpPr>
        <p:spPr>
          <a:xfrm>
            <a:off x="2167128" y="2514600"/>
            <a:ext cx="9457639" cy="822960"/>
          </a:xfrm>
          <a:prstGeom prst="rect">
            <a:avLst/>
          </a:prstGeom>
          <a:noFill/>
        </p:spPr>
        <p:txBody>
          <a:bodyPr wrap="square" lIns="0" rIns="0" tIns="0" bIns="0" anchor="t">
            <a:spAutoFit/>
          </a:bodyPr>
          <a:lstStyle/>
          <a:p>
            <a:pPr algn="l"/>
            <a:r>
              <a:rPr sz="4800" b="1">
                <a:solidFill>
                  <a:srgbClr val="EAF0F6"/>
                </a:solidFill>
                <a:latin typeface="Barlow Condensed"/>
              </a:rPr>
              <a:t>Dispatch &amp; Pre-Flight</a:t>
            </a:r>
          </a:p>
        </p:txBody>
      </p:sp>
      <p:sp>
        <p:nvSpPr>
          <p:cNvPr id="7" name="TextBox 6"/>
          <p:cNvSpPr txBox="1"/>
          <p:nvPr/>
        </p:nvSpPr>
        <p:spPr>
          <a:xfrm>
            <a:off x="2167128" y="3520440"/>
            <a:ext cx="8771839" cy="640080"/>
          </a:xfrm>
          <a:prstGeom prst="rect">
            <a:avLst/>
          </a:prstGeom>
          <a:noFill/>
        </p:spPr>
        <p:txBody>
          <a:bodyPr wrap="square" lIns="0" rIns="0" tIns="0" bIns="0" anchor="t">
            <a:spAutoFit/>
          </a:bodyPr>
          <a:lstStyle/>
          <a:p>
            <a:pPr algn="l"/>
            <a:r>
              <a:rPr sz="1500" b="0">
                <a:solidFill>
                  <a:srgbClr val="A8B6C6"/>
                </a:solidFill>
                <a:latin typeface="Barlow"/>
              </a:rPr>
              <a:t>The flight is won or lost before engine start.</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21 / 88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047923"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How a crew starts the day</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4EC3E0"/>
                </a:solidFill>
                <a:latin typeface="Barlow"/>
              </a:rPr>
              <a:t>◆  </a:t>
            </a:r>
            <a:r>
              <a:rPr sz="1600" b="0" i="0">
                <a:solidFill>
                  <a:srgbClr val="EAF0F6"/>
                </a:solidFill>
                <a:latin typeface="Barlow"/>
              </a:rPr>
              <a:t>Dispatch prepares a flight information package before the crew ever reaches the aircraft.</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Route, weather, NOTAMs, fuel, alternates, payload, and the MEL are already on paper.</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The crew verifies it — they do not invent it at the gate.</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Then they walk around the aircraft and look at it with their own eyes.</a:t>
            </a:r>
          </a:p>
        </p:txBody>
      </p:sp>
      <p:sp>
        <p:nvSpPr>
          <p:cNvPr id="8" name="Rectangle 7"/>
          <p:cNvSpPr/>
          <p:nvPr/>
        </p:nvSpPr>
        <p:spPr>
          <a:xfrm>
            <a:off x="566928" y="3401568"/>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Nobody improvises a departure. The improvisation budget is saved for the things that actually go wrong.</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22 / 88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186465"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Pre-Flight checklist</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Challenge — Response. Read it out. Answer it honestly.</a:t>
            </a:r>
          </a:p>
        </p:txBody>
      </p:sp>
      <p:sp>
        <p:nvSpPr>
          <p:cNvPr id="8" name="TextBox 7"/>
          <p:cNvSpPr txBox="1"/>
          <p:nvPr/>
        </p:nvSpPr>
        <p:spPr>
          <a:xfrm>
            <a:off x="566928" y="197510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CURRENT VERSION</a:t>
            </a:r>
          </a:p>
        </p:txBody>
      </p:sp>
      <p:sp>
        <p:nvSpPr>
          <p:cNvPr id="9" name="TextBox 8"/>
          <p:cNvSpPr txBox="1"/>
          <p:nvPr/>
        </p:nvSpPr>
        <p:spPr>
          <a:xfrm>
            <a:off x="3431811" y="2002536"/>
            <a:ext cx="2343995" cy="237744"/>
          </a:xfrm>
          <a:prstGeom prst="rect">
            <a:avLst/>
          </a:prstGeom>
          <a:noFill/>
        </p:spPr>
        <p:txBody>
          <a:bodyPr wrap="square" lIns="0" rIns="0" tIns="0" bIns="0" anchor="t">
            <a:spAutoFit/>
          </a:bodyPr>
          <a:lstStyle/>
          <a:p>
            <a:pPr algn="r"/>
            <a:r>
              <a:rPr sz="900" b="0">
                <a:solidFill>
                  <a:srgbClr val="3FCF8E"/>
                </a:solidFill>
                <a:latin typeface="IBM Plex Mono"/>
              </a:rPr>
              <a:t>▸ known, patched, documented</a:t>
            </a:r>
          </a:p>
        </p:txBody>
      </p:sp>
      <p:sp>
        <p:nvSpPr>
          <p:cNvPr id="10" name="Rectangle 9"/>
          <p:cNvSpPr/>
          <p:nvPr/>
        </p:nvSpPr>
        <p:spPr>
          <a:xfrm>
            <a:off x="566928" y="220370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66928" y="2313432"/>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CHANGELOGS</a:t>
            </a:r>
          </a:p>
        </p:txBody>
      </p:sp>
      <p:sp>
        <p:nvSpPr>
          <p:cNvPr id="12" name="TextBox 11"/>
          <p:cNvSpPr txBox="1"/>
          <p:nvPr/>
        </p:nvSpPr>
        <p:spPr>
          <a:xfrm>
            <a:off x="3431811" y="2340864"/>
            <a:ext cx="2343995" cy="237744"/>
          </a:xfrm>
          <a:prstGeom prst="rect">
            <a:avLst/>
          </a:prstGeom>
          <a:noFill/>
        </p:spPr>
        <p:txBody>
          <a:bodyPr wrap="square" lIns="0" rIns="0" tIns="0" bIns="0" anchor="t">
            <a:spAutoFit/>
          </a:bodyPr>
          <a:lstStyle/>
          <a:p>
            <a:pPr algn="r"/>
            <a:r>
              <a:rPr sz="900" b="0">
                <a:solidFill>
                  <a:srgbClr val="3FCF8E"/>
                </a:solidFill>
                <a:latin typeface="IBM Plex Mono"/>
              </a:rPr>
              <a:t>▸ read and triaged</a:t>
            </a:r>
          </a:p>
        </p:txBody>
      </p:sp>
      <p:sp>
        <p:nvSpPr>
          <p:cNvPr id="13" name="Rectangle 12"/>
          <p:cNvSpPr/>
          <p:nvPr/>
        </p:nvSpPr>
        <p:spPr>
          <a:xfrm>
            <a:off x="566928" y="2542032"/>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6928" y="2651760"/>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EXTENSION SCAN</a:t>
            </a:r>
          </a:p>
        </p:txBody>
      </p:sp>
      <p:sp>
        <p:nvSpPr>
          <p:cNvPr id="15" name="TextBox 14"/>
          <p:cNvSpPr txBox="1"/>
          <p:nvPr/>
        </p:nvSpPr>
        <p:spPr>
          <a:xfrm>
            <a:off x="3431811" y="2679192"/>
            <a:ext cx="2343995" cy="237744"/>
          </a:xfrm>
          <a:prstGeom prst="rect">
            <a:avLst/>
          </a:prstGeom>
          <a:noFill/>
        </p:spPr>
        <p:txBody>
          <a:bodyPr wrap="square" lIns="0" rIns="0" tIns="0" bIns="0" anchor="t">
            <a:spAutoFit/>
          </a:bodyPr>
          <a:lstStyle/>
          <a:p>
            <a:pPr algn="r"/>
            <a:r>
              <a:rPr sz="900" b="0">
                <a:solidFill>
                  <a:srgbClr val="3FCF8E"/>
                </a:solidFill>
                <a:latin typeface="IBM Plex Mono"/>
              </a:rPr>
              <a:t>▸ run — strong matches at zero</a:t>
            </a:r>
          </a:p>
        </p:txBody>
      </p:sp>
      <p:sp>
        <p:nvSpPr>
          <p:cNvPr id="16" name="Rectangle 15"/>
          <p:cNvSpPr/>
          <p:nvPr/>
        </p:nvSpPr>
        <p:spPr>
          <a:xfrm>
            <a:off x="566928" y="2880360"/>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6928" y="2990088"/>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THIRD-PARTY EXTENSIONS</a:t>
            </a:r>
          </a:p>
        </p:txBody>
      </p:sp>
      <p:sp>
        <p:nvSpPr>
          <p:cNvPr id="18" name="TextBox 17"/>
          <p:cNvSpPr txBox="1"/>
          <p:nvPr/>
        </p:nvSpPr>
        <p:spPr>
          <a:xfrm>
            <a:off x="3431811" y="3017520"/>
            <a:ext cx="2343995" cy="237744"/>
          </a:xfrm>
          <a:prstGeom prst="rect">
            <a:avLst/>
          </a:prstGeom>
          <a:noFill/>
        </p:spPr>
        <p:txBody>
          <a:bodyPr wrap="square" lIns="0" rIns="0" tIns="0" bIns="0" anchor="t">
            <a:spAutoFit/>
          </a:bodyPr>
          <a:lstStyle/>
          <a:p>
            <a:pPr algn="r"/>
            <a:r>
              <a:rPr sz="900" b="0">
                <a:solidFill>
                  <a:srgbClr val="3FCF8E"/>
                </a:solidFill>
                <a:latin typeface="IBM Plex Mono"/>
              </a:rPr>
              <a:t>▸ target-version ready</a:t>
            </a:r>
          </a:p>
        </p:txBody>
      </p:sp>
      <p:sp>
        <p:nvSpPr>
          <p:cNvPr id="19" name="Rectangle 18"/>
          <p:cNvSpPr/>
          <p:nvPr/>
        </p:nvSpPr>
        <p:spPr>
          <a:xfrm>
            <a:off x="566928" y="3218688"/>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6928" y="3328416"/>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TESTS</a:t>
            </a:r>
          </a:p>
        </p:txBody>
      </p:sp>
      <p:sp>
        <p:nvSpPr>
          <p:cNvPr id="21" name="TextBox 20"/>
          <p:cNvSpPr txBox="1"/>
          <p:nvPr/>
        </p:nvSpPr>
        <p:spPr>
          <a:xfrm>
            <a:off x="3431811" y="3355848"/>
            <a:ext cx="2343995" cy="237744"/>
          </a:xfrm>
          <a:prstGeom prst="rect">
            <a:avLst/>
          </a:prstGeom>
          <a:noFill/>
        </p:spPr>
        <p:txBody>
          <a:bodyPr wrap="square" lIns="0" rIns="0" tIns="0" bIns="0" anchor="t">
            <a:spAutoFit/>
          </a:bodyPr>
          <a:lstStyle/>
          <a:p>
            <a:pPr algn="r"/>
            <a:r>
              <a:rPr sz="900" b="0">
                <a:solidFill>
                  <a:srgbClr val="3FCF8E"/>
                </a:solidFill>
                <a:latin typeface="IBM Plex Mono"/>
              </a:rPr>
              <a:t>▸ green and meaningful</a:t>
            </a:r>
          </a:p>
        </p:txBody>
      </p:sp>
      <p:sp>
        <p:nvSpPr>
          <p:cNvPr id="22" name="Rectangle 21"/>
          <p:cNvSpPr/>
          <p:nvPr/>
        </p:nvSpPr>
        <p:spPr>
          <a:xfrm>
            <a:off x="566928" y="3557016"/>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66928" y="366674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ROLLBACK CRITERIA</a:t>
            </a:r>
          </a:p>
        </p:txBody>
      </p:sp>
      <p:sp>
        <p:nvSpPr>
          <p:cNvPr id="24" name="TextBox 23"/>
          <p:cNvSpPr txBox="1"/>
          <p:nvPr/>
        </p:nvSpPr>
        <p:spPr>
          <a:xfrm>
            <a:off x="3431811" y="3694176"/>
            <a:ext cx="2343995" cy="237744"/>
          </a:xfrm>
          <a:prstGeom prst="rect">
            <a:avLst/>
          </a:prstGeom>
          <a:noFill/>
        </p:spPr>
        <p:txBody>
          <a:bodyPr wrap="square" lIns="0" rIns="0" tIns="0" bIns="0" anchor="t">
            <a:spAutoFit/>
          </a:bodyPr>
          <a:lstStyle/>
          <a:p>
            <a:pPr algn="r"/>
            <a:r>
              <a:rPr sz="900" b="0">
                <a:solidFill>
                  <a:srgbClr val="3FCF8E"/>
                </a:solidFill>
                <a:latin typeface="IBM Plex Mono"/>
              </a:rPr>
              <a:t>▸ written down before departure</a:t>
            </a:r>
          </a:p>
        </p:txBody>
      </p:sp>
      <p:sp>
        <p:nvSpPr>
          <p:cNvPr id="25" name="Rectangle 24"/>
          <p:cNvSpPr/>
          <p:nvPr/>
        </p:nvSpPr>
        <p:spPr>
          <a:xfrm>
            <a:off x="566928" y="389534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15887" y="197510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TARGET VERSION</a:t>
            </a:r>
          </a:p>
        </p:txBody>
      </p:sp>
      <p:sp>
        <p:nvSpPr>
          <p:cNvPr id="27" name="TextBox 26"/>
          <p:cNvSpPr txBox="1"/>
          <p:nvPr/>
        </p:nvSpPr>
        <p:spPr>
          <a:xfrm>
            <a:off x="9280771" y="2002536"/>
            <a:ext cx="2343995" cy="237744"/>
          </a:xfrm>
          <a:prstGeom prst="rect">
            <a:avLst/>
          </a:prstGeom>
          <a:noFill/>
        </p:spPr>
        <p:txBody>
          <a:bodyPr wrap="square" lIns="0" rIns="0" tIns="0" bIns="0" anchor="t">
            <a:spAutoFit/>
          </a:bodyPr>
          <a:lstStyle/>
          <a:p>
            <a:pPr algn="r"/>
            <a:r>
              <a:rPr sz="900" b="0">
                <a:solidFill>
                  <a:srgbClr val="3FCF8E"/>
                </a:solidFill>
                <a:latin typeface="IBM Plex Mono"/>
              </a:rPr>
              <a:t>▸ decided, dated, justified</a:t>
            </a:r>
          </a:p>
        </p:txBody>
      </p:sp>
      <p:sp>
        <p:nvSpPr>
          <p:cNvPr id="28" name="Rectangle 27"/>
          <p:cNvSpPr/>
          <p:nvPr/>
        </p:nvSpPr>
        <p:spPr>
          <a:xfrm>
            <a:off x="6415887" y="220370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15887" y="2313432"/>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DEPRECATIONS, CURRENT VERSION</a:t>
            </a:r>
          </a:p>
        </p:txBody>
      </p:sp>
      <p:sp>
        <p:nvSpPr>
          <p:cNvPr id="30" name="TextBox 29"/>
          <p:cNvSpPr txBox="1"/>
          <p:nvPr/>
        </p:nvSpPr>
        <p:spPr>
          <a:xfrm>
            <a:off x="9280771" y="2340864"/>
            <a:ext cx="2343995" cy="237744"/>
          </a:xfrm>
          <a:prstGeom prst="rect">
            <a:avLst/>
          </a:prstGeom>
          <a:noFill/>
        </p:spPr>
        <p:txBody>
          <a:bodyPr wrap="square" lIns="0" rIns="0" tIns="0" bIns="0" anchor="t">
            <a:spAutoFit/>
          </a:bodyPr>
          <a:lstStyle/>
          <a:p>
            <a:pPr algn="r"/>
            <a:r>
              <a:rPr sz="900" b="0">
                <a:solidFill>
                  <a:srgbClr val="3FCF8E"/>
                </a:solidFill>
                <a:latin typeface="IBM Plex Mono"/>
              </a:rPr>
              <a:t>▸ cleared or on the MEL</a:t>
            </a:r>
          </a:p>
        </p:txBody>
      </p:sp>
      <p:sp>
        <p:nvSpPr>
          <p:cNvPr id="31" name="Rectangle 30"/>
          <p:cNvSpPr/>
          <p:nvPr/>
        </p:nvSpPr>
        <p:spPr>
          <a:xfrm>
            <a:off x="6415887" y="2542032"/>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15887" y="2651760"/>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TCA MIGRATIONS</a:t>
            </a:r>
          </a:p>
        </p:txBody>
      </p:sp>
      <p:sp>
        <p:nvSpPr>
          <p:cNvPr id="33" name="TextBox 32"/>
          <p:cNvSpPr txBox="1"/>
          <p:nvPr/>
        </p:nvSpPr>
        <p:spPr>
          <a:xfrm>
            <a:off x="9280771" y="2679192"/>
            <a:ext cx="2343995" cy="237744"/>
          </a:xfrm>
          <a:prstGeom prst="rect">
            <a:avLst/>
          </a:prstGeom>
          <a:noFill/>
        </p:spPr>
        <p:txBody>
          <a:bodyPr wrap="square" lIns="0" rIns="0" tIns="0" bIns="0" anchor="t">
            <a:spAutoFit/>
          </a:bodyPr>
          <a:lstStyle/>
          <a:p>
            <a:pPr algn="r"/>
            <a:r>
              <a:rPr sz="900" b="0">
                <a:solidFill>
                  <a:srgbClr val="3FCF8E"/>
                </a:solidFill>
                <a:latin typeface="IBM Plex Mono"/>
              </a:rPr>
              <a:t>▸ checked — list is empty</a:t>
            </a:r>
          </a:p>
        </p:txBody>
      </p:sp>
      <p:sp>
        <p:nvSpPr>
          <p:cNvPr id="34" name="Rectangle 33"/>
          <p:cNvSpPr/>
          <p:nvPr/>
        </p:nvSpPr>
        <p:spPr>
          <a:xfrm>
            <a:off x="6415887" y="2880360"/>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15887" y="2990088"/>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PHP / DB / PLATFORM</a:t>
            </a:r>
          </a:p>
        </p:txBody>
      </p:sp>
      <p:sp>
        <p:nvSpPr>
          <p:cNvPr id="36" name="TextBox 35"/>
          <p:cNvSpPr txBox="1"/>
          <p:nvPr/>
        </p:nvSpPr>
        <p:spPr>
          <a:xfrm>
            <a:off x="9280771" y="3017520"/>
            <a:ext cx="2343995" cy="237744"/>
          </a:xfrm>
          <a:prstGeom prst="rect">
            <a:avLst/>
          </a:prstGeom>
          <a:noFill/>
        </p:spPr>
        <p:txBody>
          <a:bodyPr wrap="square" lIns="0" rIns="0" tIns="0" bIns="0" anchor="t">
            <a:spAutoFit/>
          </a:bodyPr>
          <a:lstStyle/>
          <a:p>
            <a:pPr algn="r"/>
            <a:r>
              <a:rPr sz="900" b="0">
                <a:solidFill>
                  <a:srgbClr val="3FCF8E"/>
                </a:solidFill>
                <a:latin typeface="IBM Plex Mono"/>
              </a:rPr>
              <a:t>▸ compatible and pinned</a:t>
            </a:r>
          </a:p>
        </p:txBody>
      </p:sp>
      <p:sp>
        <p:nvSpPr>
          <p:cNvPr id="37" name="Rectangle 36"/>
          <p:cNvSpPr/>
          <p:nvPr/>
        </p:nvSpPr>
        <p:spPr>
          <a:xfrm>
            <a:off x="6415887" y="3218688"/>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15887" y="3328416"/>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BACKUP AND RESTORE</a:t>
            </a:r>
          </a:p>
        </p:txBody>
      </p:sp>
      <p:sp>
        <p:nvSpPr>
          <p:cNvPr id="39" name="TextBox 38"/>
          <p:cNvSpPr txBox="1"/>
          <p:nvPr/>
        </p:nvSpPr>
        <p:spPr>
          <a:xfrm>
            <a:off x="9280771" y="3355848"/>
            <a:ext cx="2343995" cy="237744"/>
          </a:xfrm>
          <a:prstGeom prst="rect">
            <a:avLst/>
          </a:prstGeom>
          <a:noFill/>
        </p:spPr>
        <p:txBody>
          <a:bodyPr wrap="square" lIns="0" rIns="0" tIns="0" bIns="0" anchor="t">
            <a:spAutoFit/>
          </a:bodyPr>
          <a:lstStyle/>
          <a:p>
            <a:pPr algn="r"/>
            <a:r>
              <a:rPr sz="900" b="0">
                <a:solidFill>
                  <a:srgbClr val="3FCF8E"/>
                </a:solidFill>
                <a:latin typeface="IBM Plex Mono"/>
              </a:rPr>
              <a:t>▸ rehearsed, not assumed</a:t>
            </a:r>
          </a:p>
        </p:txBody>
      </p:sp>
      <p:sp>
        <p:nvSpPr>
          <p:cNvPr id="40" name="Rectangle 39"/>
          <p:cNvSpPr/>
          <p:nvPr/>
        </p:nvSpPr>
        <p:spPr>
          <a:xfrm>
            <a:off x="6415887" y="3557016"/>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15887" y="366674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TEAM</a:t>
            </a:r>
          </a:p>
        </p:txBody>
      </p:sp>
      <p:sp>
        <p:nvSpPr>
          <p:cNvPr id="42" name="TextBox 41"/>
          <p:cNvSpPr txBox="1"/>
          <p:nvPr/>
        </p:nvSpPr>
        <p:spPr>
          <a:xfrm>
            <a:off x="9280771" y="3694176"/>
            <a:ext cx="2343995" cy="237744"/>
          </a:xfrm>
          <a:prstGeom prst="rect">
            <a:avLst/>
          </a:prstGeom>
          <a:noFill/>
        </p:spPr>
        <p:txBody>
          <a:bodyPr wrap="square" lIns="0" rIns="0" tIns="0" bIns="0" anchor="t">
            <a:spAutoFit/>
          </a:bodyPr>
          <a:lstStyle/>
          <a:p>
            <a:pPr algn="r"/>
            <a:r>
              <a:rPr sz="900" b="0">
                <a:solidFill>
                  <a:srgbClr val="3FCF8E"/>
                </a:solidFill>
                <a:latin typeface="IBM Plex Mono"/>
              </a:rPr>
              <a:t>▸ briefed — shared mental map</a:t>
            </a:r>
          </a:p>
        </p:txBody>
      </p:sp>
      <p:sp>
        <p:nvSpPr>
          <p:cNvPr id="43" name="Rectangle 42"/>
          <p:cNvSpPr/>
          <p:nvPr/>
        </p:nvSpPr>
        <p:spPr>
          <a:xfrm>
            <a:off x="6415887" y="389534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45" name="TextBox 44"/>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23 / 88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325007"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Know your aircraft</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You cannot plan a flight for an aircraft you have not inventoried.</a:t>
            </a:r>
          </a:p>
        </p:txBody>
      </p:sp>
      <p:sp>
        <p:nvSpPr>
          <p:cNvPr id="8" name="Rectangle 7"/>
          <p:cNvSpPr/>
          <p:nvPr/>
        </p:nvSpPr>
        <p:spPr>
          <a:xfrm>
            <a:off x="566928" y="1975104"/>
            <a:ext cx="38100" cy="217627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03504" y="1975104"/>
            <a:ext cx="11021263" cy="2176272"/>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2084832"/>
            <a:ext cx="10728655" cy="1956816"/>
          </a:xfrm>
          <a:prstGeom prst="rect">
            <a:avLst/>
          </a:prstGeom>
          <a:noFill/>
        </p:spPr>
        <p:txBody>
          <a:bodyPr wrap="square" lIns="0" rIns="0" tIns="0" bIns="0" anchor="t">
            <a:spAutoFit/>
          </a:bodyPr>
          <a:lstStyle/>
          <a:p>
            <a:pPr algn="l">
              <a:lnSpc>
                <a:spcPct val="106000"/>
              </a:lnSpc>
            </a:pPr>
            <a:r>
              <a:rPr sz="950" b="0" i="0">
                <a:solidFill>
                  <a:srgbClr val="6F8093"/>
                </a:solidFill>
                <a:latin typeface="IBM Plex Mono"/>
              </a:rPr>
              <a:t># What am I actually running?</a:t>
            </a:r>
          </a:p>
          <a:p>
            <a:pPr algn="l">
              <a:lnSpc>
                <a:spcPct val="106000"/>
              </a:lnSpc>
              <a:spcBef>
                <a:spcPts val="0"/>
              </a:spcBef>
            </a:pPr>
            <a:r>
              <a:rPr sz="950" b="0" i="0">
                <a:solidFill>
                  <a:srgbClr val="C9D6E2"/>
                </a:solidFill>
                <a:latin typeface="IBM Plex Mono"/>
              </a:rPr>
              <a:t>./vendor/bin/typo3 --version</a:t>
            </a:r>
          </a:p>
          <a:p>
            <a:pPr algn="l">
              <a:lnSpc>
                <a:spcPct val="106000"/>
              </a:lnSpc>
              <a:spcBef>
                <a:spcPts val="0"/>
              </a:spcBef>
            </a:pPr>
            <a:r>
              <a:rPr sz="950" b="0" i="0">
                <a:solidFill>
                  <a:srgbClr val="C9D6E2"/>
                </a:solidFill>
                <a:latin typeface="IBM Plex Mono"/>
              </a:rPr>
              <a:t>composer show typo3/cms-core</a:t>
            </a:r>
          </a:p>
          <a:p>
            <a:pPr algn="l">
              <a:lnSpc>
                <a:spcPct val="106000"/>
              </a:lnSpc>
              <a:spcBef>
                <a:spcPts val="0"/>
              </a:spcBef>
            </a:pPr>
            <a:r>
              <a:rPr sz="950" b="0" i="0">
                <a:solidFill>
                  <a:srgbClr val="C9D6E2"/>
                </a:solidFill>
                <a:latin typeface="IBM Plex Mono"/>
              </a:rPr>
              <a:t>php --version &amp;&amp; composer show | wc -l</a:t>
            </a:r>
          </a:p>
          <a:p>
            <a:pPr algn="l">
              <a:lnSpc>
                <a:spcPct val="106000"/>
              </a:lnSpc>
              <a:spcBef>
                <a:spcPts val="0"/>
              </a:spcBef>
            </a:pPr>
            <a:r>
              <a:rPr sz="950" b="0" i="0">
                <a:solidFill>
                  <a:srgbClr val="C9D6E2"/>
                </a:solidFill>
                <a:latin typeface="IBM Plex Mono"/>
              </a:rPr>
              <a:t> </a:t>
            </a:r>
          </a:p>
          <a:p>
            <a:pPr algn="l">
              <a:lnSpc>
                <a:spcPct val="106000"/>
              </a:lnSpc>
              <a:spcBef>
                <a:spcPts val="0"/>
              </a:spcBef>
            </a:pPr>
            <a:r>
              <a:rPr sz="950" b="0" i="0">
                <a:solidFill>
                  <a:srgbClr val="6F8093"/>
                </a:solidFill>
                <a:latin typeface="IBM Plex Mono"/>
              </a:rPr>
              <a:t># What is installed, and what of it is mine?</a:t>
            </a:r>
          </a:p>
          <a:p>
            <a:pPr algn="l">
              <a:lnSpc>
                <a:spcPct val="106000"/>
              </a:lnSpc>
              <a:spcBef>
                <a:spcPts val="0"/>
              </a:spcBef>
            </a:pPr>
            <a:r>
              <a:rPr sz="950" b="0" i="0">
                <a:solidFill>
                  <a:srgbClr val="C9D6E2"/>
                </a:solidFill>
                <a:latin typeface="IBM Plex Mono"/>
              </a:rPr>
              <a:t>./vendor/bin/typo3 extension:list</a:t>
            </a:r>
          </a:p>
          <a:p>
            <a:pPr algn="l">
              <a:lnSpc>
                <a:spcPct val="106000"/>
              </a:lnSpc>
              <a:spcBef>
                <a:spcPts val="0"/>
              </a:spcBef>
            </a:pPr>
            <a:r>
              <a:rPr sz="950" b="0" i="0">
                <a:solidFill>
                  <a:srgbClr val="C9D6E2"/>
                </a:solidFill>
                <a:latin typeface="IBM Plex Mono"/>
              </a:rPr>
              <a:t>composer show --direct</a:t>
            </a:r>
          </a:p>
          <a:p>
            <a:pPr algn="l">
              <a:lnSpc>
                <a:spcPct val="106000"/>
              </a:lnSpc>
              <a:spcBef>
                <a:spcPts val="0"/>
              </a:spcBef>
            </a:pPr>
            <a:r>
              <a:rPr sz="950" b="0" i="0">
                <a:solidFill>
                  <a:srgbClr val="C9D6E2"/>
                </a:solidFill>
                <a:latin typeface="IBM Plex Mono"/>
              </a:rPr>
              <a:t> </a:t>
            </a:r>
          </a:p>
          <a:p>
            <a:pPr algn="l">
              <a:lnSpc>
                <a:spcPct val="106000"/>
              </a:lnSpc>
              <a:spcBef>
                <a:spcPts val="0"/>
              </a:spcBef>
            </a:pPr>
            <a:r>
              <a:rPr sz="950" b="0" i="0">
                <a:solidFill>
                  <a:srgbClr val="6F8093"/>
                </a:solidFill>
                <a:latin typeface="IBM Plex Mono"/>
              </a:rPr>
              <a:t># What is abandoned, outdated, or about to become someone else's problem?</a:t>
            </a:r>
          </a:p>
          <a:p>
            <a:pPr algn="l">
              <a:lnSpc>
                <a:spcPct val="106000"/>
              </a:lnSpc>
              <a:spcBef>
                <a:spcPts val="0"/>
              </a:spcBef>
            </a:pPr>
            <a:r>
              <a:rPr sz="950" b="0" i="0">
                <a:solidFill>
                  <a:srgbClr val="C9D6E2"/>
                </a:solidFill>
                <a:latin typeface="IBM Plex Mono"/>
              </a:rPr>
              <a:t>composer outdated --direct</a:t>
            </a:r>
          </a:p>
          <a:p>
            <a:pPr algn="l">
              <a:lnSpc>
                <a:spcPct val="106000"/>
              </a:lnSpc>
              <a:spcBef>
                <a:spcPts val="0"/>
              </a:spcBef>
            </a:pPr>
            <a:r>
              <a:rPr sz="950" b="0" i="0">
                <a:solidFill>
                  <a:srgbClr val="C9D6E2"/>
                </a:solidFill>
                <a:latin typeface="IBM Plex Mono"/>
              </a:rPr>
              <a:t>composer audit</a:t>
            </a:r>
          </a:p>
        </p:txBody>
      </p:sp>
      <p:sp>
        <p:nvSpPr>
          <p:cNvPr id="11" name="TextBox 10"/>
          <p:cNvSpPr txBox="1"/>
          <p:nvPr/>
        </p:nvSpPr>
        <p:spPr>
          <a:xfrm>
            <a:off x="566928" y="4297680"/>
            <a:ext cx="11057839" cy="914400"/>
          </a:xfrm>
          <a:prstGeom prst="rect">
            <a:avLst/>
          </a:prstGeom>
          <a:noFill/>
        </p:spPr>
        <p:txBody>
          <a:bodyPr wrap="square" lIns="0" rIns="0" tIns="0" bIns="0" anchor="t">
            <a:spAutoFit/>
          </a:bodyPr>
          <a:lstStyle/>
          <a:p>
            <a:pPr algn="l">
              <a:lnSpc>
                <a:spcPct val="112000"/>
              </a:lnSpc>
            </a:pPr>
            <a:r>
              <a:rPr sz="1250" b="0" i="0">
                <a:solidFill>
                  <a:srgbClr val="4EC3E0"/>
                </a:solidFill>
                <a:latin typeface="Barlow"/>
              </a:rPr>
              <a:t>◆  </a:t>
            </a:r>
            <a:r>
              <a:rPr sz="1250" b="0" i="0">
                <a:solidFill>
                  <a:srgbClr val="EAF0F6"/>
                </a:solidFill>
                <a:latin typeface="Barlow"/>
              </a:rPr>
              <a:t>Write the answers down. This is the aircraft you are flying, not the one you remember.</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Every extension is one of four things: maintained, adoptable, replaceable, or a reason not to depart.</a:t>
            </a:r>
          </a:p>
        </p:txBody>
      </p:sp>
      <p:sp>
        <p:nvSpPr>
          <p:cNvPr id="12" name="TextBox 11"/>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3" name="TextBox 12"/>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24 / 88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463549"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You do not take a known-broken aircraft on a long leg.</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Clear the deprecations of your CURRENT version first — while it still runs, still warns, and still forgives you.</a:t>
            </a:r>
          </a:p>
        </p:txBody>
      </p:sp>
      <p:sp>
        <p:nvSpPr>
          <p:cNvPr id="6" name="Rectangle 5"/>
          <p:cNvSpPr/>
          <p:nvPr/>
        </p:nvSpPr>
        <p:spPr>
          <a:xfrm>
            <a:off x="566928" y="4572000"/>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Every deprecation you leave behind is a removal you will meet mid-flight instead.</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25 / 88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602091"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Extension Scanner</a:t>
            </a:r>
          </a:p>
        </p:txBody>
      </p:sp>
      <p:sp>
        <p:nvSpPr>
          <p:cNvPr id="7" name="Rectangle 6"/>
          <p:cNvSpPr/>
          <p:nvPr/>
        </p:nvSpPr>
        <p:spPr>
          <a:xfrm>
            <a:off x="566928" y="1591056"/>
            <a:ext cx="6400800" cy="350443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01-upgrade-module.png"/>
          <p:cNvPicPr>
            <a:picLocks noChangeAspect="1"/>
          </p:cNvPicPr>
          <p:nvPr/>
        </p:nvPicPr>
        <p:blipFill>
          <a:blip r:embed="rId2"/>
          <a:stretch>
            <a:fillRect/>
          </a:stretch>
        </p:blipFill>
        <p:spPr>
          <a:xfrm>
            <a:off x="566928" y="1682496"/>
            <a:ext cx="6400800" cy="3120390"/>
          </a:xfrm>
          <a:prstGeom prst="rect">
            <a:avLst/>
          </a:prstGeom>
        </p:spPr>
      </p:pic>
      <p:sp>
        <p:nvSpPr>
          <p:cNvPr id="9" name="TextBox 8"/>
          <p:cNvSpPr txBox="1"/>
          <p:nvPr/>
        </p:nvSpPr>
        <p:spPr>
          <a:xfrm>
            <a:off x="676656" y="4857750"/>
            <a:ext cx="6181344" cy="201168"/>
          </a:xfrm>
          <a:prstGeom prst="rect">
            <a:avLst/>
          </a:prstGeom>
          <a:noFill/>
        </p:spPr>
        <p:txBody>
          <a:bodyPr wrap="square" lIns="0" rIns="0" tIns="0" bIns="0" anchor="t">
            <a:spAutoFit/>
          </a:bodyPr>
          <a:lstStyle/>
          <a:p>
            <a:pPr algn="l"/>
            <a:r>
              <a:rPr sz="800" b="0">
                <a:solidFill>
                  <a:srgbClr val="6F8093"/>
                </a:solidFill>
                <a:latin typeface="IBM Plex Mono"/>
              </a:rPr>
              <a:t>Admin Tools › Upgrade — TYPO3 12.4.45</a:t>
            </a:r>
          </a:p>
        </p:txBody>
      </p:sp>
      <p:sp>
        <p:nvSpPr>
          <p:cNvPr id="10" name="TextBox 9"/>
          <p:cNvSpPr txBox="1"/>
          <p:nvPr/>
        </p:nvSpPr>
        <p:spPr>
          <a:xfrm>
            <a:off x="7333488" y="1819656"/>
            <a:ext cx="4291279" cy="2194560"/>
          </a:xfrm>
          <a:prstGeom prst="rect">
            <a:avLst/>
          </a:prstGeom>
          <a:noFill/>
        </p:spPr>
        <p:txBody>
          <a:bodyPr wrap="square" lIns="0" rIns="0" tIns="0" bIns="0" anchor="t">
            <a:spAutoFit/>
          </a:bodyPr>
          <a:lstStyle/>
          <a:p>
            <a:pPr algn="l">
              <a:lnSpc>
                <a:spcPct val="112000"/>
              </a:lnSpc>
            </a:pPr>
            <a:r>
              <a:rPr sz="1300" b="0" i="0">
                <a:solidFill>
                  <a:srgbClr val="4EC3E0"/>
                </a:solidFill>
                <a:latin typeface="Barlow"/>
              </a:rPr>
              <a:t>◆  </a:t>
            </a:r>
            <a:r>
              <a:rPr sz="1300" b="0" i="0">
                <a:solidFill>
                  <a:srgbClr val="EAF0F6"/>
                </a:solidFill>
                <a:latin typeface="Barlow"/>
              </a:rPr>
              <a:t>Ships with the core. Nothing to install, nothing to configure.</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Scans your extensions for deprecated and removed API from the version you are running.</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Also here: upgrade wizards, the changelog viewer, and the compatibility check.</a:t>
            </a:r>
          </a:p>
        </p:txBody>
      </p:sp>
      <p:sp>
        <p:nvSpPr>
          <p:cNvPr id="11" name="TextBox 10"/>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2" name="TextBox 11"/>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26 / 88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740633"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What it tells you</a:t>
            </a:r>
          </a:p>
        </p:txBody>
      </p:sp>
      <p:sp>
        <p:nvSpPr>
          <p:cNvPr id="7" name="Rectangle 6"/>
          <p:cNvSpPr/>
          <p:nvPr/>
        </p:nvSpPr>
        <p:spPr>
          <a:xfrm>
            <a:off x="566928" y="1591056"/>
            <a:ext cx="6400800" cy="395020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02-extension-scanner-results.png"/>
          <p:cNvPicPr>
            <a:picLocks noChangeAspect="1"/>
          </p:cNvPicPr>
          <p:nvPr/>
        </p:nvPicPr>
        <p:blipFill>
          <a:blip r:embed="rId2"/>
          <a:stretch>
            <a:fillRect/>
          </a:stretch>
        </p:blipFill>
        <p:spPr>
          <a:xfrm>
            <a:off x="1538478" y="1682496"/>
            <a:ext cx="4457700" cy="3566160"/>
          </a:xfrm>
          <a:prstGeom prst="rect">
            <a:avLst/>
          </a:prstGeom>
        </p:spPr>
      </p:pic>
      <p:sp>
        <p:nvSpPr>
          <p:cNvPr id="9" name="TextBox 8"/>
          <p:cNvSpPr txBox="1"/>
          <p:nvPr/>
        </p:nvSpPr>
        <p:spPr>
          <a:xfrm>
            <a:off x="676656" y="5303520"/>
            <a:ext cx="6181344" cy="201168"/>
          </a:xfrm>
          <a:prstGeom prst="rect">
            <a:avLst/>
          </a:prstGeom>
          <a:noFill/>
        </p:spPr>
        <p:txBody>
          <a:bodyPr wrap="square" lIns="0" rIns="0" tIns="0" bIns="0" anchor="t">
            <a:spAutoFit/>
          </a:bodyPr>
          <a:lstStyle/>
          <a:p>
            <a:pPr algn="l"/>
            <a:r>
              <a:rPr sz="800" b="0">
                <a:solidFill>
                  <a:srgbClr val="6F8093"/>
                </a:solidFill>
                <a:latin typeface="IBM Plex Mono"/>
              </a:rPr>
              <a:t>Scan Extension Files — the demo extension flight_ops on TYPO3 12.4.45</a:t>
            </a:r>
          </a:p>
        </p:txBody>
      </p:sp>
      <p:sp>
        <p:nvSpPr>
          <p:cNvPr id="10" name="TextBox 9"/>
          <p:cNvSpPr txBox="1"/>
          <p:nvPr/>
        </p:nvSpPr>
        <p:spPr>
          <a:xfrm>
            <a:off x="7333488" y="1819656"/>
            <a:ext cx="4291279" cy="2194560"/>
          </a:xfrm>
          <a:prstGeom prst="rect">
            <a:avLst/>
          </a:prstGeom>
          <a:noFill/>
        </p:spPr>
        <p:txBody>
          <a:bodyPr wrap="square" lIns="0" rIns="0" tIns="0" bIns="0" anchor="t">
            <a:spAutoFit/>
          </a:bodyPr>
          <a:lstStyle/>
          <a:p>
            <a:pPr algn="l">
              <a:lnSpc>
                <a:spcPct val="112000"/>
              </a:lnSpc>
            </a:pPr>
            <a:r>
              <a:rPr sz="1300" b="0" i="0">
                <a:solidFill>
                  <a:srgbClr val="4EC3E0"/>
                </a:solidFill>
                <a:latin typeface="Barlow"/>
              </a:rPr>
              <a:t>◆  </a:t>
            </a:r>
            <a:r>
              <a:rPr sz="1300" b="0" i="0">
                <a:solidFill>
                  <a:srgbClr val="EAF0F6"/>
                </a:solidFill>
                <a:latin typeface="Barlow"/>
              </a:rPr>
              <a:t>13 findings in 6 files: 6 strong, 7 weak.</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Each finding names the file, the line, and the changelog entry behind it.</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This list is your work package — and your estimate.</a:t>
            </a:r>
          </a:p>
        </p:txBody>
      </p:sp>
      <p:sp>
        <p:nvSpPr>
          <p:cNvPr id="11" name="TextBox 10"/>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2" name="TextBox 11"/>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27 / 88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879175"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Strong and weak matches</a:t>
            </a:r>
          </a:p>
        </p:txBody>
      </p:sp>
      <p:sp>
        <p:nvSpPr>
          <p:cNvPr id="7" name="Rectangle 6"/>
          <p:cNvSpPr/>
          <p:nvPr/>
        </p:nvSpPr>
        <p:spPr>
          <a:xfrm>
            <a:off x="566928" y="1591056"/>
            <a:ext cx="5323179" cy="21488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68096" y="1792224"/>
            <a:ext cx="777240" cy="237744"/>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1828800"/>
            <a:ext cx="777240" cy="201168"/>
          </a:xfrm>
          <a:prstGeom prst="rect">
            <a:avLst/>
          </a:prstGeom>
          <a:noFill/>
        </p:spPr>
        <p:txBody>
          <a:bodyPr wrap="square" lIns="0" rIns="0" tIns="0" bIns="0" anchor="t">
            <a:spAutoFit/>
          </a:bodyPr>
          <a:lstStyle/>
          <a:p>
            <a:pPr algn="ctr"/>
            <a:r>
              <a:rPr sz="1100" b="1">
                <a:solidFill>
                  <a:srgbClr val="FFFFFF"/>
                </a:solidFill>
                <a:latin typeface="IBM Plex Mono"/>
              </a:rPr>
              <a:t>strong</a:t>
            </a:r>
          </a:p>
        </p:txBody>
      </p:sp>
      <p:sp>
        <p:nvSpPr>
          <p:cNvPr id="10" name="TextBox 9"/>
          <p:cNvSpPr txBox="1"/>
          <p:nvPr/>
        </p:nvSpPr>
        <p:spPr>
          <a:xfrm>
            <a:off x="1664208" y="1837944"/>
            <a:ext cx="1463040" cy="201168"/>
          </a:xfrm>
          <a:prstGeom prst="rect">
            <a:avLst/>
          </a:prstGeom>
          <a:noFill/>
        </p:spPr>
        <p:txBody>
          <a:bodyPr wrap="square" lIns="0" rIns="0" tIns="0" bIns="0" anchor="t">
            <a:spAutoFit/>
          </a:bodyPr>
          <a:lstStyle/>
          <a:p>
            <a:pPr algn="l"/>
            <a:r>
              <a:rPr sz="1000" b="0">
                <a:solidFill>
                  <a:srgbClr val="6F8093"/>
                </a:solidFill>
                <a:latin typeface="IBM Plex Mono"/>
              </a:rPr>
              <a:t>6 findings</a:t>
            </a:r>
          </a:p>
        </p:txBody>
      </p:sp>
      <p:sp>
        <p:nvSpPr>
          <p:cNvPr id="11" name="TextBox 10"/>
          <p:cNvSpPr txBox="1"/>
          <p:nvPr/>
        </p:nvSpPr>
        <p:spPr>
          <a:xfrm>
            <a:off x="768096" y="2212848"/>
            <a:ext cx="4911699" cy="822960"/>
          </a:xfrm>
          <a:prstGeom prst="rect">
            <a:avLst/>
          </a:prstGeom>
          <a:noFill/>
        </p:spPr>
        <p:txBody>
          <a:bodyPr wrap="square" lIns="0" rIns="0" tIns="0" bIns="0" anchor="t">
            <a:spAutoFit/>
          </a:bodyPr>
          <a:lstStyle/>
          <a:p>
            <a:pPr algn="l"/>
            <a:r>
              <a:rPr sz="1200" b="0">
                <a:solidFill>
                  <a:srgbClr val="A8B6C6"/>
                </a:solidFill>
                <a:latin typeface="Barlow"/>
              </a:rPr>
              <a:t>The scanner resolved the type and is certain. A definite usage of deprecated or removed API.</a:t>
            </a:r>
          </a:p>
        </p:txBody>
      </p:sp>
      <p:sp>
        <p:nvSpPr>
          <p:cNvPr id="12" name="Rectangle 11"/>
          <p:cNvSpPr/>
          <p:nvPr/>
        </p:nvSpPr>
        <p:spPr>
          <a:xfrm>
            <a:off x="768096" y="3218688"/>
            <a:ext cx="4920843"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8096" y="3328416"/>
            <a:ext cx="4911699" cy="320040"/>
          </a:xfrm>
          <a:prstGeom prst="rect">
            <a:avLst/>
          </a:prstGeom>
          <a:noFill/>
        </p:spPr>
        <p:txBody>
          <a:bodyPr wrap="square" lIns="0" rIns="0" tIns="0" bIns="0" anchor="t">
            <a:spAutoFit/>
          </a:bodyPr>
          <a:lstStyle/>
          <a:p>
            <a:pPr algn="l"/>
            <a:r>
              <a:rPr sz="1400" b="1">
                <a:solidFill>
                  <a:srgbClr val="EAF0F6"/>
                </a:solidFill>
                <a:latin typeface="Barlow Condensed"/>
              </a:rPr>
              <a:t>Fix it. This will break.</a:t>
            </a:r>
          </a:p>
        </p:txBody>
      </p:sp>
      <p:sp>
        <p:nvSpPr>
          <p:cNvPr id="14" name="Rectangle 13"/>
          <p:cNvSpPr/>
          <p:nvPr/>
        </p:nvSpPr>
        <p:spPr>
          <a:xfrm>
            <a:off x="6301587" y="1591056"/>
            <a:ext cx="5323179" cy="21488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02755" y="1792224"/>
            <a:ext cx="777240" cy="23774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02755" y="1828800"/>
            <a:ext cx="777240" cy="201168"/>
          </a:xfrm>
          <a:prstGeom prst="rect">
            <a:avLst/>
          </a:prstGeom>
          <a:noFill/>
        </p:spPr>
        <p:txBody>
          <a:bodyPr wrap="square" lIns="0" rIns="0" tIns="0" bIns="0" anchor="t">
            <a:spAutoFit/>
          </a:bodyPr>
          <a:lstStyle/>
          <a:p>
            <a:pPr algn="ctr"/>
            <a:r>
              <a:rPr sz="1100" b="1">
                <a:solidFill>
                  <a:srgbClr val="0B1016"/>
                </a:solidFill>
                <a:latin typeface="IBM Plex Mono"/>
              </a:rPr>
              <a:t>weak</a:t>
            </a:r>
          </a:p>
        </p:txBody>
      </p:sp>
      <p:sp>
        <p:nvSpPr>
          <p:cNvPr id="17" name="TextBox 16"/>
          <p:cNvSpPr txBox="1"/>
          <p:nvPr/>
        </p:nvSpPr>
        <p:spPr>
          <a:xfrm>
            <a:off x="7398867" y="1837944"/>
            <a:ext cx="1463040" cy="201168"/>
          </a:xfrm>
          <a:prstGeom prst="rect">
            <a:avLst/>
          </a:prstGeom>
          <a:noFill/>
        </p:spPr>
        <p:txBody>
          <a:bodyPr wrap="square" lIns="0" rIns="0" tIns="0" bIns="0" anchor="t">
            <a:spAutoFit/>
          </a:bodyPr>
          <a:lstStyle/>
          <a:p>
            <a:pPr algn="l"/>
            <a:r>
              <a:rPr sz="1000" b="0">
                <a:solidFill>
                  <a:srgbClr val="6F8093"/>
                </a:solidFill>
                <a:latin typeface="IBM Plex Mono"/>
              </a:rPr>
              <a:t>7 findings</a:t>
            </a:r>
          </a:p>
        </p:txBody>
      </p:sp>
      <p:sp>
        <p:nvSpPr>
          <p:cNvPr id="18" name="TextBox 17"/>
          <p:cNvSpPr txBox="1"/>
          <p:nvPr/>
        </p:nvSpPr>
        <p:spPr>
          <a:xfrm>
            <a:off x="6502755" y="2212848"/>
            <a:ext cx="4911699" cy="822960"/>
          </a:xfrm>
          <a:prstGeom prst="rect">
            <a:avLst/>
          </a:prstGeom>
          <a:noFill/>
        </p:spPr>
        <p:txBody>
          <a:bodyPr wrap="square" lIns="0" rIns="0" tIns="0" bIns="0" anchor="t">
            <a:spAutoFit/>
          </a:bodyPr>
          <a:lstStyle/>
          <a:p>
            <a:pPr algn="l"/>
            <a:r>
              <a:rPr sz="1200" b="0">
                <a:solidFill>
                  <a:srgbClr val="A8B6C6"/>
                </a:solidFill>
                <a:latin typeface="Barlow"/>
              </a:rPr>
              <a:t>The name matches, but the type could not be resolved — $obj-&gt;getTreeList() might be TYPO3's, or might be entirely yours.</a:t>
            </a:r>
          </a:p>
        </p:txBody>
      </p:sp>
      <p:sp>
        <p:nvSpPr>
          <p:cNvPr id="19" name="Rectangle 18"/>
          <p:cNvSpPr/>
          <p:nvPr/>
        </p:nvSpPr>
        <p:spPr>
          <a:xfrm>
            <a:off x="6502755" y="3218688"/>
            <a:ext cx="4920843" cy="762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02755" y="3328416"/>
            <a:ext cx="4911699" cy="320040"/>
          </a:xfrm>
          <a:prstGeom prst="rect">
            <a:avLst/>
          </a:prstGeom>
          <a:noFill/>
        </p:spPr>
        <p:txBody>
          <a:bodyPr wrap="square" lIns="0" rIns="0" tIns="0" bIns="0" anchor="t">
            <a:spAutoFit/>
          </a:bodyPr>
          <a:lstStyle/>
          <a:p>
            <a:pPr algn="l"/>
            <a:r>
              <a:rPr sz="1400" b="1">
                <a:solidFill>
                  <a:srgbClr val="EAF0F6"/>
                </a:solidFill>
                <a:latin typeface="Barlow Condensed"/>
              </a:rPr>
              <a:t>Verify by hand. Then decide, and record the decision.</a:t>
            </a:r>
          </a:p>
        </p:txBody>
      </p:sp>
      <p:sp>
        <p:nvSpPr>
          <p:cNvPr id="21" name="Rectangle 20"/>
          <p:cNvSpPr/>
          <p:nvPr/>
        </p:nvSpPr>
        <p:spPr>
          <a:xfrm>
            <a:off x="566928" y="3922776"/>
            <a:ext cx="11057839" cy="658368"/>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95528" y="4041648"/>
            <a:ext cx="10600639" cy="457200"/>
          </a:xfrm>
          <a:prstGeom prst="rect">
            <a:avLst/>
          </a:prstGeom>
          <a:noFill/>
        </p:spPr>
        <p:txBody>
          <a:bodyPr wrap="square" lIns="0" rIns="0" tIns="0" bIns="0" anchor="t">
            <a:spAutoFit/>
          </a:bodyPr>
          <a:lstStyle/>
          <a:p>
            <a:pPr algn="l"/>
            <a:r>
              <a:rPr sz="1150" b="0">
                <a:solidFill>
                  <a:srgbClr val="EAF0F6"/>
                </a:solidFill>
                <a:latin typeface="Barlow"/>
              </a:rPr>
              <a:t>“The detection approach — based on static code analysis — is limited by concept: false positives/negatives are impossible to avoid.”  — the Extension Scanner, about itself</a:t>
            </a:r>
          </a:p>
        </p:txBody>
      </p:sp>
      <p:sp>
        <p:nvSpPr>
          <p:cNvPr id="23" name="Rectangle 22"/>
          <p:cNvSpPr/>
          <p:nvPr/>
        </p:nvSpPr>
        <p:spPr>
          <a:xfrm>
            <a:off x="566928" y="4709160"/>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6656" y="4709160"/>
            <a:ext cx="10948111" cy="457200"/>
          </a:xfrm>
          <a:prstGeom prst="rect">
            <a:avLst/>
          </a:prstGeom>
          <a:noFill/>
        </p:spPr>
        <p:txBody>
          <a:bodyPr wrap="square" lIns="0" rIns="0" tIns="0" bIns="0" anchor="t">
            <a:spAutoFit/>
          </a:bodyPr>
          <a:lstStyle/>
          <a:p>
            <a:pPr algn="l"/>
            <a:r>
              <a:rPr sz="1250" b="0">
                <a:solidFill>
                  <a:srgbClr val="A8B6C6"/>
                </a:solidFill>
                <a:latin typeface="Barlow"/>
              </a:rPr>
              <a:t>A weak match is not noise. It is an item you have not decided about yet.</a:t>
            </a:r>
          </a:p>
        </p:txBody>
      </p:sp>
      <p:sp>
        <p:nvSpPr>
          <p:cNvPr id="25" name="TextBox 24"/>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6" name="TextBox 25"/>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28 / 88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017717"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From finding to changelog in one click</a:t>
            </a:r>
          </a:p>
        </p:txBody>
      </p:sp>
      <p:sp>
        <p:nvSpPr>
          <p:cNvPr id="7" name="Rectangle 6"/>
          <p:cNvSpPr/>
          <p:nvPr/>
        </p:nvSpPr>
        <p:spPr>
          <a:xfrm>
            <a:off x="566928" y="1499616"/>
            <a:ext cx="6400800" cy="395020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03-scanner-finding-detail.png"/>
          <p:cNvPicPr>
            <a:picLocks noChangeAspect="1"/>
          </p:cNvPicPr>
          <p:nvPr/>
        </p:nvPicPr>
        <p:blipFill>
          <a:blip r:embed="rId2"/>
          <a:stretch>
            <a:fillRect/>
          </a:stretch>
        </p:blipFill>
        <p:spPr>
          <a:xfrm>
            <a:off x="1538478" y="1591056"/>
            <a:ext cx="4457700" cy="3566160"/>
          </a:xfrm>
          <a:prstGeom prst="rect">
            <a:avLst/>
          </a:prstGeom>
        </p:spPr>
      </p:pic>
      <p:sp>
        <p:nvSpPr>
          <p:cNvPr id="9" name="TextBox 8"/>
          <p:cNvSpPr txBox="1"/>
          <p:nvPr/>
        </p:nvSpPr>
        <p:spPr>
          <a:xfrm>
            <a:off x="676656" y="5212080"/>
            <a:ext cx="6181344" cy="201168"/>
          </a:xfrm>
          <a:prstGeom prst="rect">
            <a:avLst/>
          </a:prstGeom>
          <a:noFill/>
        </p:spPr>
        <p:txBody>
          <a:bodyPr wrap="square" lIns="0" rIns="0" tIns="0" bIns="0" anchor="t">
            <a:spAutoFit/>
          </a:bodyPr>
          <a:lstStyle/>
          <a:p>
            <a:pPr algn="l"/>
            <a:r>
              <a:rPr sz="800" b="0">
                <a:solidFill>
                  <a:srgbClr val="6F8093"/>
                </a:solidFill>
                <a:latin typeface="IBM Plex Mono"/>
              </a:rPr>
              <a:t>A strong match, expanded — TYPO3 12.4.45</a:t>
            </a:r>
          </a:p>
        </p:txBody>
      </p:sp>
      <p:sp>
        <p:nvSpPr>
          <p:cNvPr id="10" name="TextBox 9"/>
          <p:cNvSpPr txBox="1"/>
          <p:nvPr/>
        </p:nvSpPr>
        <p:spPr>
          <a:xfrm>
            <a:off x="7333488" y="1728216"/>
            <a:ext cx="4291279" cy="2194560"/>
          </a:xfrm>
          <a:prstGeom prst="rect">
            <a:avLst/>
          </a:prstGeom>
          <a:noFill/>
        </p:spPr>
        <p:txBody>
          <a:bodyPr wrap="square" lIns="0" rIns="0" tIns="0" bIns="0" anchor="t">
            <a:spAutoFit/>
          </a:bodyPr>
          <a:lstStyle/>
          <a:p>
            <a:pPr algn="l">
              <a:lnSpc>
                <a:spcPct val="112000"/>
              </a:lnSpc>
            </a:pPr>
            <a:r>
              <a:rPr sz="1300" b="0" i="0">
                <a:solidFill>
                  <a:srgbClr val="4EC3E0"/>
                </a:solidFill>
                <a:latin typeface="Barlow"/>
              </a:rPr>
              <a:t>◆  </a:t>
            </a:r>
            <a:r>
              <a:rPr sz="1300" b="0" i="0">
                <a:solidFill>
                  <a:srgbClr val="EAF0F6"/>
                </a:solidFill>
                <a:latin typeface="Barlow"/>
              </a:rPr>
              <a:t>The exact line: 39: 'signal' =&gt; BackendUtility::getUpdateSignalCode(),</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The exact entry: Deprecation #96136, shipped in 12.0.</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And in that entry: the migration you are supposed to apply.</a:t>
            </a:r>
          </a:p>
        </p:txBody>
      </p:sp>
      <p:sp>
        <p:nvSpPr>
          <p:cNvPr id="11" name="Rectangle 10"/>
          <p:cNvSpPr/>
          <p:nvPr/>
        </p:nvSpPr>
        <p:spPr>
          <a:xfrm>
            <a:off x="7333488" y="3483864"/>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443216" y="3483864"/>
            <a:ext cx="4181551" cy="457200"/>
          </a:xfrm>
          <a:prstGeom prst="rect">
            <a:avLst/>
          </a:prstGeom>
          <a:noFill/>
        </p:spPr>
        <p:txBody>
          <a:bodyPr wrap="square" lIns="0" rIns="0" tIns="0" bIns="0" anchor="t">
            <a:spAutoFit/>
          </a:bodyPr>
          <a:lstStyle/>
          <a:p>
            <a:pPr algn="l"/>
            <a:r>
              <a:rPr sz="1250" b="0">
                <a:solidFill>
                  <a:srgbClr val="A8B6C6"/>
                </a:solidFill>
                <a:latin typeface="Barlow"/>
              </a:rPr>
              <a:t>Scanner → changelog → migration. That loop is the whole pre-flight method.</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29 / 88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156259"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Where the scanner stops</a:t>
            </a:r>
          </a:p>
        </p:txBody>
      </p:sp>
      <p:sp>
        <p:nvSpPr>
          <p:cNvPr id="7" name="Rectangle 6"/>
          <p:cNvSpPr/>
          <p:nvPr/>
        </p:nvSpPr>
        <p:spPr>
          <a:xfrm>
            <a:off x="566928" y="159105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159105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It only reads PHP</a:t>
            </a:r>
          </a:p>
        </p:txBody>
      </p:sp>
      <p:sp>
        <p:nvSpPr>
          <p:cNvPr id="9" name="TextBox 8"/>
          <p:cNvSpPr txBox="1"/>
          <p:nvPr/>
        </p:nvSpPr>
        <p:spPr>
          <a:xfrm>
            <a:off x="704088" y="1837944"/>
            <a:ext cx="5025999" cy="658368"/>
          </a:xfrm>
          <a:prstGeom prst="rect">
            <a:avLst/>
          </a:prstGeom>
          <a:noFill/>
        </p:spPr>
        <p:txBody>
          <a:bodyPr wrap="square" lIns="0" rIns="0" tIns="0" bIns="0" anchor="t">
            <a:spAutoFit/>
          </a:bodyPr>
          <a:lstStyle/>
          <a:p>
            <a:pPr algn="l"/>
            <a:r>
              <a:rPr sz="1150" b="0">
                <a:solidFill>
                  <a:srgbClr val="A8B6C6"/>
                </a:solidFill>
                <a:latin typeface="Barlow"/>
              </a:rPr>
              <a:t>TypoScript, Fluid, TCA, YAML, FlexForms and .htaccess are never looked at.</a:t>
            </a:r>
          </a:p>
        </p:txBody>
      </p:sp>
      <p:sp>
        <p:nvSpPr>
          <p:cNvPr id="10" name="Rectangle 9"/>
          <p:cNvSpPr/>
          <p:nvPr/>
        </p:nvSpPr>
        <p:spPr>
          <a:xfrm>
            <a:off x="6370167" y="159105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07327" y="159105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It does not have a rule for everything</a:t>
            </a:r>
          </a:p>
        </p:txBody>
      </p:sp>
      <p:sp>
        <p:nvSpPr>
          <p:cNvPr id="12" name="TextBox 11"/>
          <p:cNvSpPr txBox="1"/>
          <p:nvPr/>
        </p:nvSpPr>
        <p:spPr>
          <a:xfrm>
            <a:off x="6507327" y="1837944"/>
            <a:ext cx="5025999" cy="658368"/>
          </a:xfrm>
          <a:prstGeom prst="rect">
            <a:avLst/>
          </a:prstGeom>
          <a:noFill/>
        </p:spPr>
        <p:txBody>
          <a:bodyPr wrap="square" lIns="0" rIns="0" tIns="0" bIns="0" anchor="t">
            <a:spAutoFit/>
          </a:bodyPr>
          <a:lstStyle/>
          <a:p>
            <a:pPr algn="l"/>
            <a:r>
              <a:rPr sz="1150" b="0">
                <a:solidFill>
                  <a:srgbClr val="A8B6C6"/>
                </a:solidFill>
                <a:latin typeface="Barlow"/>
              </a:rPr>
              <a:t>QueryBuilder-&gt;execute() has been deprecated since 12.0 — and has no scanner rule at all.</a:t>
            </a:r>
          </a:p>
        </p:txBody>
      </p:sp>
      <p:sp>
        <p:nvSpPr>
          <p:cNvPr id="13" name="Rectangle 12"/>
          <p:cNvSpPr/>
          <p:nvPr/>
        </p:nvSpPr>
        <p:spPr>
          <a:xfrm>
            <a:off x="566928" y="264261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04088" y="264261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It cannot resolve dynamic code</a:t>
            </a:r>
          </a:p>
        </p:txBody>
      </p:sp>
      <p:sp>
        <p:nvSpPr>
          <p:cNvPr id="15" name="TextBox 14"/>
          <p:cNvSpPr txBox="1"/>
          <p:nvPr/>
        </p:nvSpPr>
        <p:spPr>
          <a:xfrm>
            <a:off x="704088" y="2889504"/>
            <a:ext cx="5025999" cy="658368"/>
          </a:xfrm>
          <a:prstGeom prst="rect">
            <a:avLst/>
          </a:prstGeom>
          <a:noFill/>
        </p:spPr>
        <p:txBody>
          <a:bodyPr wrap="square" lIns="0" rIns="0" tIns="0" bIns="0" anchor="t">
            <a:spAutoFit/>
          </a:bodyPr>
          <a:lstStyle/>
          <a:p>
            <a:pPr algn="l"/>
            <a:r>
              <a:rPr sz="1150" b="0">
                <a:solidFill>
                  <a:srgbClr val="A8B6C6"/>
                </a:solidFill>
                <a:latin typeface="Barlow"/>
              </a:rPr>
              <a:t>String class names, variable method calls, and $GLOBALS juggling stay invisible.</a:t>
            </a:r>
          </a:p>
        </p:txBody>
      </p:sp>
      <p:sp>
        <p:nvSpPr>
          <p:cNvPr id="16" name="Rectangle 15"/>
          <p:cNvSpPr/>
          <p:nvPr/>
        </p:nvSpPr>
        <p:spPr>
          <a:xfrm>
            <a:off x="6370167" y="264261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07327" y="264261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It scans code, not behaviour</a:t>
            </a:r>
          </a:p>
        </p:txBody>
      </p:sp>
      <p:sp>
        <p:nvSpPr>
          <p:cNvPr id="18" name="TextBox 17"/>
          <p:cNvSpPr txBox="1"/>
          <p:nvPr/>
        </p:nvSpPr>
        <p:spPr>
          <a:xfrm>
            <a:off x="6507327" y="2889504"/>
            <a:ext cx="5025999" cy="658368"/>
          </a:xfrm>
          <a:prstGeom prst="rect">
            <a:avLst/>
          </a:prstGeom>
          <a:noFill/>
        </p:spPr>
        <p:txBody>
          <a:bodyPr wrap="square" lIns="0" rIns="0" tIns="0" bIns="0" anchor="t">
            <a:spAutoFit/>
          </a:bodyPr>
          <a:lstStyle/>
          <a:p>
            <a:pPr algn="l"/>
            <a:r>
              <a:rPr sz="1150" b="0">
                <a:solidFill>
                  <a:srgbClr val="A8B6C6"/>
                </a:solidFill>
                <a:latin typeface="Barlow"/>
              </a:rPr>
              <a:t>Changed defaults and changed rendering do not appear in any static scan.</a:t>
            </a:r>
          </a:p>
        </p:txBody>
      </p:sp>
      <p:sp>
        <p:nvSpPr>
          <p:cNvPr id="19" name="Rectangle 18"/>
          <p:cNvSpPr/>
          <p:nvPr/>
        </p:nvSpPr>
        <p:spPr>
          <a:xfrm>
            <a:off x="566928" y="3803904"/>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6656" y="3803904"/>
            <a:ext cx="10948111" cy="457200"/>
          </a:xfrm>
          <a:prstGeom prst="rect">
            <a:avLst/>
          </a:prstGeom>
          <a:noFill/>
        </p:spPr>
        <p:txBody>
          <a:bodyPr wrap="square" lIns="0" rIns="0" tIns="0" bIns="0" anchor="t">
            <a:spAutoFit/>
          </a:bodyPr>
          <a:lstStyle/>
          <a:p>
            <a:pPr algn="l"/>
            <a:r>
              <a:rPr sz="1250" b="0">
                <a:solidFill>
                  <a:srgbClr val="A8B6C6"/>
                </a:solidFill>
                <a:latin typeface="Barlow"/>
              </a:rPr>
              <a:t>This is not a flaw. It is one layer of defence — which is exactly why you add more.</a:t>
            </a:r>
          </a:p>
        </p:txBody>
      </p:sp>
      <p:sp>
        <p:nvSpPr>
          <p:cNvPr id="21" name="TextBox 20"/>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2" name="TextBox 21"/>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30 / 88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294801"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The same scanner, on the command line</a:t>
            </a:r>
          </a:p>
        </p:txBody>
      </p:sp>
      <p:sp>
        <p:nvSpPr>
          <p:cNvPr id="7" name="TextBox 6"/>
          <p:cNvSpPr txBox="1"/>
          <p:nvPr/>
        </p:nvSpPr>
        <p:spPr>
          <a:xfrm>
            <a:off x="566928" y="1408176"/>
            <a:ext cx="11057839" cy="292608"/>
          </a:xfrm>
          <a:prstGeom prst="rect">
            <a:avLst/>
          </a:prstGeom>
          <a:noFill/>
        </p:spPr>
        <p:txBody>
          <a:bodyPr wrap="square" lIns="0" rIns="0" tIns="0" bIns="0" anchor="t">
            <a:spAutoFit/>
          </a:bodyPr>
          <a:lstStyle/>
          <a:p>
            <a:pPr algn="l"/>
            <a:r>
              <a:rPr sz="1350" b="0">
                <a:solidFill>
                  <a:srgbClr val="A8B6C6"/>
                </a:solidFill>
                <a:latin typeface="Barlow"/>
              </a:rPr>
              <a:t>netresearch/extension-scanner-cli — the Install Tool check, in CI</a:t>
            </a:r>
          </a:p>
        </p:txBody>
      </p:sp>
      <p:sp>
        <p:nvSpPr>
          <p:cNvPr id="8" name="Rectangle 7"/>
          <p:cNvSpPr/>
          <p:nvPr/>
        </p:nvSpPr>
        <p:spPr>
          <a:xfrm>
            <a:off x="566928" y="1883664"/>
            <a:ext cx="11057839" cy="3145536"/>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194767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./vendor/bin/typo3 extension:scan flight_ops --no-progress</a:t>
            </a:r>
          </a:p>
        </p:txBody>
      </p:sp>
      <p:sp>
        <p:nvSpPr>
          <p:cNvPr id="11" name="TextBox 10"/>
          <p:cNvSpPr txBox="1"/>
          <p:nvPr/>
        </p:nvSpPr>
        <p:spPr>
          <a:xfrm>
            <a:off x="713232" y="2304288"/>
            <a:ext cx="10765231" cy="2615184"/>
          </a:xfrm>
          <a:prstGeom prst="rect">
            <a:avLst/>
          </a:prstGeom>
          <a:noFill/>
        </p:spPr>
        <p:txBody>
          <a:bodyPr wrap="square" lIns="0" rIns="0" tIns="0" bIns="0" anchor="t">
            <a:spAutoFit/>
          </a:bodyPr>
          <a:lstStyle/>
          <a:p>
            <a:pPr algn="l">
              <a:lnSpc>
                <a:spcPct val="106000"/>
              </a:lnSpc>
            </a:pPr>
            <a:r>
              <a:rPr sz="860" b="0" i="0">
                <a:solidFill>
                  <a:srgbClr val="C9D6E2"/>
                </a:solidFill>
                <a:latin typeface="IBM Plex Mono"/>
              </a:rPr>
              <a:t>Results for: flight_ops</a:t>
            </a:r>
          </a:p>
          <a:p>
            <a:pPr algn="l">
              <a:lnSpc>
                <a:spcPct val="106000"/>
              </a:lnSpc>
              <a:spcBef>
                <a:spcPts val="0"/>
              </a:spcBef>
            </a:pPr>
            <a:r>
              <a:rPr sz="860" b="0" i="0">
                <a:solidFill>
                  <a:srgbClr val="C9D6E2"/>
                </a:solidFill>
                <a:latin typeface="IBM Plex Mono"/>
              </a:rPr>
              <a:t>=======================</a:t>
            </a:r>
          </a:p>
          <a:p>
            <a:pPr algn="l">
              <a:lnSpc>
                <a:spcPct val="106000"/>
              </a:lnSpc>
              <a:spcBef>
                <a:spcPts val="0"/>
              </a:spcBef>
            </a:pPr>
            <a:r>
              <a:rPr sz="860" b="0" i="0">
                <a:solidFill>
                  <a:srgbClr val="C9D6E2"/>
                </a:solidFill>
                <a:latin typeface="IBM Plex Mono"/>
              </a:rPr>
              <a:t> </a:t>
            </a:r>
          </a:p>
          <a:p>
            <a:pPr algn="l">
              <a:lnSpc>
                <a:spcPct val="106000"/>
              </a:lnSpc>
              <a:spcBef>
                <a:spcPts val="0"/>
              </a:spcBef>
            </a:pPr>
            <a:r>
              <a:rPr sz="860" b="0" i="0">
                <a:solidFill>
                  <a:srgbClr val="3FCF8E"/>
                </a:solidFill>
                <a:latin typeface="IBM Plex Mono"/>
              </a:rPr>
              <a:t>+-----------------------------------------+------+--------------------------------+------------------------------------------+-----------+</a:t>
            </a:r>
          </a:p>
          <a:p>
            <a:pPr algn="l">
              <a:lnSpc>
                <a:spcPct val="106000"/>
              </a:lnSpc>
              <a:spcBef>
                <a:spcPts val="0"/>
              </a:spcBef>
            </a:pPr>
            <a:r>
              <a:rPr sz="860" b="0" i="0">
                <a:solidFill>
                  <a:srgbClr val="C9D6E2"/>
                </a:solidFill>
                <a:latin typeface="IBM Plex Mono"/>
              </a:rPr>
              <a:t>| File                                    | Line | Type                           | Message                                  | Indicator |</a:t>
            </a:r>
          </a:p>
          <a:p>
            <a:pPr algn="l">
              <a:lnSpc>
                <a:spcPct val="106000"/>
              </a:lnSpc>
              <a:spcBef>
                <a:spcPts val="0"/>
              </a:spcBef>
            </a:pPr>
            <a:r>
              <a:rPr sz="860" b="0" i="0">
                <a:solidFill>
                  <a:srgbClr val="3FCF8E"/>
                </a:solidFill>
                <a:latin typeface="IBM Plex Mono"/>
              </a:rPr>
              <a:t>+-----------------------------------------+------+--------------------------------+------------------------------------------+-----------+</a:t>
            </a:r>
          </a:p>
          <a:p>
            <a:pPr algn="l">
              <a:lnSpc>
                <a:spcPct val="106000"/>
              </a:lnSpc>
              <a:spcBef>
                <a:spcPts val="0"/>
              </a:spcBef>
            </a:pPr>
            <a:r>
              <a:rPr sz="860" b="0" i="0">
                <a:solidFill>
                  <a:srgbClr val="C9D6E2"/>
                </a:solidFill>
                <a:latin typeface="IBM Plex Mono"/>
              </a:rPr>
              <a:t>| Classes/Service/BoardingService.php     | 41   | Property Protected             | Fetch of property "where_hid_del"        |  WEAK     |</a:t>
            </a:r>
          </a:p>
          <a:p>
            <a:pPr algn="l">
              <a:lnSpc>
                <a:spcPct val="106000"/>
              </a:lnSpc>
              <a:spcBef>
                <a:spcPts val="0"/>
              </a:spcBef>
            </a:pPr>
            <a:r>
              <a:rPr sz="860" b="0" i="0">
                <a:solidFill>
                  <a:srgbClr val="C9D6E2"/>
                </a:solidFill>
                <a:latin typeface="IBM Plex Mono"/>
              </a:rPr>
              <a:t>| Classes/Service/BoardingService.php     | 36   | Property Public                | Fetch of property "lastTypoLinkUrl"      |  WEAK     |</a:t>
            </a:r>
          </a:p>
          <a:p>
            <a:pPr algn="l">
              <a:lnSpc>
                <a:spcPct val="106000"/>
              </a:lnSpc>
              <a:spcBef>
                <a:spcPts val="0"/>
              </a:spcBef>
            </a:pPr>
            <a:r>
              <a:rPr sz="860" b="0" i="0">
                <a:solidFill>
                  <a:srgbClr val="C9D6E2"/>
                </a:solidFill>
                <a:latin typeface="IBM Plex Mono"/>
              </a:rPr>
              <a:t>| Classes/Controller/FlightController.php | 31   | Class Constant                 | Call to class constant "FlashMes..."     |  STRONG   |</a:t>
            </a:r>
          </a:p>
          <a:p>
            <a:pPr algn="l">
              <a:lnSpc>
                <a:spcPct val="106000"/>
              </a:lnSpc>
              <a:spcBef>
                <a:spcPts val="0"/>
              </a:spcBef>
            </a:pPr>
            <a:r>
              <a:rPr sz="860" b="0" i="0">
                <a:solidFill>
                  <a:srgbClr val="C9D6E2"/>
                </a:solidFill>
                <a:latin typeface="IBM Plex Mono"/>
              </a:rPr>
              <a:t>| Classes/Controller/FlightController.php | 40   | Constant                       | Call to global constant "TYPO3_mainDir"  |  STRONG   |</a:t>
            </a:r>
          </a:p>
          <a:p>
            <a:pPr algn="l">
              <a:lnSpc>
                <a:spcPct val="106000"/>
              </a:lnSpc>
              <a:spcBef>
                <a:spcPts val="0"/>
              </a:spcBef>
            </a:pPr>
            <a:r>
              <a:rPr sz="860" b="0" i="0">
                <a:solidFill>
                  <a:srgbClr val="C9D6E2"/>
                </a:solidFill>
                <a:latin typeface="IBM Plex Mono"/>
              </a:rPr>
              <a:t>| Classes/Controller/FlightController.php | 25   | Method Argument Dropped Static | Method "intExplode()" supports only 3... |  STRONG   |</a:t>
            </a:r>
          </a:p>
          <a:p>
            <a:pPr algn="l">
              <a:lnSpc>
                <a:spcPct val="106000"/>
              </a:lnSpc>
              <a:spcBef>
                <a:spcPts val="0"/>
              </a:spcBef>
            </a:pPr>
            <a:r>
              <a:rPr sz="860" b="0" i="0">
                <a:solidFill>
                  <a:srgbClr val="C9D6E2"/>
                </a:solidFill>
                <a:latin typeface="IBM Plex Mono"/>
              </a:rPr>
              <a:t>| Classes/Controller/FlightController.php | 39   | Method Call Static             | Use of static call "getUpdateSignal..."  |  STRONG   |</a:t>
            </a:r>
          </a:p>
          <a:p>
            <a:pPr algn="l">
              <a:lnSpc>
                <a:spcPct val="106000"/>
              </a:lnSpc>
              <a:spcBef>
                <a:spcPts val="0"/>
              </a:spcBef>
            </a:pPr>
            <a:r>
              <a:rPr sz="860" b="0" i="0">
                <a:solidFill>
                  <a:srgbClr val="C9D6E2"/>
                </a:solidFill>
                <a:latin typeface="IBM Plex Mono"/>
              </a:rPr>
              <a:t>| Classes/Hooks/BackendStyleHook.php      | 17   | Array Global                   | Access to array global "TBE_STYLES"      |  STRONG   |</a:t>
            </a:r>
          </a:p>
          <a:p>
            <a:pPr algn="l">
              <a:lnSpc>
                <a:spcPct val="106000"/>
              </a:lnSpc>
              <a:spcBef>
                <a:spcPts val="0"/>
              </a:spcBef>
            </a:pPr>
            <a:r>
              <a:rPr sz="860" b="0" i="0">
                <a:solidFill>
                  <a:srgbClr val="3FCF8E"/>
                </a:solidFill>
                <a:latin typeface="IBM Plex Mono"/>
              </a:rPr>
              <a:t>+-----------------------------------------+------+--------------------------------+------------------------------------------+-----------+</a:t>
            </a:r>
          </a:p>
          <a:p>
            <a:pPr algn="l">
              <a:lnSpc>
                <a:spcPct val="106000"/>
              </a:lnSpc>
              <a:spcBef>
                <a:spcPts val="0"/>
              </a:spcBef>
            </a:pPr>
            <a:r>
              <a:rPr sz="860" b="0" i="0">
                <a:solidFill>
                  <a:srgbClr val="C9D6E2"/>
                </a:solidFill>
                <a:latin typeface="IBM Plex Mono"/>
              </a:rPr>
              <a:t> </a:t>
            </a:r>
          </a:p>
          <a:p>
            <a:pPr algn="l">
              <a:lnSpc>
                <a:spcPct val="106000"/>
              </a:lnSpc>
              <a:spcBef>
                <a:spcPts val="0"/>
              </a:spcBef>
            </a:pPr>
            <a:r>
              <a:rPr sz="860" b="0" i="0">
                <a:solidFill>
                  <a:srgbClr val="E5484D"/>
                </a:solidFill>
                <a:latin typeface="IBM Plex Mono"/>
              </a:rPr>
              <a:t> [ERROR] Found 6 strong match(es) that WILL break on upgrade.</a:t>
            </a:r>
          </a:p>
          <a:p>
            <a:pPr algn="l">
              <a:lnSpc>
                <a:spcPct val="106000"/>
              </a:lnSpc>
              <a:spcBef>
                <a:spcPts val="0"/>
              </a:spcBef>
            </a:pPr>
            <a:r>
              <a:rPr sz="860" b="0" i="0">
                <a:solidFill>
                  <a:srgbClr val="FFB020"/>
                </a:solidFill>
                <a:latin typeface="IBM Plex Mono"/>
              </a:rPr>
              <a:t> [WARNING] Found 7 weak match(es) that MAY need attention.</a:t>
            </a:r>
          </a:p>
          <a:p>
            <a:pPr algn="l">
              <a:lnSpc>
                <a:spcPct val="106000"/>
              </a:lnSpc>
              <a:spcBef>
                <a:spcPts val="0"/>
              </a:spcBef>
            </a:pPr>
            <a:r>
              <a:rPr sz="860" b="0" i="0">
                <a:solidFill>
                  <a:srgbClr val="C9D6E2"/>
                </a:solidFill>
                <a:latin typeface="IBM Plex Mono"/>
              </a:rPr>
              <a:t> </a:t>
            </a:r>
          </a:p>
          <a:p>
            <a:pPr algn="l">
              <a:lnSpc>
                <a:spcPct val="106000"/>
              </a:lnSpc>
              <a:spcBef>
                <a:spcPts val="0"/>
              </a:spcBef>
            </a:pPr>
            <a:r>
              <a:rPr sz="860" b="0" i="0">
                <a:solidFill>
                  <a:srgbClr val="C9D6E2"/>
                </a:solidFill>
                <a:latin typeface="IBM Plex Mono"/>
              </a:rPr>
              <a:t> Total issues: 13 (6 strong, 7 weak)</a:t>
            </a:r>
          </a:p>
        </p:txBody>
      </p:sp>
      <p:sp>
        <p:nvSpPr>
          <p:cNvPr id="12" name="TextBox 11"/>
          <p:cNvSpPr txBox="1"/>
          <p:nvPr/>
        </p:nvSpPr>
        <p:spPr>
          <a:xfrm>
            <a:off x="566928" y="5175504"/>
            <a:ext cx="11057839" cy="914400"/>
          </a:xfrm>
          <a:prstGeom prst="rect">
            <a:avLst/>
          </a:prstGeom>
          <a:noFill/>
        </p:spPr>
        <p:txBody>
          <a:bodyPr wrap="square" lIns="0" rIns="0" tIns="0" bIns="0" anchor="t">
            <a:spAutoFit/>
          </a:bodyPr>
          <a:lstStyle/>
          <a:p>
            <a:pPr algn="l">
              <a:lnSpc>
                <a:spcPct val="112000"/>
              </a:lnSpc>
            </a:pPr>
            <a:r>
              <a:rPr sz="1250" b="0" i="0">
                <a:solidFill>
                  <a:srgbClr val="4EC3E0"/>
                </a:solidFill>
                <a:latin typeface="Barlow"/>
              </a:rPr>
              <a:t>◆  </a:t>
            </a:r>
            <a:r>
              <a:rPr sz="1250" b="0" i="0">
                <a:solidFill>
                  <a:srgbClr val="EAF0F6"/>
                </a:solidFill>
                <a:latin typeface="Barlow"/>
              </a:rPr>
              <a:t>Reuses the matcher classes from EXT:install — the results are identical to the backend module.</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--format=json | checkstyle, --all, --fail-on-weak, and a non-zero exit code for CI.</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Not on Packagist today: install from the GitHub repository or the TER.</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31 / 88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433343"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Make the aircraft stay clean</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A scan you run once is a snapshot. A scan in CI is a standard.</a:t>
            </a:r>
          </a:p>
        </p:txBody>
      </p:sp>
      <p:sp>
        <p:nvSpPr>
          <p:cNvPr id="8" name="Rectangle 7"/>
          <p:cNvSpPr/>
          <p:nvPr/>
        </p:nvSpPr>
        <p:spPr>
          <a:xfrm>
            <a:off x="566928" y="1975104"/>
            <a:ext cx="38100" cy="233172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03504" y="1975104"/>
            <a:ext cx="11021263" cy="2331720"/>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2084832"/>
            <a:ext cx="10728655" cy="2112264"/>
          </a:xfrm>
          <a:prstGeom prst="rect">
            <a:avLst/>
          </a:prstGeom>
          <a:noFill/>
        </p:spPr>
        <p:txBody>
          <a:bodyPr wrap="square" lIns="0" rIns="0" tIns="0" bIns="0" anchor="t">
            <a:spAutoFit/>
          </a:bodyPr>
          <a:lstStyle/>
          <a:p>
            <a:pPr algn="l">
              <a:lnSpc>
                <a:spcPct val="106000"/>
              </a:lnSpc>
            </a:pPr>
            <a:r>
              <a:rPr sz="950" b="0" i="0">
                <a:solidFill>
                  <a:srgbClr val="6F8093"/>
                </a:solidFill>
                <a:latin typeface="IBM Plex Mono"/>
              </a:rPr>
              <a:t># .gitlab-ci.yml</a:t>
            </a:r>
          </a:p>
          <a:p>
            <a:pPr algn="l">
              <a:lnSpc>
                <a:spcPct val="106000"/>
              </a:lnSpc>
              <a:spcBef>
                <a:spcPts val="0"/>
              </a:spcBef>
            </a:pPr>
            <a:r>
              <a:rPr sz="950" b="0" i="0">
                <a:solidFill>
                  <a:srgbClr val="C9D6E2"/>
                </a:solidFill>
                <a:latin typeface="IBM Plex Mono"/>
              </a:rPr>
              <a:t>extension-scanner:</a:t>
            </a:r>
          </a:p>
          <a:p>
            <a:pPr algn="l">
              <a:lnSpc>
                <a:spcPct val="106000"/>
              </a:lnSpc>
              <a:spcBef>
                <a:spcPts val="0"/>
              </a:spcBef>
            </a:pPr>
            <a:r>
              <a:rPr sz="950" b="0" i="0">
                <a:solidFill>
                  <a:srgbClr val="C9D6E2"/>
                </a:solidFill>
                <a:latin typeface="IBM Plex Mono"/>
              </a:rPr>
              <a:t>  stage: qa</a:t>
            </a:r>
          </a:p>
          <a:p>
            <a:pPr algn="l">
              <a:lnSpc>
                <a:spcPct val="106000"/>
              </a:lnSpc>
              <a:spcBef>
                <a:spcPts val="0"/>
              </a:spcBef>
            </a:pPr>
            <a:r>
              <a:rPr sz="950" b="0" i="0">
                <a:solidFill>
                  <a:srgbClr val="C9D6E2"/>
                </a:solidFill>
                <a:latin typeface="IBM Plex Mono"/>
              </a:rPr>
              <a:t>  script:</a:t>
            </a:r>
          </a:p>
          <a:p>
            <a:pPr algn="l">
              <a:lnSpc>
                <a:spcPct val="106000"/>
              </a:lnSpc>
              <a:spcBef>
                <a:spcPts val="0"/>
              </a:spcBef>
            </a:pPr>
            <a:r>
              <a:rPr sz="950" b="0" i="0">
                <a:solidFill>
                  <a:srgbClr val="E5484D"/>
                </a:solidFill>
                <a:latin typeface="IBM Plex Mono"/>
              </a:rPr>
              <a:t>    - composer install --no-progress</a:t>
            </a:r>
          </a:p>
          <a:p>
            <a:pPr algn="l">
              <a:lnSpc>
                <a:spcPct val="106000"/>
              </a:lnSpc>
              <a:spcBef>
                <a:spcPts val="0"/>
              </a:spcBef>
            </a:pPr>
            <a:r>
              <a:rPr sz="950" b="0" i="0">
                <a:solidFill>
                  <a:srgbClr val="E5484D"/>
                </a:solidFill>
                <a:latin typeface="IBM Plex Mono"/>
              </a:rPr>
              <a:t>    - ./vendor/bin/typo3 extension:scan --all --no-progress</a:t>
            </a:r>
          </a:p>
          <a:p>
            <a:pPr algn="l">
              <a:lnSpc>
                <a:spcPct val="106000"/>
              </a:lnSpc>
              <a:spcBef>
                <a:spcPts val="0"/>
              </a:spcBef>
            </a:pPr>
            <a:r>
              <a:rPr sz="950" b="0" i="0">
                <a:solidFill>
                  <a:srgbClr val="6F8093"/>
                </a:solidFill>
                <a:latin typeface="IBM Plex Mono"/>
              </a:rPr>
              <a:t>  # exits non-zero on strong matches -&gt; the pipeline fails</a:t>
            </a:r>
          </a:p>
          <a:p>
            <a:pPr algn="l">
              <a:lnSpc>
                <a:spcPct val="106000"/>
              </a:lnSpc>
              <a:spcBef>
                <a:spcPts val="0"/>
              </a:spcBef>
            </a:pPr>
            <a:r>
              <a:rPr sz="950" b="0" i="0">
                <a:solidFill>
                  <a:srgbClr val="C9D6E2"/>
                </a:solidFill>
                <a:latin typeface="IBM Plex Mono"/>
              </a:rPr>
              <a:t> </a:t>
            </a:r>
          </a:p>
          <a:p>
            <a:pPr algn="l">
              <a:lnSpc>
                <a:spcPct val="106000"/>
              </a:lnSpc>
              <a:spcBef>
                <a:spcPts val="0"/>
              </a:spcBef>
            </a:pPr>
            <a:r>
              <a:rPr sz="950" b="0" i="0">
                <a:solidFill>
                  <a:srgbClr val="6F8093"/>
                </a:solidFill>
                <a:latin typeface="IBM Plex Mono"/>
              </a:rPr>
              <a:t># Checkstyle output for the merge-request annotations</a:t>
            </a:r>
          </a:p>
          <a:p>
            <a:pPr algn="l">
              <a:lnSpc>
                <a:spcPct val="106000"/>
              </a:lnSpc>
              <a:spcBef>
                <a:spcPts val="0"/>
              </a:spcBef>
            </a:pPr>
            <a:r>
              <a:rPr sz="950" b="0" i="0">
                <a:solidFill>
                  <a:srgbClr val="E5484D"/>
                </a:solidFill>
                <a:latin typeface="IBM Plex Mono"/>
              </a:rPr>
              <a:t>    - ./vendor/bin/typo3 extension:scan --all --format=checkstyle &gt; scan.xml</a:t>
            </a:r>
          </a:p>
          <a:p>
            <a:pPr algn="l">
              <a:lnSpc>
                <a:spcPct val="106000"/>
              </a:lnSpc>
              <a:spcBef>
                <a:spcPts val="0"/>
              </a:spcBef>
            </a:pPr>
            <a:r>
              <a:rPr sz="950" b="0" i="0">
                <a:solidFill>
                  <a:srgbClr val="C9D6E2"/>
                </a:solidFill>
                <a:latin typeface="IBM Plex Mono"/>
              </a:rPr>
              <a:t>  artifacts:</a:t>
            </a:r>
          </a:p>
          <a:p>
            <a:pPr algn="l">
              <a:lnSpc>
                <a:spcPct val="106000"/>
              </a:lnSpc>
              <a:spcBef>
                <a:spcPts val="0"/>
              </a:spcBef>
            </a:pPr>
            <a:r>
              <a:rPr sz="950" b="0" i="0">
                <a:solidFill>
                  <a:srgbClr val="C9D6E2"/>
                </a:solidFill>
                <a:latin typeface="IBM Plex Mono"/>
              </a:rPr>
              <a:t>    reports:</a:t>
            </a:r>
          </a:p>
          <a:p>
            <a:pPr algn="l">
              <a:lnSpc>
                <a:spcPct val="106000"/>
              </a:lnSpc>
              <a:spcBef>
                <a:spcPts val="0"/>
              </a:spcBef>
            </a:pPr>
            <a:r>
              <a:rPr sz="950" b="0" i="0">
                <a:solidFill>
                  <a:srgbClr val="C9D6E2"/>
                </a:solidFill>
                <a:latin typeface="IBM Plex Mono"/>
              </a:rPr>
              <a:t>      codequality: scan.xml</a:t>
            </a:r>
          </a:p>
        </p:txBody>
      </p:sp>
      <p:sp>
        <p:nvSpPr>
          <p:cNvPr id="11" name="TextBox 10"/>
          <p:cNvSpPr txBox="1"/>
          <p:nvPr/>
        </p:nvSpPr>
        <p:spPr>
          <a:xfrm>
            <a:off x="566928" y="4453128"/>
            <a:ext cx="11057839" cy="914400"/>
          </a:xfrm>
          <a:prstGeom prst="rect">
            <a:avLst/>
          </a:prstGeom>
          <a:noFill/>
        </p:spPr>
        <p:txBody>
          <a:bodyPr wrap="square" lIns="0" rIns="0" tIns="0" bIns="0" anchor="t">
            <a:spAutoFit/>
          </a:bodyPr>
          <a:lstStyle/>
          <a:p>
            <a:pPr algn="l">
              <a:lnSpc>
                <a:spcPct val="112000"/>
              </a:lnSpc>
            </a:pPr>
            <a:r>
              <a:rPr sz="1250" b="0" i="0">
                <a:solidFill>
                  <a:srgbClr val="4EC3E0"/>
                </a:solidFill>
                <a:latin typeface="Barlow"/>
              </a:rPr>
              <a:t>◆  </a:t>
            </a:r>
            <a:r>
              <a:rPr sz="1250" b="0" i="0">
                <a:solidFill>
                  <a:srgbClr val="EAF0F6"/>
                </a:solidFill>
                <a:latin typeface="Barlow"/>
              </a:rPr>
              <a:t>New deprecated usage never gets merged in the first place.</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The next upgrade then starts from zero instead of from archaeology.</a:t>
            </a:r>
          </a:p>
        </p:txBody>
      </p:sp>
      <p:sp>
        <p:nvSpPr>
          <p:cNvPr id="12" name="TextBox 11"/>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3" name="TextBox 12"/>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32 / 88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571885"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TCA is migrated behind your back</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4EC3E0"/>
                </a:solidFill>
                <a:latin typeface="Barlow"/>
              </a:rPr>
              <a:t>◆  </a:t>
            </a:r>
            <a:r>
              <a:rPr sz="1600" b="0" i="0">
                <a:solidFill>
                  <a:srgbClr val="EAF0F6"/>
                </a:solidFill>
                <a:latin typeface="Barlow"/>
              </a:rPr>
              <a:t>On every single request, TYPO3 rewrites outdated TCA in memory before anything uses it.</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Your old configuration keeps working — so nothing ever tells you it is old.</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TcaFactory::migrateTca() raises a single E_USER_DEPRECATED carrying the full list of what it changed.</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In production that goes into the deprecation log, if you enabled it. Usually nobody looks.</a:t>
            </a:r>
          </a:p>
        </p:txBody>
      </p:sp>
      <p:sp>
        <p:nvSpPr>
          <p:cNvPr id="8" name="Rectangle 7"/>
          <p:cNvSpPr/>
          <p:nvPr/>
        </p:nvSpPr>
        <p:spPr>
          <a:xfrm>
            <a:off x="566928" y="3401568"/>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This is the autopilot quietly trimming out an imbalance. The aircraft flies straight — right up until the day the autopilot is removed.</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33 / 88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710427"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“…these migrations will be removed.”</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The core says it out loud, on every request, in the deprecation it raises. An auto-migration is not a fix. It is an Airworthiness Directive with an open deadline.</a:t>
            </a:r>
          </a:p>
        </p:txBody>
      </p:sp>
      <p:sp>
        <p:nvSpPr>
          <p:cNvPr id="6" name="Rectangle 5"/>
          <p:cNvSpPr/>
          <p:nvPr/>
        </p:nvSpPr>
        <p:spPr>
          <a:xfrm>
            <a:off x="566928" y="4572000"/>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Verbatim from TcaFactory: “Automatic TCA migration done during bootstrap. Please adapt TCA accordingly, these migrations will be removed. The backend module ‘Configuration → TCA’ shows the modified values.”</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34 / 88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848969"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tool nobody opens</a:t>
            </a:r>
          </a:p>
        </p:txBody>
      </p:sp>
      <p:sp>
        <p:nvSpPr>
          <p:cNvPr id="7" name="Rectangle 6"/>
          <p:cNvSpPr/>
          <p:nvPr/>
        </p:nvSpPr>
        <p:spPr>
          <a:xfrm>
            <a:off x="566928" y="1591056"/>
            <a:ext cx="6400800" cy="395020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10-tca-migrations.png"/>
          <p:cNvPicPr>
            <a:picLocks noChangeAspect="1"/>
          </p:cNvPicPr>
          <p:nvPr/>
        </p:nvPicPr>
        <p:blipFill>
          <a:blip r:embed="rId2"/>
          <a:stretch>
            <a:fillRect/>
          </a:stretch>
        </p:blipFill>
        <p:spPr>
          <a:xfrm>
            <a:off x="1538478" y="1682496"/>
            <a:ext cx="4457700" cy="3566160"/>
          </a:xfrm>
          <a:prstGeom prst="rect">
            <a:avLst/>
          </a:prstGeom>
        </p:spPr>
      </p:pic>
      <p:sp>
        <p:nvSpPr>
          <p:cNvPr id="9" name="TextBox 8"/>
          <p:cNvSpPr txBox="1"/>
          <p:nvPr/>
        </p:nvSpPr>
        <p:spPr>
          <a:xfrm>
            <a:off x="676656" y="5303520"/>
            <a:ext cx="6181344" cy="201168"/>
          </a:xfrm>
          <a:prstGeom prst="rect">
            <a:avLst/>
          </a:prstGeom>
          <a:noFill/>
        </p:spPr>
        <p:txBody>
          <a:bodyPr wrap="square" lIns="0" rIns="0" tIns="0" bIns="0" anchor="t">
            <a:spAutoFit/>
          </a:bodyPr>
          <a:lstStyle/>
          <a:p>
            <a:pPr algn="l"/>
            <a:r>
              <a:rPr sz="800" b="0">
                <a:solidFill>
                  <a:srgbClr val="6F8093"/>
                </a:solidFill>
                <a:latin typeface="IBM Plex Mono"/>
              </a:rPr>
              <a:t>Admin Tools › Upgrade › Check TCA Migrations — TYPO3 13.4.34</a:t>
            </a:r>
          </a:p>
        </p:txBody>
      </p:sp>
      <p:sp>
        <p:nvSpPr>
          <p:cNvPr id="10" name="TextBox 9"/>
          <p:cNvSpPr txBox="1"/>
          <p:nvPr/>
        </p:nvSpPr>
        <p:spPr>
          <a:xfrm>
            <a:off x="7333488" y="1819656"/>
            <a:ext cx="4291279" cy="2194560"/>
          </a:xfrm>
          <a:prstGeom prst="rect">
            <a:avLst/>
          </a:prstGeom>
          <a:noFill/>
        </p:spPr>
        <p:txBody>
          <a:bodyPr wrap="square" lIns="0" rIns="0" tIns="0" bIns="0" anchor="t">
            <a:spAutoFit/>
          </a:bodyPr>
          <a:lstStyle/>
          <a:p>
            <a:pPr algn="l">
              <a:lnSpc>
                <a:spcPct val="112000"/>
              </a:lnSpc>
            </a:pPr>
            <a:r>
              <a:rPr sz="1300" b="0" i="0">
                <a:solidFill>
                  <a:srgbClr val="4EC3E0"/>
                </a:solidFill>
                <a:latin typeface="Barlow"/>
              </a:rPr>
              <a:t>◆  </a:t>
            </a:r>
            <a:r>
              <a:rPr sz="1300" b="0" i="0">
                <a:solidFill>
                  <a:srgbClr val="EAF0F6"/>
                </a:solidFill>
                <a:latin typeface="Barlow"/>
              </a:rPr>
              <a:t>Nine findings from one small demo extension — required, email, cols, renderTypes, items, cruser_id.</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The Extension Scanner never reports these. Rector does not fix them. Fractor does not read TCA.</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Its sibling card, Check TCA in ext_tables.php, finds TCA built in the wrong place.</a:t>
            </a:r>
          </a:p>
        </p:txBody>
      </p:sp>
      <p:sp>
        <p:nvSpPr>
          <p:cNvPr id="11" name="Rectangle 10"/>
          <p:cNvSpPr/>
          <p:nvPr/>
        </p:nvSpPr>
        <p:spPr>
          <a:xfrm>
            <a:off x="7333488" y="3959352"/>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443216" y="3959352"/>
            <a:ext cx="4181551" cy="457200"/>
          </a:xfrm>
          <a:prstGeom prst="rect">
            <a:avLst/>
          </a:prstGeom>
          <a:noFill/>
        </p:spPr>
        <p:txBody>
          <a:bodyPr wrap="square" lIns="0" rIns="0" tIns="0" bIns="0" anchor="t">
            <a:spAutoFit/>
          </a:bodyPr>
          <a:lstStyle/>
          <a:p>
            <a:pPr algn="l"/>
            <a:r>
              <a:rPr sz="1250" b="0">
                <a:solidFill>
                  <a:srgbClr val="A8B6C6"/>
                </a:solidFill>
                <a:latin typeface="Barlow"/>
              </a:rPr>
              <a:t>There is no CLI command for this one. It is backend-only — which is exactly why it gets skipped.</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35 / 88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4987511"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Your functional tests already knew</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typo3/testing-framework ships failOnDeprecation="true"</a:t>
            </a:r>
          </a:p>
        </p:txBody>
      </p:sp>
      <p:sp>
        <p:nvSpPr>
          <p:cNvPr id="8" name="Rectangle 7"/>
          <p:cNvSpPr/>
          <p:nvPr/>
        </p:nvSpPr>
        <p:spPr>
          <a:xfrm>
            <a:off x="566928" y="1975104"/>
            <a:ext cx="11057839" cy="2194560"/>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vendor/bin/phpunit -c Build-FunctionalTests.xml</a:t>
            </a:r>
          </a:p>
        </p:txBody>
      </p:sp>
      <p:sp>
        <p:nvSpPr>
          <p:cNvPr id="11" name="TextBox 10"/>
          <p:cNvSpPr txBox="1"/>
          <p:nvPr/>
        </p:nvSpPr>
        <p:spPr>
          <a:xfrm>
            <a:off x="713232" y="2395728"/>
            <a:ext cx="10765231" cy="1664208"/>
          </a:xfrm>
          <a:prstGeom prst="rect">
            <a:avLst/>
          </a:prstGeom>
          <a:noFill/>
        </p:spPr>
        <p:txBody>
          <a:bodyPr wrap="square" lIns="0" rIns="0" tIns="0" bIns="0" anchor="t">
            <a:spAutoFit/>
          </a:bodyPr>
          <a:lstStyle/>
          <a:p>
            <a:pPr algn="l">
              <a:lnSpc>
                <a:spcPct val="106000"/>
              </a:lnSpc>
            </a:pPr>
            <a:r>
              <a:rPr sz="849" b="0" i="0">
                <a:solidFill>
                  <a:srgbClr val="C9D6E2"/>
                </a:solidFill>
                <a:latin typeface="IBM Plex Mono"/>
              </a:rPr>
              <a:t>PHPUnit 11.5.56 by Sebastian Bergmann and contributors.</a:t>
            </a:r>
          </a:p>
          <a:p>
            <a:pPr algn="l">
              <a:lnSpc>
                <a:spcPct val="106000"/>
              </a:lnSpc>
              <a:spcBef>
                <a:spcPts val="0"/>
              </a:spcBef>
            </a:pPr>
            <a:r>
              <a:rPr sz="849" b="0" i="0">
                <a:solidFill>
                  <a:srgbClr val="C9D6E2"/>
                </a:solidFill>
                <a:latin typeface="IBM Plex Mono"/>
              </a:rPr>
              <a:t> </a:t>
            </a:r>
          </a:p>
          <a:p>
            <a:pPr algn="l">
              <a:lnSpc>
                <a:spcPct val="106000"/>
              </a:lnSpc>
              <a:spcBef>
                <a:spcPts val="0"/>
              </a:spcBef>
            </a:pPr>
            <a:r>
              <a:rPr sz="849" b="0" i="0">
                <a:solidFill>
                  <a:srgbClr val="C9D6E2"/>
                </a:solidFill>
                <a:latin typeface="IBM Plex Mono"/>
              </a:rPr>
              <a:t>D                                                        1 / 1 (100%)</a:t>
            </a:r>
          </a:p>
          <a:p>
            <a:pPr algn="l">
              <a:lnSpc>
                <a:spcPct val="106000"/>
              </a:lnSpc>
              <a:spcBef>
                <a:spcPts val="0"/>
              </a:spcBef>
            </a:pPr>
            <a:r>
              <a:rPr sz="849" b="0" i="0">
                <a:solidFill>
                  <a:srgbClr val="C9D6E2"/>
                </a:solidFill>
                <a:latin typeface="IBM Plex Mono"/>
              </a:rPr>
              <a:t> </a:t>
            </a:r>
          </a:p>
          <a:p>
            <a:pPr algn="l">
              <a:lnSpc>
                <a:spcPct val="106000"/>
              </a:lnSpc>
              <a:spcBef>
                <a:spcPts val="0"/>
              </a:spcBef>
            </a:pPr>
            <a:r>
              <a:rPr sz="849" b="0" i="0">
                <a:solidFill>
                  <a:srgbClr val="C9D6E2"/>
                </a:solidFill>
                <a:latin typeface="IBM Plex Mono"/>
              </a:rPr>
              <a:t>1 test triggered 1 deprecation:</a:t>
            </a:r>
          </a:p>
          <a:p>
            <a:pPr algn="l">
              <a:lnSpc>
                <a:spcPct val="106000"/>
              </a:lnSpc>
              <a:spcBef>
                <a:spcPts val="0"/>
              </a:spcBef>
            </a:pPr>
            <a:r>
              <a:rPr sz="849" b="0" i="0">
                <a:solidFill>
                  <a:srgbClr val="C9D6E2"/>
                </a:solidFill>
                <a:latin typeface="IBM Plex Mono"/>
              </a:rPr>
              <a:t> </a:t>
            </a:r>
          </a:p>
          <a:p>
            <a:pPr algn="l">
              <a:lnSpc>
                <a:spcPct val="106000"/>
              </a:lnSpc>
              <a:spcBef>
                <a:spcPts val="0"/>
              </a:spcBef>
            </a:pPr>
            <a:r>
              <a:rPr sz="849" b="0" i="0">
                <a:solidFill>
                  <a:srgbClr val="C9D6E2"/>
                </a:solidFill>
                <a:latin typeface="IBM Plex Mono"/>
              </a:rPr>
              <a:t>1) .../cms-core/Classes/Configuration/Tca/TcaFactory.php:176</a:t>
            </a:r>
          </a:p>
          <a:p>
            <a:pPr algn="l">
              <a:lnSpc>
                <a:spcPct val="106000"/>
              </a:lnSpc>
              <a:spcBef>
                <a:spcPts val="0"/>
              </a:spcBef>
            </a:pPr>
            <a:r>
              <a:rPr sz="849" b="0" i="0">
                <a:solidFill>
                  <a:srgbClr val="C9D6E2"/>
                </a:solidFill>
                <a:latin typeface="IBM Plex Mono"/>
              </a:rPr>
              <a:t>Automatic TCA migration done during bootstrap. These migrations will</a:t>
            </a:r>
          </a:p>
          <a:p>
            <a:pPr algn="l">
              <a:lnSpc>
                <a:spcPct val="106000"/>
              </a:lnSpc>
              <a:spcBef>
                <a:spcPts val="0"/>
              </a:spcBef>
            </a:pPr>
            <a:r>
              <a:rPr sz="849" b="0" i="0">
                <a:solidFill>
                  <a:srgbClr val="C9D6E2"/>
                </a:solidFill>
                <a:latin typeface="IBM Plex Mono"/>
              </a:rPr>
              <a:t>be removed. Please adapt these areas:</a:t>
            </a:r>
          </a:p>
          <a:p>
            <a:pPr algn="l">
              <a:lnSpc>
                <a:spcPct val="106000"/>
              </a:lnSpc>
              <a:spcBef>
                <a:spcPts val="0"/>
              </a:spcBef>
            </a:pPr>
            <a:r>
              <a:rPr sz="849" b="0" i="0">
                <a:solidFill>
                  <a:srgbClr val="C9D6E2"/>
                </a:solidFill>
                <a:latin typeface="IBM Plex Mono"/>
              </a:rPr>
              <a:t>The TCA field 'flight_number' defines "required" in its "eval" list.</a:t>
            </a:r>
          </a:p>
          <a:p>
            <a:pPr algn="l">
              <a:lnSpc>
                <a:spcPct val="106000"/>
              </a:lnSpc>
              <a:spcBef>
                <a:spcPts val="0"/>
              </a:spcBef>
            </a:pPr>
            <a:r>
              <a:rPr sz="849" b="0" i="0">
                <a:solidFill>
                  <a:srgbClr val="C9D6E2"/>
                </a:solidFill>
                <a:latin typeface="IBM Plex Mono"/>
              </a:rPr>
              <a:t>  ... 9 more messages</a:t>
            </a:r>
          </a:p>
          <a:p>
            <a:pPr algn="l">
              <a:lnSpc>
                <a:spcPct val="106000"/>
              </a:lnSpc>
              <a:spcBef>
                <a:spcPts val="0"/>
              </a:spcBef>
            </a:pPr>
            <a:r>
              <a:rPr sz="849" b="0" i="0">
                <a:solidFill>
                  <a:srgbClr val="C9D6E2"/>
                </a:solidFill>
                <a:latin typeface="IBM Plex Mono"/>
              </a:rPr>
              <a:t>OK, but there were issues!  Tests: 1, Assertions: 1, Deprecations: 1.</a:t>
            </a:r>
          </a:p>
        </p:txBody>
      </p:sp>
      <p:sp>
        <p:nvSpPr>
          <p:cNvPr id="12" name="TextBox 11"/>
          <p:cNvSpPr txBox="1"/>
          <p:nvPr/>
        </p:nvSpPr>
        <p:spPr>
          <a:xfrm>
            <a:off x="566928" y="4315968"/>
            <a:ext cx="11057839" cy="914400"/>
          </a:xfrm>
          <a:prstGeom prst="rect">
            <a:avLst/>
          </a:prstGeom>
          <a:noFill/>
        </p:spPr>
        <p:txBody>
          <a:bodyPr wrap="square" lIns="0" rIns="0" tIns="0" bIns="0" anchor="t">
            <a:spAutoFit/>
          </a:bodyPr>
          <a:lstStyle/>
          <a:p>
            <a:pPr algn="l">
              <a:lnSpc>
                <a:spcPct val="112000"/>
              </a:lnSpc>
            </a:pPr>
            <a:r>
              <a:rPr sz="1250" b="0" i="0">
                <a:solidFill>
                  <a:srgbClr val="4EC3E0"/>
                </a:solidFill>
                <a:latin typeface="Barlow"/>
              </a:rPr>
              <a:t>◆  </a:t>
            </a:r>
            <a:r>
              <a:rPr sz="1250" b="0" i="0">
                <a:solidFill>
                  <a:srgbClr val="EAF0F6"/>
                </a:solidFill>
                <a:latin typeface="Barlow"/>
              </a:rPr>
              <a:t>The assertion passed. The suite still failed — exit code 1, because one deprecation was raised.</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This is why CI turns red after a core bump when you changed nothing at all.</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Do not silence it. That red build is the only thing that noticed.</a:t>
            </a:r>
          </a:p>
        </p:txBody>
      </p:sp>
      <p:sp>
        <p:nvSpPr>
          <p:cNvPr id="13" name="Rectangle 12"/>
          <p:cNvSpPr/>
          <p:nvPr/>
        </p:nvSpPr>
        <p:spPr>
          <a:xfrm>
            <a:off x="566928" y="5184648"/>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76656" y="5184648"/>
            <a:ext cx="10948111" cy="457200"/>
          </a:xfrm>
          <a:prstGeom prst="rect">
            <a:avLst/>
          </a:prstGeom>
          <a:noFill/>
        </p:spPr>
        <p:txBody>
          <a:bodyPr wrap="square" lIns="0" rIns="0" tIns="0" bIns="0" anchor="t">
            <a:spAutoFit/>
          </a:bodyPr>
          <a:lstStyle/>
          <a:p>
            <a:pPr algn="l"/>
            <a:r>
              <a:rPr sz="1250" b="0">
                <a:solidFill>
                  <a:srgbClr val="A8B6C6"/>
                </a:solidFill>
                <a:latin typeface="Barlow"/>
              </a:rPr>
              <a:t>FlexFormTools does the same for FlexForm data structures — same deprecation, same red build.</a:t>
            </a:r>
          </a:p>
        </p:txBody>
      </p:sp>
      <p:sp>
        <p:nvSpPr>
          <p:cNvPr id="15" name="TextBox 14"/>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6" name="TextBox 15"/>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36 / 88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126053"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Does it even load?</a:t>
            </a:r>
          </a:p>
        </p:txBody>
      </p:sp>
      <p:sp>
        <p:nvSpPr>
          <p:cNvPr id="7" name="Rectangle 6"/>
          <p:cNvSpPr/>
          <p:nvPr/>
        </p:nvSpPr>
        <p:spPr>
          <a:xfrm>
            <a:off x="566928" y="1591056"/>
            <a:ext cx="6400800" cy="395020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06-extension-compatibility.png"/>
          <p:cNvPicPr>
            <a:picLocks noChangeAspect="1"/>
          </p:cNvPicPr>
          <p:nvPr/>
        </p:nvPicPr>
        <p:blipFill>
          <a:blip r:embed="rId2"/>
          <a:stretch>
            <a:fillRect/>
          </a:stretch>
        </p:blipFill>
        <p:spPr>
          <a:xfrm>
            <a:off x="934999" y="1682496"/>
            <a:ext cx="5664658" cy="3566160"/>
          </a:xfrm>
          <a:prstGeom prst="rect">
            <a:avLst/>
          </a:prstGeom>
        </p:spPr>
      </p:pic>
      <p:sp>
        <p:nvSpPr>
          <p:cNvPr id="9" name="TextBox 8"/>
          <p:cNvSpPr txBox="1"/>
          <p:nvPr/>
        </p:nvSpPr>
        <p:spPr>
          <a:xfrm>
            <a:off x="676656" y="5303520"/>
            <a:ext cx="6181344" cy="201168"/>
          </a:xfrm>
          <a:prstGeom prst="rect">
            <a:avLst/>
          </a:prstGeom>
          <a:noFill/>
        </p:spPr>
        <p:txBody>
          <a:bodyPr wrap="square" lIns="0" rIns="0" tIns="0" bIns="0" anchor="t">
            <a:spAutoFit/>
          </a:bodyPr>
          <a:lstStyle/>
          <a:p>
            <a:pPr algn="l"/>
            <a:r>
              <a:rPr sz="800" b="0">
                <a:solidFill>
                  <a:srgbClr val="6F8093"/>
                </a:solidFill>
                <a:latin typeface="IBM Plex Mono"/>
              </a:rPr>
              <a:t>Admin Tools › Upgrade › Check for Broken Extensions</a:t>
            </a:r>
          </a:p>
        </p:txBody>
      </p:sp>
      <p:sp>
        <p:nvSpPr>
          <p:cNvPr id="10" name="TextBox 9"/>
          <p:cNvSpPr txBox="1"/>
          <p:nvPr/>
        </p:nvSpPr>
        <p:spPr>
          <a:xfrm>
            <a:off x="7333488" y="1819656"/>
            <a:ext cx="4291279" cy="2194560"/>
          </a:xfrm>
          <a:prstGeom prst="rect">
            <a:avLst/>
          </a:prstGeom>
          <a:noFill/>
        </p:spPr>
        <p:txBody>
          <a:bodyPr wrap="square" lIns="0" rIns="0" tIns="0" bIns="0" anchor="t">
            <a:spAutoFit/>
          </a:bodyPr>
          <a:lstStyle/>
          <a:p>
            <a:pPr algn="l">
              <a:lnSpc>
                <a:spcPct val="112000"/>
              </a:lnSpc>
            </a:pPr>
            <a:r>
              <a:rPr sz="1300" b="0" i="0">
                <a:solidFill>
                  <a:srgbClr val="4EC3E0"/>
                </a:solidFill>
                <a:latin typeface="Barlow"/>
              </a:rPr>
              <a:t>◆  </a:t>
            </a:r>
            <a:r>
              <a:rPr sz="1300" b="0" i="0">
                <a:solidFill>
                  <a:srgbClr val="EAF0F6"/>
                </a:solidFill>
                <a:latin typeface="Barlow"/>
              </a:rPr>
              <a:t>Includes every ext_localconf.php and ext_tables.php and reports what explodes.</a:t>
            </a:r>
          </a:p>
          <a:p>
            <a:pPr algn="l">
              <a:lnSpc>
                <a:spcPct val="112000"/>
              </a:lnSpc>
              <a:spcBef>
                <a:spcPts val="1100"/>
              </a:spcBef>
            </a:pPr>
            <a:r>
              <a:rPr sz="1300" b="0" i="0">
                <a:solidFill>
                  <a:srgbClr val="4EC3E0"/>
                </a:solidFill>
                <a:latin typeface="Barlow"/>
              </a:rPr>
              <a:t>◆  </a:t>
            </a:r>
            <a:r>
              <a:rPr sz="1300" b="0" i="0">
                <a:solidFill>
                  <a:srgbClr val="EAF0F6"/>
                </a:solidFill>
                <a:latin typeface="Barlow"/>
              </a:rPr>
              <a:t>The cheapest possible check — and the first one worth running after any bump.</a:t>
            </a:r>
          </a:p>
        </p:txBody>
      </p:sp>
      <p:sp>
        <p:nvSpPr>
          <p:cNvPr id="11" name="Rectangle 10"/>
          <p:cNvSpPr/>
          <p:nvPr/>
        </p:nvSpPr>
        <p:spPr>
          <a:xfrm>
            <a:off x="7333488" y="3044952"/>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443216" y="3044952"/>
            <a:ext cx="4181551" cy="457200"/>
          </a:xfrm>
          <a:prstGeom prst="rect">
            <a:avLst/>
          </a:prstGeom>
          <a:noFill/>
        </p:spPr>
        <p:txBody>
          <a:bodyPr wrap="square" lIns="0" rIns="0" tIns="0" bIns="0" anchor="t">
            <a:spAutoFit/>
          </a:bodyPr>
          <a:lstStyle/>
          <a:p>
            <a:pPr algn="l"/>
            <a:r>
              <a:rPr sz="1250" b="0">
                <a:solidFill>
                  <a:srgbClr val="A8B6C6"/>
                </a:solidFill>
                <a:latin typeface="Barlow"/>
              </a:rPr>
              <a:t>Green means loadable. It does not mean correct. Nothing here says your site works.</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37 / 88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264595"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Rector as reconnaissance</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--dry-run changes nothing and tells you the size of the job</a:t>
            </a:r>
          </a:p>
        </p:txBody>
      </p:sp>
      <p:sp>
        <p:nvSpPr>
          <p:cNvPr id="8" name="Rectangle 7"/>
          <p:cNvSpPr/>
          <p:nvPr/>
        </p:nvSpPr>
        <p:spPr>
          <a:xfrm>
            <a:off x="566928" y="1975104"/>
            <a:ext cx="11057839" cy="3054096"/>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./vendor/bin/rector process --dry-run</a:t>
            </a:r>
          </a:p>
        </p:txBody>
      </p:sp>
      <p:sp>
        <p:nvSpPr>
          <p:cNvPr id="11" name="TextBox 10"/>
          <p:cNvSpPr txBox="1"/>
          <p:nvPr/>
        </p:nvSpPr>
        <p:spPr>
          <a:xfrm>
            <a:off x="713232" y="2395728"/>
            <a:ext cx="10765231" cy="2523744"/>
          </a:xfrm>
          <a:prstGeom prst="rect">
            <a:avLst/>
          </a:prstGeom>
          <a:noFill/>
        </p:spPr>
        <p:txBody>
          <a:bodyPr wrap="square" lIns="0" rIns="0" tIns="0" bIns="0" anchor="t">
            <a:spAutoFit/>
          </a:bodyPr>
          <a:lstStyle/>
          <a:p>
            <a:pPr algn="l">
              <a:lnSpc>
                <a:spcPct val="106000"/>
              </a:lnSpc>
            </a:pPr>
            <a:r>
              <a:rPr sz="838" b="0" i="0">
                <a:solidFill>
                  <a:srgbClr val="C9D6E2"/>
                </a:solidFill>
                <a:latin typeface="IBM Plex Mono"/>
              </a:rPr>
              <a:t>4 files with changes</a:t>
            </a:r>
          </a:p>
          <a:p>
            <a:pPr algn="l">
              <a:lnSpc>
                <a:spcPct val="106000"/>
              </a:lnSpc>
              <a:spcBef>
                <a:spcPts val="0"/>
              </a:spcBef>
            </a:pPr>
            <a:r>
              <a:rPr sz="838" b="0" i="0">
                <a:solidFill>
                  <a:srgbClr val="C9D6E2"/>
                </a:solidFill>
                <a:latin typeface="IBM Plex Mono"/>
              </a:rPr>
              <a:t>====================</a:t>
            </a:r>
          </a:p>
          <a:p>
            <a:pPr algn="l">
              <a:lnSpc>
                <a:spcPct val="106000"/>
              </a:lnSpc>
              <a:spcBef>
                <a:spcPts val="0"/>
              </a:spcBef>
            </a:pPr>
            <a:r>
              <a:rPr sz="838" b="0" i="0">
                <a:solidFill>
                  <a:srgbClr val="C9D6E2"/>
                </a:solidFill>
                <a:latin typeface="IBM Plex Mono"/>
              </a:rPr>
              <a:t> </a:t>
            </a:r>
          </a:p>
          <a:p>
            <a:pPr algn="l">
              <a:lnSpc>
                <a:spcPct val="106000"/>
              </a:lnSpc>
              <a:spcBef>
                <a:spcPts val="0"/>
              </a:spcBef>
            </a:pPr>
            <a:r>
              <a:rPr sz="838" b="0" i="0">
                <a:solidFill>
                  <a:srgbClr val="C9D6E2"/>
                </a:solidFill>
                <a:latin typeface="IBM Plex Mono"/>
              </a:rPr>
              <a:t>1) packages/flight_ops/Classes/Controller/FlightController.php:27</a:t>
            </a:r>
          </a:p>
          <a:p>
            <a:pPr algn="l">
              <a:lnSpc>
                <a:spcPct val="106000"/>
              </a:lnSpc>
              <a:spcBef>
                <a:spcPts val="0"/>
              </a:spcBef>
            </a:pPr>
            <a:r>
              <a:rPr sz="838" b="0" i="0">
                <a:solidFill>
                  <a:srgbClr val="E5484D"/>
                </a:solidFill>
                <a:latin typeface="IBM Plex Mono"/>
              </a:rPr>
              <a:t>-            FlashMessage::WARNING,</a:t>
            </a:r>
          </a:p>
          <a:p>
            <a:pPr algn="l">
              <a:lnSpc>
                <a:spcPct val="106000"/>
              </a:lnSpc>
              <a:spcBef>
                <a:spcPts val="0"/>
              </a:spcBef>
            </a:pPr>
            <a:r>
              <a:rPr sz="838" b="0" i="0">
                <a:solidFill>
                  <a:srgbClr val="3FCF8E"/>
                </a:solidFill>
                <a:latin typeface="IBM Plex Mono"/>
              </a:rPr>
              <a:t>+            \TYPO3\CMS\Core\Type\ContextualFeedbackSeverity::WARNING,</a:t>
            </a:r>
          </a:p>
          <a:p>
            <a:pPr algn="l">
              <a:lnSpc>
                <a:spcPct val="106000"/>
              </a:lnSpc>
              <a:spcBef>
                <a:spcPts val="0"/>
              </a:spcBef>
            </a:pPr>
            <a:r>
              <a:rPr sz="838" b="0" i="0">
                <a:solidFill>
                  <a:srgbClr val="C9D6E2"/>
                </a:solidFill>
                <a:latin typeface="IBM Plex Mono"/>
              </a:rPr>
              <a:t>Applied rules:</a:t>
            </a:r>
          </a:p>
          <a:p>
            <a:pPr algn="l">
              <a:lnSpc>
                <a:spcPct val="106000"/>
              </a:lnSpc>
              <a:spcBef>
                <a:spcPts val="0"/>
              </a:spcBef>
            </a:pPr>
            <a:r>
              <a:rPr sz="838" b="0" i="0">
                <a:solidFill>
                  <a:srgbClr val="C9D6E2"/>
                </a:solidFill>
                <a:latin typeface="IBM Plex Mono"/>
              </a:rPr>
              <a:t> * RenameClassConstFetchRector</a:t>
            </a:r>
          </a:p>
          <a:p>
            <a:pPr algn="l">
              <a:lnSpc>
                <a:spcPct val="106000"/>
              </a:lnSpc>
              <a:spcBef>
                <a:spcPts val="0"/>
              </a:spcBef>
            </a:pPr>
            <a:r>
              <a:rPr sz="838" b="0" i="0">
                <a:solidFill>
                  <a:srgbClr val="C9D6E2"/>
                </a:solidFill>
                <a:latin typeface="IBM Plex Mono"/>
              </a:rPr>
              <a:t> </a:t>
            </a:r>
          </a:p>
          <a:p>
            <a:pPr algn="l">
              <a:lnSpc>
                <a:spcPct val="106000"/>
              </a:lnSpc>
              <a:spcBef>
                <a:spcPts val="0"/>
              </a:spcBef>
            </a:pPr>
            <a:r>
              <a:rPr sz="838" b="0" i="0">
                <a:solidFill>
                  <a:srgbClr val="C9D6E2"/>
                </a:solidFill>
                <a:latin typeface="IBM Plex Mono"/>
              </a:rPr>
              <a:t>3) packages/flight_ops/Classes/Service/BoardingService.php:20</a:t>
            </a:r>
          </a:p>
          <a:p>
            <a:pPr algn="l">
              <a:lnSpc>
                <a:spcPct val="106000"/>
              </a:lnSpc>
              <a:spcBef>
                <a:spcPts val="0"/>
              </a:spcBef>
            </a:pPr>
            <a:r>
              <a:rPr sz="838" b="0" i="0">
                <a:solidFill>
                  <a:srgbClr val="E5484D"/>
                </a:solidFill>
                <a:latin typeface="IBM Plex Mono"/>
              </a:rPr>
              <a:t>-            -&gt;select('*')</a:t>
            </a:r>
          </a:p>
          <a:p>
            <a:pPr algn="l">
              <a:lnSpc>
                <a:spcPct val="106000"/>
              </a:lnSpc>
              <a:spcBef>
                <a:spcPts val="0"/>
              </a:spcBef>
            </a:pPr>
            <a:r>
              <a:rPr sz="838" b="0" i="0">
                <a:solidFill>
                  <a:srgbClr val="E5484D"/>
                </a:solidFill>
                <a:latin typeface="IBM Plex Mono"/>
              </a:rPr>
              <a:t>-            -&gt;from('tx_flightops_domain_model_departure')</a:t>
            </a:r>
          </a:p>
          <a:p>
            <a:pPr algn="l">
              <a:lnSpc>
                <a:spcPct val="106000"/>
              </a:lnSpc>
              <a:spcBef>
                <a:spcPts val="0"/>
              </a:spcBef>
            </a:pPr>
            <a:r>
              <a:rPr sz="838" b="0" i="0">
                <a:solidFill>
                  <a:srgbClr val="E5484D"/>
                </a:solidFill>
                <a:latin typeface="IBM Plex Mono"/>
              </a:rPr>
              <a:t>-            -&gt;execute()</a:t>
            </a:r>
          </a:p>
          <a:p>
            <a:pPr algn="l">
              <a:lnSpc>
                <a:spcPct val="106000"/>
              </a:lnSpc>
              <a:spcBef>
                <a:spcPts val="0"/>
              </a:spcBef>
            </a:pPr>
            <a:r>
              <a:rPr sz="838" b="0" i="0">
                <a:solidFill>
                  <a:srgbClr val="3FCF8E"/>
                </a:solidFill>
                <a:latin typeface="IBM Plex Mono"/>
              </a:rPr>
              <a:t>+            -&gt;select('*')-&gt;from('tx_flightops_domain_model_departure')-&gt;executeQuery()</a:t>
            </a:r>
          </a:p>
          <a:p>
            <a:pPr algn="l">
              <a:lnSpc>
                <a:spcPct val="106000"/>
              </a:lnSpc>
              <a:spcBef>
                <a:spcPts val="0"/>
              </a:spcBef>
            </a:pPr>
            <a:r>
              <a:rPr sz="838" b="0" i="0">
                <a:solidFill>
                  <a:srgbClr val="C9D6E2"/>
                </a:solidFill>
                <a:latin typeface="IBM Plex Mono"/>
              </a:rPr>
              <a:t>Applied rules:</a:t>
            </a:r>
          </a:p>
          <a:p>
            <a:pPr algn="l">
              <a:lnSpc>
                <a:spcPct val="106000"/>
              </a:lnSpc>
              <a:spcBef>
                <a:spcPts val="0"/>
              </a:spcBef>
            </a:pPr>
            <a:r>
              <a:rPr sz="838" b="0" i="0">
                <a:solidFill>
                  <a:srgbClr val="C9D6E2"/>
                </a:solidFill>
                <a:latin typeface="IBM Plex Mono"/>
              </a:rPr>
              <a:t> * MigrateContentObjectRendererLastTypoLinkPropertiesRector</a:t>
            </a:r>
          </a:p>
          <a:p>
            <a:pPr algn="l">
              <a:lnSpc>
                <a:spcPct val="106000"/>
              </a:lnSpc>
              <a:spcBef>
                <a:spcPts val="0"/>
              </a:spcBef>
            </a:pPr>
            <a:r>
              <a:rPr sz="838" b="0" i="0">
                <a:solidFill>
                  <a:srgbClr val="C9D6E2"/>
                </a:solidFill>
                <a:latin typeface="IBM Plex Mono"/>
              </a:rPr>
              <a:t> * MigrateQueryBuilderExecuteRector</a:t>
            </a:r>
          </a:p>
          <a:p>
            <a:pPr algn="l">
              <a:lnSpc>
                <a:spcPct val="106000"/>
              </a:lnSpc>
              <a:spcBef>
                <a:spcPts val="0"/>
              </a:spcBef>
            </a:pPr>
            <a:r>
              <a:rPr sz="838" b="0" i="0">
                <a:solidFill>
                  <a:srgbClr val="C9D6E2"/>
                </a:solidFill>
                <a:latin typeface="IBM Plex Mono"/>
              </a:rPr>
              <a:t> </a:t>
            </a:r>
          </a:p>
          <a:p>
            <a:pPr algn="l">
              <a:lnSpc>
                <a:spcPct val="106000"/>
              </a:lnSpc>
              <a:spcBef>
                <a:spcPts val="0"/>
              </a:spcBef>
            </a:pPr>
            <a:r>
              <a:rPr sz="838" b="0" i="0">
                <a:solidFill>
                  <a:srgbClr val="3FCF8E"/>
                </a:solidFill>
                <a:latin typeface="IBM Plex Mono"/>
              </a:rPr>
              <a:t> [OK] 4 files would have been changed (dry-run) by Rector</a:t>
            </a:r>
          </a:p>
        </p:txBody>
      </p:sp>
      <p:sp>
        <p:nvSpPr>
          <p:cNvPr id="12" name="TextBox 11"/>
          <p:cNvSpPr txBox="1"/>
          <p:nvPr/>
        </p:nvSpPr>
        <p:spPr>
          <a:xfrm>
            <a:off x="566928" y="5175504"/>
            <a:ext cx="11057839" cy="914400"/>
          </a:xfrm>
          <a:prstGeom prst="rect">
            <a:avLst/>
          </a:prstGeom>
          <a:noFill/>
        </p:spPr>
        <p:txBody>
          <a:bodyPr wrap="square" lIns="0" rIns="0" tIns="0" bIns="0" anchor="t">
            <a:spAutoFit/>
          </a:bodyPr>
          <a:lstStyle/>
          <a:p>
            <a:pPr algn="l">
              <a:lnSpc>
                <a:spcPct val="112000"/>
              </a:lnSpc>
            </a:pPr>
            <a:r>
              <a:rPr sz="1250" b="0" i="0">
                <a:solidFill>
                  <a:srgbClr val="4EC3E0"/>
                </a:solidFill>
                <a:latin typeface="Barlow"/>
              </a:rPr>
              <a:t>◆  </a:t>
            </a:r>
            <a:r>
              <a:rPr sz="1250" b="0" i="0">
                <a:solidFill>
                  <a:srgbClr val="EAF0F6"/>
                </a:solidFill>
                <a:latin typeface="Barlow"/>
              </a:rPr>
              <a:t>ssch/typo3-rector, configured with Typo3LevelSetList::UP_TO_TYPO3_13.</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It found -&gt;execute() — the deprecation the Extension Scanner has no rule for.</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In phase 1 you only look. You do not let it write yet.</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38 / 88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403137"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Fractor covers the other half</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Everything that is not PHP — and nothing else looks at it</a:t>
            </a:r>
          </a:p>
        </p:txBody>
      </p:sp>
      <p:sp>
        <p:nvSpPr>
          <p:cNvPr id="8" name="Rectangle 7"/>
          <p:cNvSpPr/>
          <p:nvPr/>
        </p:nvSpPr>
        <p:spPr>
          <a:xfrm>
            <a:off x="566928" y="1975104"/>
            <a:ext cx="11057839" cy="3419856"/>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./vendor/bin/fractor process --dry-run</a:t>
            </a:r>
          </a:p>
        </p:txBody>
      </p:sp>
      <p:sp>
        <p:nvSpPr>
          <p:cNvPr id="11" name="TextBox 10"/>
          <p:cNvSpPr txBox="1"/>
          <p:nvPr/>
        </p:nvSpPr>
        <p:spPr>
          <a:xfrm>
            <a:off x="713232" y="2395728"/>
            <a:ext cx="10765231" cy="2889504"/>
          </a:xfrm>
          <a:prstGeom prst="rect">
            <a:avLst/>
          </a:prstGeom>
          <a:noFill/>
        </p:spPr>
        <p:txBody>
          <a:bodyPr wrap="square" lIns="0" rIns="0" tIns="0" bIns="0" anchor="t">
            <a:spAutoFit/>
          </a:bodyPr>
          <a:lstStyle/>
          <a:p>
            <a:pPr algn="l">
              <a:lnSpc>
                <a:spcPct val="106000"/>
              </a:lnSpc>
            </a:pPr>
            <a:r>
              <a:rPr sz="835" b="0" i="0">
                <a:solidFill>
                  <a:srgbClr val="C9D6E2"/>
                </a:solidFill>
                <a:latin typeface="IBM Plex Mono"/>
              </a:rPr>
              <a:t>1 file with changes</a:t>
            </a:r>
          </a:p>
          <a:p>
            <a:pPr algn="l">
              <a:lnSpc>
                <a:spcPct val="106000"/>
              </a:lnSpc>
              <a:spcBef>
                <a:spcPts val="0"/>
              </a:spcBef>
            </a:pPr>
            <a:r>
              <a:rPr sz="835" b="0" i="0">
                <a:solidFill>
                  <a:srgbClr val="C9D6E2"/>
                </a:solidFill>
                <a:latin typeface="IBM Plex Mono"/>
              </a:rPr>
              <a:t>===================</a:t>
            </a:r>
          </a:p>
          <a:p>
            <a:pPr algn="l">
              <a:lnSpc>
                <a:spcPct val="106000"/>
              </a:lnSpc>
              <a:spcBef>
                <a:spcPts val="0"/>
              </a:spcBef>
            </a:pPr>
            <a:r>
              <a:rPr sz="835" b="0" i="0">
                <a:solidFill>
                  <a:srgbClr val="C9D6E2"/>
                </a:solidFill>
                <a:latin typeface="IBM Plex Mono"/>
              </a:rPr>
              <a:t> </a:t>
            </a:r>
          </a:p>
          <a:p>
            <a:pPr algn="l">
              <a:lnSpc>
                <a:spcPct val="106000"/>
              </a:lnSpc>
              <a:spcBef>
                <a:spcPts val="0"/>
              </a:spcBef>
            </a:pPr>
            <a:r>
              <a:rPr sz="835" b="0" i="0">
                <a:solidFill>
                  <a:srgbClr val="C9D6E2"/>
                </a:solidFill>
                <a:latin typeface="IBM Plex Mono"/>
              </a:rPr>
              <a:t>1) packages/flight_ops/Configuration/TypoScript/setup.typoscript:1</a:t>
            </a:r>
          </a:p>
          <a:p>
            <a:pPr algn="l">
              <a:lnSpc>
                <a:spcPct val="106000"/>
              </a:lnSpc>
              <a:spcBef>
                <a:spcPts val="0"/>
              </a:spcBef>
            </a:pPr>
            <a:r>
              <a:rPr sz="835" b="0" i="0">
                <a:solidFill>
                  <a:srgbClr val="6F8093"/>
                </a:solidFill>
                <a:latin typeface="IBM Plex Mono"/>
              </a:rPr>
              <a:t>@@ Line 1 @@</a:t>
            </a:r>
          </a:p>
          <a:p>
            <a:pPr algn="l">
              <a:lnSpc>
                <a:spcPct val="106000"/>
              </a:lnSpc>
              <a:spcBef>
                <a:spcPts val="0"/>
              </a:spcBef>
            </a:pPr>
            <a:r>
              <a:rPr sz="835" b="0" i="0">
                <a:solidFill>
                  <a:srgbClr val="E5484D"/>
                </a:solidFill>
                <a:latin typeface="IBM Plex Mono"/>
              </a:rPr>
              <a:t>-&lt;INCLUDE_TYPOSCRIPT: source="FILE:EXT:flight_ops/.../Board.typoscript"&gt;</a:t>
            </a:r>
          </a:p>
          <a:p>
            <a:pPr algn="l">
              <a:lnSpc>
                <a:spcPct val="106000"/>
              </a:lnSpc>
              <a:spcBef>
                <a:spcPts val="0"/>
              </a:spcBef>
            </a:pPr>
            <a:r>
              <a:rPr sz="835" b="0" i="0">
                <a:solidFill>
                  <a:srgbClr val="E5484D"/>
                </a:solidFill>
                <a:latin typeface="IBM Plex Mono"/>
              </a:rPr>
              <a:t>-&lt;INCLUDE_TYPOSCRIPT: source="DIR:EXT:flight_ops/.../Partials" extensions="typoscript"&gt;</a:t>
            </a:r>
          </a:p>
          <a:p>
            <a:pPr algn="l">
              <a:lnSpc>
                <a:spcPct val="106000"/>
              </a:lnSpc>
              <a:spcBef>
                <a:spcPts val="0"/>
              </a:spcBef>
            </a:pPr>
            <a:r>
              <a:rPr sz="835" b="0" i="0">
                <a:solidFill>
                  <a:srgbClr val="3FCF8E"/>
                </a:solidFill>
                <a:latin typeface="IBM Plex Mono"/>
              </a:rPr>
              <a:t>+@import 'EXT:flight_ops/Configuration/TypoScript/Plugin/Board.typoscript'</a:t>
            </a:r>
          </a:p>
          <a:p>
            <a:pPr algn="l">
              <a:lnSpc>
                <a:spcPct val="106000"/>
              </a:lnSpc>
              <a:spcBef>
                <a:spcPts val="0"/>
              </a:spcBef>
            </a:pPr>
            <a:r>
              <a:rPr sz="835" b="0" i="0">
                <a:solidFill>
                  <a:srgbClr val="3FCF8E"/>
                </a:solidFill>
                <a:latin typeface="IBM Plex Mono"/>
              </a:rPr>
              <a:t>+@import 'EXT:flight_ops/Configuration/TypoScript/Partials/*.typoscript'</a:t>
            </a:r>
          </a:p>
          <a:p>
            <a:pPr algn="l">
              <a:lnSpc>
                <a:spcPct val="106000"/>
              </a:lnSpc>
              <a:spcBef>
                <a:spcPts val="0"/>
              </a:spcBef>
            </a:pPr>
            <a:r>
              <a:rPr sz="835" b="0" i="0">
                <a:solidFill>
                  <a:srgbClr val="C9D6E2"/>
                </a:solidFill>
                <a:latin typeface="IBM Plex Mono"/>
              </a:rPr>
              <a:t> </a:t>
            </a:r>
          </a:p>
          <a:p>
            <a:pPr algn="l">
              <a:lnSpc>
                <a:spcPct val="106000"/>
              </a:lnSpc>
              <a:spcBef>
                <a:spcPts val="0"/>
              </a:spcBef>
            </a:pPr>
            <a:r>
              <a:rPr sz="835" b="0" i="0">
                <a:solidFill>
                  <a:srgbClr val="6F8093"/>
                </a:solidFill>
                <a:latin typeface="IBM Plex Mono"/>
              </a:rPr>
              <a:t>@@ Line 12 @@</a:t>
            </a:r>
          </a:p>
          <a:p>
            <a:pPr algn="l">
              <a:lnSpc>
                <a:spcPct val="106000"/>
              </a:lnSpc>
              <a:spcBef>
                <a:spcPts val="0"/>
              </a:spcBef>
            </a:pPr>
            <a:r>
              <a:rPr sz="835" b="0" i="0">
                <a:solidFill>
                  <a:srgbClr val="E5484D"/>
                </a:solidFill>
                <a:latin typeface="IBM Plex Mono"/>
              </a:rPr>
              <a:t>-[globalVar = TSFE:id = 42]</a:t>
            </a:r>
          </a:p>
          <a:p>
            <a:pPr algn="l">
              <a:lnSpc>
                <a:spcPct val="106000"/>
              </a:lnSpc>
              <a:spcBef>
                <a:spcPts val="0"/>
              </a:spcBef>
            </a:pPr>
            <a:r>
              <a:rPr sz="835" b="0" i="0">
                <a:solidFill>
                  <a:srgbClr val="3FCF8E"/>
                </a:solidFill>
                <a:latin typeface="IBM Plex Mono"/>
              </a:rPr>
              <a:t>+[traverse(page, "uid") == 42]</a:t>
            </a:r>
          </a:p>
          <a:p>
            <a:pPr algn="l">
              <a:lnSpc>
                <a:spcPct val="106000"/>
              </a:lnSpc>
              <a:spcBef>
                <a:spcPts val="0"/>
              </a:spcBef>
            </a:pPr>
            <a:r>
              <a:rPr sz="835" b="0" i="0">
                <a:solidFill>
                  <a:srgbClr val="E5484D"/>
                </a:solidFill>
                <a:latin typeface="IBM Plex Mono"/>
              </a:rPr>
              <a:t>-[globalVar = GP:type = 98]</a:t>
            </a:r>
          </a:p>
          <a:p>
            <a:pPr algn="l">
              <a:lnSpc>
                <a:spcPct val="106000"/>
              </a:lnSpc>
              <a:spcBef>
                <a:spcPts val="0"/>
              </a:spcBef>
            </a:pPr>
            <a:r>
              <a:rPr sz="835" b="0" i="0">
                <a:solidFill>
                  <a:srgbClr val="3FCF8E"/>
                </a:solidFill>
                <a:latin typeface="IBM Plex Mono"/>
              </a:rPr>
              <a:t>+[request &amp;&amp; traverse(request.getQueryParams(), 'type') == 98]</a:t>
            </a:r>
          </a:p>
          <a:p>
            <a:pPr algn="l">
              <a:lnSpc>
                <a:spcPct val="106000"/>
              </a:lnSpc>
              <a:spcBef>
                <a:spcPts val="0"/>
              </a:spcBef>
            </a:pPr>
            <a:r>
              <a:rPr sz="835" b="0" i="0">
                <a:solidFill>
                  <a:srgbClr val="C9D6E2"/>
                </a:solidFill>
                <a:latin typeface="IBM Plex Mono"/>
              </a:rPr>
              <a:t> </a:t>
            </a:r>
          </a:p>
          <a:p>
            <a:pPr algn="l">
              <a:lnSpc>
                <a:spcPct val="106000"/>
              </a:lnSpc>
              <a:spcBef>
                <a:spcPts val="0"/>
              </a:spcBef>
            </a:pPr>
            <a:r>
              <a:rPr sz="835" b="0" i="0">
                <a:solidFill>
                  <a:srgbClr val="C9D6E2"/>
                </a:solidFill>
                <a:latin typeface="IBM Plex Mono"/>
              </a:rPr>
              <a:t>Applied rules:</a:t>
            </a:r>
          </a:p>
          <a:p>
            <a:pPr algn="l">
              <a:lnSpc>
                <a:spcPct val="106000"/>
              </a:lnSpc>
              <a:spcBef>
                <a:spcPts val="0"/>
              </a:spcBef>
            </a:pPr>
            <a:r>
              <a:rPr sz="835" b="0" i="0">
                <a:solidFill>
                  <a:srgbClr val="C9D6E2"/>
                </a:solidFill>
                <a:latin typeface="IBM Plex Mono"/>
              </a:rPr>
              <a:t> * MigrateLegacyTypoScriptConditionsFractor</a:t>
            </a:r>
          </a:p>
          <a:p>
            <a:pPr algn="l">
              <a:lnSpc>
                <a:spcPct val="106000"/>
              </a:lnSpc>
              <a:spcBef>
                <a:spcPts val="0"/>
              </a:spcBef>
            </a:pPr>
            <a:r>
              <a:rPr sz="835" b="0" i="0">
                <a:solidFill>
                  <a:srgbClr val="C9D6E2"/>
                </a:solidFill>
                <a:latin typeface="IBM Plex Mono"/>
              </a:rPr>
              <a:t> * MigrateTypoScriptPageConditionToTraverseFractor</a:t>
            </a:r>
          </a:p>
          <a:p>
            <a:pPr algn="l">
              <a:lnSpc>
                <a:spcPct val="106000"/>
              </a:lnSpc>
              <a:spcBef>
                <a:spcPts val="0"/>
              </a:spcBef>
            </a:pPr>
            <a:r>
              <a:rPr sz="835" b="0" i="0">
                <a:solidFill>
                  <a:srgbClr val="C9D6E2"/>
                </a:solidFill>
                <a:latin typeface="IBM Plex Mono"/>
              </a:rPr>
              <a:t> * MigrateIncludeTypoScriptSyntaxFractor</a:t>
            </a:r>
          </a:p>
          <a:p>
            <a:pPr algn="l">
              <a:lnSpc>
                <a:spcPct val="106000"/>
              </a:lnSpc>
              <a:spcBef>
                <a:spcPts val="0"/>
              </a:spcBef>
            </a:pPr>
            <a:r>
              <a:rPr sz="835" b="0" i="0">
                <a:solidFill>
                  <a:srgbClr val="C9D6E2"/>
                </a:solidFill>
                <a:latin typeface="IBM Plex Mono"/>
              </a:rPr>
              <a:t> </a:t>
            </a:r>
          </a:p>
          <a:p>
            <a:pPr algn="l">
              <a:lnSpc>
                <a:spcPct val="106000"/>
              </a:lnSpc>
              <a:spcBef>
                <a:spcPts val="0"/>
              </a:spcBef>
            </a:pPr>
            <a:r>
              <a:rPr sz="835" b="0" i="0">
                <a:solidFill>
                  <a:srgbClr val="3FCF8E"/>
                </a:solidFill>
                <a:latin typeface="IBM Plex Mono"/>
              </a:rPr>
              <a:t> [OK] 1 file would have been changed (dry-run) by Fractor</a:t>
            </a:r>
          </a:p>
        </p:txBody>
      </p:sp>
      <p:sp>
        <p:nvSpPr>
          <p:cNvPr id="12" name="TextBox 11"/>
          <p:cNvSpPr txBox="1"/>
          <p:nvPr/>
        </p:nvSpPr>
        <p:spPr>
          <a:xfrm>
            <a:off x="566928" y="5541264"/>
            <a:ext cx="11057839" cy="914400"/>
          </a:xfrm>
          <a:prstGeom prst="rect">
            <a:avLst/>
          </a:prstGeom>
          <a:noFill/>
        </p:spPr>
        <p:txBody>
          <a:bodyPr wrap="square" lIns="0" rIns="0" tIns="0" bIns="0" anchor="t">
            <a:spAutoFit/>
          </a:bodyPr>
          <a:lstStyle/>
          <a:p>
            <a:pPr algn="l">
              <a:lnSpc>
                <a:spcPct val="112000"/>
              </a:lnSpc>
            </a:pPr>
            <a:r>
              <a:rPr sz="1250" b="0" i="0">
                <a:solidFill>
                  <a:srgbClr val="4EC3E0"/>
                </a:solidFill>
                <a:latin typeface="Barlow"/>
              </a:rPr>
              <a:t>◆  </a:t>
            </a:r>
            <a:r>
              <a:rPr sz="1250" b="0" i="0">
                <a:solidFill>
                  <a:srgbClr val="EAF0F6"/>
                </a:solidFill>
                <a:latin typeface="Barlow"/>
              </a:rPr>
              <a:t>a9f/typo3-fractor: TypoScript, Fluid, YAML, XML, XLIFF, FlexForm, .htaccess, composer.json.</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The Extension Scanner never opened this file. Rector never opened this file.</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39 / 88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541679"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1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Four tools, four blind spots</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Real numbers from the demo extension in this talk</a:t>
            </a:r>
          </a:p>
        </p:txBody>
      </p:sp>
      <p:sp>
        <p:nvSpPr>
          <p:cNvPr id="8" name="Rectangle 7"/>
          <p:cNvSpPr/>
          <p:nvPr/>
        </p:nvSpPr>
        <p:spPr>
          <a:xfrm>
            <a:off x="566928" y="1975104"/>
            <a:ext cx="2593009" cy="201168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2593009" cy="4064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2157984"/>
            <a:ext cx="2593009" cy="548640"/>
          </a:xfrm>
          <a:prstGeom prst="rect">
            <a:avLst/>
          </a:prstGeom>
          <a:noFill/>
        </p:spPr>
        <p:txBody>
          <a:bodyPr wrap="square" lIns="0" rIns="0" tIns="0" bIns="0" anchor="t">
            <a:spAutoFit/>
          </a:bodyPr>
          <a:lstStyle/>
          <a:p>
            <a:pPr algn="l"/>
            <a:r>
              <a:rPr sz="3400" b="1">
                <a:solidFill>
                  <a:srgbClr val="4EC3E0"/>
                </a:solidFill>
                <a:latin typeface="Barlow Condensed"/>
              </a:rPr>
              <a:t>10</a:t>
            </a:r>
          </a:p>
        </p:txBody>
      </p:sp>
      <p:sp>
        <p:nvSpPr>
          <p:cNvPr id="11" name="TextBox 10"/>
          <p:cNvSpPr txBox="1"/>
          <p:nvPr/>
        </p:nvSpPr>
        <p:spPr>
          <a:xfrm>
            <a:off x="768096" y="2779776"/>
            <a:ext cx="2272969" cy="228600"/>
          </a:xfrm>
          <a:prstGeom prst="rect">
            <a:avLst/>
          </a:prstGeom>
          <a:noFill/>
        </p:spPr>
        <p:txBody>
          <a:bodyPr wrap="square" lIns="0" rIns="0" tIns="0" bIns="0" anchor="t">
            <a:spAutoFit/>
          </a:bodyPr>
          <a:lstStyle/>
          <a:p>
            <a:pPr algn="l"/>
            <a:r>
              <a:rPr sz="850" b="0">
                <a:solidFill>
                  <a:srgbClr val="6F8093"/>
                </a:solidFill>
                <a:latin typeface="IBM Plex Mono"/>
              </a:rPr>
              <a:t>FOUND ONLY BY THIS TOOL</a:t>
            </a:r>
          </a:p>
        </p:txBody>
      </p:sp>
      <p:sp>
        <p:nvSpPr>
          <p:cNvPr id="12" name="TextBox 11"/>
          <p:cNvSpPr txBox="1"/>
          <p:nvPr/>
        </p:nvSpPr>
        <p:spPr>
          <a:xfrm>
            <a:off x="768096" y="3035808"/>
            <a:ext cx="2272969" cy="274320"/>
          </a:xfrm>
          <a:prstGeom prst="rect">
            <a:avLst/>
          </a:prstGeom>
          <a:noFill/>
        </p:spPr>
        <p:txBody>
          <a:bodyPr wrap="square" lIns="0" rIns="0" tIns="0" bIns="0" anchor="t">
            <a:spAutoFit/>
          </a:bodyPr>
          <a:lstStyle/>
          <a:p>
            <a:pPr algn="l"/>
            <a:r>
              <a:rPr sz="1500" b="1">
                <a:solidFill>
                  <a:srgbClr val="EAF0F6"/>
                </a:solidFill>
                <a:latin typeface="Barlow Condensed"/>
              </a:rPr>
              <a:t>Extension Scanner</a:t>
            </a:r>
          </a:p>
        </p:txBody>
      </p:sp>
      <p:sp>
        <p:nvSpPr>
          <p:cNvPr id="13" name="TextBox 12"/>
          <p:cNvSpPr txBox="1"/>
          <p:nvPr/>
        </p:nvSpPr>
        <p:spPr>
          <a:xfrm>
            <a:off x="768096" y="3364992"/>
            <a:ext cx="2272969" cy="548640"/>
          </a:xfrm>
          <a:prstGeom prst="rect">
            <a:avLst/>
          </a:prstGeom>
          <a:noFill/>
        </p:spPr>
        <p:txBody>
          <a:bodyPr wrap="square" lIns="0" rIns="0" tIns="0" bIns="0" anchor="t">
            <a:spAutoFit/>
          </a:bodyPr>
          <a:lstStyle/>
          <a:p>
            <a:pPr algn="l"/>
            <a:r>
              <a:rPr sz="1050" b="0">
                <a:solidFill>
                  <a:srgbClr val="A8B6C6"/>
                </a:solidFill>
                <a:latin typeface="Barlow"/>
              </a:rPr>
              <a:t>13 issues, 10 of them reported by no other tool</a:t>
            </a:r>
          </a:p>
        </p:txBody>
      </p:sp>
      <p:sp>
        <p:nvSpPr>
          <p:cNvPr id="14" name="Rectangle 13"/>
          <p:cNvSpPr/>
          <p:nvPr/>
        </p:nvSpPr>
        <p:spPr>
          <a:xfrm>
            <a:off x="3388537" y="1975104"/>
            <a:ext cx="2593009" cy="201168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388537" y="1975104"/>
            <a:ext cx="2593009" cy="4064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89705" y="2157984"/>
            <a:ext cx="2593009" cy="548640"/>
          </a:xfrm>
          <a:prstGeom prst="rect">
            <a:avLst/>
          </a:prstGeom>
          <a:noFill/>
        </p:spPr>
        <p:txBody>
          <a:bodyPr wrap="square" lIns="0" rIns="0" tIns="0" bIns="0" anchor="t">
            <a:spAutoFit/>
          </a:bodyPr>
          <a:lstStyle/>
          <a:p>
            <a:pPr algn="l"/>
            <a:r>
              <a:rPr sz="3400" b="1">
                <a:solidFill>
                  <a:srgbClr val="FF8700"/>
                </a:solidFill>
                <a:latin typeface="Barlow Condensed"/>
              </a:rPr>
              <a:t>2</a:t>
            </a:r>
          </a:p>
        </p:txBody>
      </p:sp>
      <p:sp>
        <p:nvSpPr>
          <p:cNvPr id="17" name="TextBox 16"/>
          <p:cNvSpPr txBox="1"/>
          <p:nvPr/>
        </p:nvSpPr>
        <p:spPr>
          <a:xfrm>
            <a:off x="3589705" y="2779776"/>
            <a:ext cx="2272969" cy="228600"/>
          </a:xfrm>
          <a:prstGeom prst="rect">
            <a:avLst/>
          </a:prstGeom>
          <a:noFill/>
        </p:spPr>
        <p:txBody>
          <a:bodyPr wrap="square" lIns="0" rIns="0" tIns="0" bIns="0" anchor="t">
            <a:spAutoFit/>
          </a:bodyPr>
          <a:lstStyle/>
          <a:p>
            <a:pPr algn="l"/>
            <a:r>
              <a:rPr sz="850" b="0">
                <a:solidFill>
                  <a:srgbClr val="6F8093"/>
                </a:solidFill>
                <a:latin typeface="IBM Plex Mono"/>
              </a:rPr>
              <a:t>FOUND ONLY BY THIS TOOL</a:t>
            </a:r>
          </a:p>
        </p:txBody>
      </p:sp>
      <p:sp>
        <p:nvSpPr>
          <p:cNvPr id="18" name="TextBox 17"/>
          <p:cNvSpPr txBox="1"/>
          <p:nvPr/>
        </p:nvSpPr>
        <p:spPr>
          <a:xfrm>
            <a:off x="3589705" y="3035808"/>
            <a:ext cx="2272969" cy="274320"/>
          </a:xfrm>
          <a:prstGeom prst="rect">
            <a:avLst/>
          </a:prstGeom>
          <a:noFill/>
        </p:spPr>
        <p:txBody>
          <a:bodyPr wrap="square" lIns="0" rIns="0" tIns="0" bIns="0" anchor="t">
            <a:spAutoFit/>
          </a:bodyPr>
          <a:lstStyle/>
          <a:p>
            <a:pPr algn="l"/>
            <a:r>
              <a:rPr sz="1500" b="1">
                <a:solidFill>
                  <a:srgbClr val="EAF0F6"/>
                </a:solidFill>
                <a:latin typeface="Barlow Condensed"/>
              </a:rPr>
              <a:t>Rector</a:t>
            </a:r>
          </a:p>
        </p:txBody>
      </p:sp>
      <p:sp>
        <p:nvSpPr>
          <p:cNvPr id="19" name="TextBox 18"/>
          <p:cNvSpPr txBox="1"/>
          <p:nvPr/>
        </p:nvSpPr>
        <p:spPr>
          <a:xfrm>
            <a:off x="3589705" y="3364992"/>
            <a:ext cx="2272969" cy="548640"/>
          </a:xfrm>
          <a:prstGeom prst="rect">
            <a:avLst/>
          </a:prstGeom>
          <a:noFill/>
        </p:spPr>
        <p:txBody>
          <a:bodyPr wrap="square" lIns="0" rIns="0" tIns="0" bIns="0" anchor="t">
            <a:spAutoFit/>
          </a:bodyPr>
          <a:lstStyle/>
          <a:p>
            <a:pPr algn="l"/>
            <a:r>
              <a:rPr sz="1050" b="0">
                <a:solidFill>
                  <a:srgbClr val="A8B6C6"/>
                </a:solidFill>
                <a:latin typeface="Barlow"/>
              </a:rPr>
              <a:t>-&gt;execute() and clearCacheOnLoad — neither of them has a scanner rule</a:t>
            </a:r>
          </a:p>
        </p:txBody>
      </p:sp>
      <p:sp>
        <p:nvSpPr>
          <p:cNvPr id="20" name="Rectangle 19"/>
          <p:cNvSpPr/>
          <p:nvPr/>
        </p:nvSpPr>
        <p:spPr>
          <a:xfrm>
            <a:off x="6210147" y="1975104"/>
            <a:ext cx="2593009" cy="201168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10147" y="1975104"/>
            <a:ext cx="2593009" cy="40640"/>
          </a:xfrm>
          <a:prstGeom prst="rect">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11315" y="2157984"/>
            <a:ext cx="2593009" cy="548640"/>
          </a:xfrm>
          <a:prstGeom prst="rect">
            <a:avLst/>
          </a:prstGeom>
          <a:noFill/>
        </p:spPr>
        <p:txBody>
          <a:bodyPr wrap="square" lIns="0" rIns="0" tIns="0" bIns="0" anchor="t">
            <a:spAutoFit/>
          </a:bodyPr>
          <a:lstStyle/>
          <a:p>
            <a:pPr algn="l"/>
            <a:r>
              <a:rPr sz="3400" b="1">
                <a:solidFill>
                  <a:srgbClr val="C77DFF"/>
                </a:solidFill>
                <a:latin typeface="Barlow Condensed"/>
              </a:rPr>
              <a:t>1</a:t>
            </a:r>
          </a:p>
        </p:txBody>
      </p:sp>
      <p:sp>
        <p:nvSpPr>
          <p:cNvPr id="23" name="TextBox 22"/>
          <p:cNvSpPr txBox="1"/>
          <p:nvPr/>
        </p:nvSpPr>
        <p:spPr>
          <a:xfrm>
            <a:off x="6411315" y="2779776"/>
            <a:ext cx="2272969" cy="228600"/>
          </a:xfrm>
          <a:prstGeom prst="rect">
            <a:avLst/>
          </a:prstGeom>
          <a:noFill/>
        </p:spPr>
        <p:txBody>
          <a:bodyPr wrap="square" lIns="0" rIns="0" tIns="0" bIns="0" anchor="t">
            <a:spAutoFit/>
          </a:bodyPr>
          <a:lstStyle/>
          <a:p>
            <a:pPr algn="l"/>
            <a:r>
              <a:rPr sz="850" b="0">
                <a:solidFill>
                  <a:srgbClr val="6F8093"/>
                </a:solidFill>
                <a:latin typeface="IBM Plex Mono"/>
              </a:rPr>
              <a:t>FOUND ONLY BY THIS TOOL</a:t>
            </a:r>
          </a:p>
        </p:txBody>
      </p:sp>
      <p:sp>
        <p:nvSpPr>
          <p:cNvPr id="24" name="TextBox 23"/>
          <p:cNvSpPr txBox="1"/>
          <p:nvPr/>
        </p:nvSpPr>
        <p:spPr>
          <a:xfrm>
            <a:off x="6411315" y="3035808"/>
            <a:ext cx="2272969" cy="274320"/>
          </a:xfrm>
          <a:prstGeom prst="rect">
            <a:avLst/>
          </a:prstGeom>
          <a:noFill/>
        </p:spPr>
        <p:txBody>
          <a:bodyPr wrap="square" lIns="0" rIns="0" tIns="0" bIns="0" anchor="t">
            <a:spAutoFit/>
          </a:bodyPr>
          <a:lstStyle/>
          <a:p>
            <a:pPr algn="l"/>
            <a:r>
              <a:rPr sz="1500" b="1">
                <a:solidFill>
                  <a:srgbClr val="EAF0F6"/>
                </a:solidFill>
                <a:latin typeface="Barlow Condensed"/>
              </a:rPr>
              <a:t>Fractor</a:t>
            </a:r>
          </a:p>
        </p:txBody>
      </p:sp>
      <p:sp>
        <p:nvSpPr>
          <p:cNvPr id="25" name="TextBox 24"/>
          <p:cNvSpPr txBox="1"/>
          <p:nvPr/>
        </p:nvSpPr>
        <p:spPr>
          <a:xfrm>
            <a:off x="6411315" y="3364992"/>
            <a:ext cx="2272969" cy="548640"/>
          </a:xfrm>
          <a:prstGeom prst="rect">
            <a:avLst/>
          </a:prstGeom>
          <a:noFill/>
        </p:spPr>
        <p:txBody>
          <a:bodyPr wrap="square" lIns="0" rIns="0" tIns="0" bIns="0" anchor="t">
            <a:spAutoFit/>
          </a:bodyPr>
          <a:lstStyle/>
          <a:p>
            <a:pPr algn="l"/>
            <a:r>
              <a:rPr sz="1050" b="0">
                <a:solidFill>
                  <a:srgbClr val="A8B6C6"/>
                </a:solidFill>
                <a:latin typeface="Barlow"/>
              </a:rPr>
              <a:t>The TypoScript file none of the others ever opens</a:t>
            </a:r>
          </a:p>
        </p:txBody>
      </p:sp>
      <p:sp>
        <p:nvSpPr>
          <p:cNvPr id="26" name="Rectangle 25"/>
          <p:cNvSpPr/>
          <p:nvPr/>
        </p:nvSpPr>
        <p:spPr>
          <a:xfrm>
            <a:off x="9031757" y="1975104"/>
            <a:ext cx="2593009" cy="201168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9031757" y="1975104"/>
            <a:ext cx="2593009" cy="4064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232925" y="2157984"/>
            <a:ext cx="2593009" cy="548640"/>
          </a:xfrm>
          <a:prstGeom prst="rect">
            <a:avLst/>
          </a:prstGeom>
          <a:noFill/>
        </p:spPr>
        <p:txBody>
          <a:bodyPr wrap="square" lIns="0" rIns="0" tIns="0" bIns="0" anchor="t">
            <a:spAutoFit/>
          </a:bodyPr>
          <a:lstStyle/>
          <a:p>
            <a:pPr algn="l"/>
            <a:r>
              <a:rPr sz="3400" b="1">
                <a:solidFill>
                  <a:srgbClr val="5B8DEF"/>
                </a:solidFill>
                <a:latin typeface="Barlow Condensed"/>
              </a:rPr>
              <a:t>9</a:t>
            </a:r>
          </a:p>
        </p:txBody>
      </p:sp>
      <p:sp>
        <p:nvSpPr>
          <p:cNvPr id="29" name="TextBox 28"/>
          <p:cNvSpPr txBox="1"/>
          <p:nvPr/>
        </p:nvSpPr>
        <p:spPr>
          <a:xfrm>
            <a:off x="9232925" y="2779776"/>
            <a:ext cx="2272969" cy="228600"/>
          </a:xfrm>
          <a:prstGeom prst="rect">
            <a:avLst/>
          </a:prstGeom>
          <a:noFill/>
        </p:spPr>
        <p:txBody>
          <a:bodyPr wrap="square" lIns="0" rIns="0" tIns="0" bIns="0" anchor="t">
            <a:spAutoFit/>
          </a:bodyPr>
          <a:lstStyle/>
          <a:p>
            <a:pPr algn="l"/>
            <a:r>
              <a:rPr sz="850" b="0">
                <a:solidFill>
                  <a:srgbClr val="6F8093"/>
                </a:solidFill>
                <a:latin typeface="IBM Plex Mono"/>
              </a:rPr>
              <a:t>FOUND ONLY BY THIS TOOL</a:t>
            </a:r>
          </a:p>
        </p:txBody>
      </p:sp>
      <p:sp>
        <p:nvSpPr>
          <p:cNvPr id="30" name="TextBox 29"/>
          <p:cNvSpPr txBox="1"/>
          <p:nvPr/>
        </p:nvSpPr>
        <p:spPr>
          <a:xfrm>
            <a:off x="9232925" y="3035808"/>
            <a:ext cx="2272969" cy="274320"/>
          </a:xfrm>
          <a:prstGeom prst="rect">
            <a:avLst/>
          </a:prstGeom>
          <a:noFill/>
        </p:spPr>
        <p:txBody>
          <a:bodyPr wrap="square" lIns="0" rIns="0" tIns="0" bIns="0" anchor="t">
            <a:spAutoFit/>
          </a:bodyPr>
          <a:lstStyle/>
          <a:p>
            <a:pPr algn="l"/>
            <a:r>
              <a:rPr sz="1500" b="1">
                <a:solidFill>
                  <a:srgbClr val="EAF0F6"/>
                </a:solidFill>
                <a:latin typeface="Barlow Condensed"/>
              </a:rPr>
              <a:t>TCA migration check</a:t>
            </a:r>
          </a:p>
        </p:txBody>
      </p:sp>
      <p:sp>
        <p:nvSpPr>
          <p:cNvPr id="31" name="TextBox 30"/>
          <p:cNvSpPr txBox="1"/>
          <p:nvPr/>
        </p:nvSpPr>
        <p:spPr>
          <a:xfrm>
            <a:off x="9232925" y="3364992"/>
            <a:ext cx="2272969" cy="548640"/>
          </a:xfrm>
          <a:prstGeom prst="rect">
            <a:avLst/>
          </a:prstGeom>
          <a:noFill/>
        </p:spPr>
        <p:txBody>
          <a:bodyPr wrap="square" lIns="0" rIns="0" tIns="0" bIns="0" anchor="t">
            <a:spAutoFit/>
          </a:bodyPr>
          <a:lstStyle/>
          <a:p>
            <a:pPr algn="l"/>
            <a:r>
              <a:rPr sz="1050" b="0">
                <a:solidFill>
                  <a:srgbClr val="A8B6C6"/>
                </a:solidFill>
                <a:latin typeface="Barlow"/>
              </a:rPr>
              <a:t>9 TCA messages — no other tool here reports a single one of them</a:t>
            </a:r>
          </a:p>
        </p:txBody>
      </p:sp>
      <p:sp>
        <p:nvSpPr>
          <p:cNvPr id="32" name="Rectangle 31"/>
          <p:cNvSpPr/>
          <p:nvPr/>
        </p:nvSpPr>
        <p:spPr>
          <a:xfrm>
            <a:off x="566928" y="4169664"/>
            <a:ext cx="11057839" cy="36576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66928" y="4251960"/>
            <a:ext cx="11057839" cy="274320"/>
          </a:xfrm>
          <a:prstGeom prst="rect">
            <a:avLst/>
          </a:prstGeom>
          <a:noFill/>
        </p:spPr>
        <p:txBody>
          <a:bodyPr wrap="square" lIns="0" rIns="0" tIns="0" bIns="0" anchor="t">
            <a:spAutoFit/>
          </a:bodyPr>
          <a:lstStyle/>
          <a:p>
            <a:pPr algn="ctr"/>
            <a:r>
              <a:rPr sz="1200" b="0">
                <a:solidFill>
                  <a:srgbClr val="FFB020"/>
                </a:solidFill>
                <a:latin typeface="IBM Plex Mono"/>
              </a:rPr>
              <a:t>Only 3 of the scanner's 13 findings are auto-fixed by Rector.</a:t>
            </a:r>
          </a:p>
        </p:txBody>
      </p:sp>
      <p:sp>
        <p:nvSpPr>
          <p:cNvPr id="34" name="Rectangle 33"/>
          <p:cNvSpPr/>
          <p:nvPr/>
        </p:nvSpPr>
        <p:spPr>
          <a:xfrm>
            <a:off x="566928" y="4700016"/>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6656" y="4700016"/>
            <a:ext cx="10948111" cy="457200"/>
          </a:xfrm>
          <a:prstGeom prst="rect">
            <a:avLst/>
          </a:prstGeom>
          <a:noFill/>
        </p:spPr>
        <p:txBody>
          <a:bodyPr wrap="square" lIns="0" rIns="0" tIns="0" bIns="0" anchor="t">
            <a:spAutoFit/>
          </a:bodyPr>
          <a:lstStyle/>
          <a:p>
            <a:pPr algn="l"/>
            <a:r>
              <a:rPr sz="1250" b="0">
                <a:solidFill>
                  <a:srgbClr val="A8B6C6"/>
                </a:solidFill>
                <a:latin typeface="Barlow"/>
              </a:rPr>
              <a:t>No single tool clears the aircraft. That is the whole point of layered defences — the holes in the slices do not line up.</a:t>
            </a:r>
          </a:p>
        </p:txBody>
      </p:sp>
      <p:sp>
        <p:nvSpPr>
          <p:cNvPr id="36" name="TextBox 35"/>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37" name="TextBox 36"/>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40 / 88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680221"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Can the fleet even fly?</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Every third-party extension is a go / no-go item</a:t>
            </a:r>
          </a:p>
        </p:txBody>
      </p:sp>
      <p:sp>
        <p:nvSpPr>
          <p:cNvPr id="8" name="Rectangle 7"/>
          <p:cNvSpPr/>
          <p:nvPr/>
        </p:nvSpPr>
        <p:spPr>
          <a:xfrm>
            <a:off x="566928" y="1975104"/>
            <a:ext cx="11057839" cy="1508760"/>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composer why-not typo3/cms-core 13.4</a:t>
            </a:r>
          </a:p>
        </p:txBody>
      </p:sp>
      <p:sp>
        <p:nvSpPr>
          <p:cNvPr id="11" name="TextBox 10"/>
          <p:cNvSpPr txBox="1"/>
          <p:nvPr/>
        </p:nvSpPr>
        <p:spPr>
          <a:xfrm>
            <a:off x="713232" y="2395728"/>
            <a:ext cx="10765231" cy="978408"/>
          </a:xfrm>
          <a:prstGeom prst="rect">
            <a:avLst/>
          </a:prstGeom>
          <a:noFill/>
        </p:spPr>
        <p:txBody>
          <a:bodyPr wrap="square" lIns="0" rIns="0" tIns="0" bIns="0" anchor="t">
            <a:spAutoFit/>
          </a:bodyPr>
          <a:lstStyle/>
          <a:p>
            <a:pPr algn="l">
              <a:lnSpc>
                <a:spcPct val="106000"/>
              </a:lnSpc>
            </a:pPr>
            <a:r>
              <a:rPr sz="802" b="0" i="0">
                <a:solidFill>
                  <a:srgbClr val="C9D6E2"/>
                </a:solidFill>
                <a:latin typeface="IBM Plex Mono"/>
              </a:rPr>
              <a:t>typo3/cms-base-distribution    -        requires  typo3/cms-core (^12.4)</a:t>
            </a:r>
          </a:p>
          <a:p>
            <a:pPr algn="l">
              <a:lnSpc>
                <a:spcPct val="106000"/>
              </a:lnSpc>
              <a:spcBef>
                <a:spcPts val="0"/>
              </a:spcBef>
            </a:pPr>
            <a:r>
              <a:rPr sz="802" b="0" i="0">
                <a:solidFill>
                  <a:srgbClr val="C9D6E2"/>
                </a:solidFill>
                <a:latin typeface="IBM Plex Mono"/>
              </a:rPr>
              <a:t>typo3/cms-backend              v12.4.45 requires  typo3/cms-core (12.4.45)</a:t>
            </a:r>
          </a:p>
          <a:p>
            <a:pPr algn="l">
              <a:lnSpc>
                <a:spcPct val="106000"/>
              </a:lnSpc>
              <a:spcBef>
                <a:spcPts val="0"/>
              </a:spcBef>
            </a:pPr>
            <a:r>
              <a:rPr sz="802" b="0" i="0">
                <a:solidFill>
                  <a:srgbClr val="C9D6E2"/>
                </a:solidFill>
                <a:latin typeface="IBM Plex Mono"/>
              </a:rPr>
              <a:t>typo3/cms-extbase              v12.4.45 requires  typo3/cms-core (12.4.45)</a:t>
            </a:r>
          </a:p>
          <a:p>
            <a:pPr algn="l">
              <a:lnSpc>
                <a:spcPct val="106000"/>
              </a:lnSpc>
              <a:spcBef>
                <a:spcPts val="0"/>
              </a:spcBef>
            </a:pPr>
            <a:r>
              <a:rPr sz="802" b="0" i="0">
                <a:solidFill>
                  <a:srgbClr val="C9D6E2"/>
                </a:solidFill>
                <a:latin typeface="IBM Plex Mono"/>
              </a:rPr>
              <a:t>...</a:t>
            </a:r>
          </a:p>
          <a:p>
            <a:pPr algn="l">
              <a:lnSpc>
                <a:spcPct val="106000"/>
              </a:lnSpc>
              <a:spcBef>
                <a:spcPts val="0"/>
              </a:spcBef>
            </a:pPr>
            <a:r>
              <a:rPr sz="802" b="0" i="0">
                <a:solidFill>
                  <a:srgbClr val="C9D6E2"/>
                </a:solidFill>
                <a:latin typeface="IBM Plex Mono"/>
              </a:rPr>
              <a:t>webvision/flight-ops           dev-main requires  typo3/cms-core (^12.4)</a:t>
            </a:r>
          </a:p>
          <a:p>
            <a:pPr algn="l">
              <a:lnSpc>
                <a:spcPct val="106000"/>
              </a:lnSpc>
              <a:spcBef>
                <a:spcPts val="0"/>
              </a:spcBef>
            </a:pPr>
            <a:r>
              <a:rPr sz="802" b="0" i="0">
                <a:solidFill>
                  <a:srgbClr val="C9D6E2"/>
                </a:solidFill>
                <a:latin typeface="IBM Plex Mono"/>
              </a:rPr>
              <a:t>typo3/cms-core                 v13.4.0  requires  doctrine/dbal (^4.2.1)</a:t>
            </a:r>
          </a:p>
          <a:p>
            <a:pPr algn="l">
              <a:lnSpc>
                <a:spcPct val="106000"/>
              </a:lnSpc>
              <a:spcBef>
                <a:spcPts val="0"/>
              </a:spcBef>
            </a:pPr>
            <a:r>
              <a:rPr sz="802" b="0" i="0">
                <a:solidFill>
                  <a:srgbClr val="C9D6E2"/>
                </a:solidFill>
                <a:latin typeface="IBM Plex Mono"/>
              </a:rPr>
              <a:t>typo3/cms-base-distribution    -        does not require doctrine/dbal (but 3.10.6 is installed)</a:t>
            </a:r>
          </a:p>
        </p:txBody>
      </p:sp>
      <p:sp>
        <p:nvSpPr>
          <p:cNvPr id="12" name="TextBox 11"/>
          <p:cNvSpPr txBox="1"/>
          <p:nvPr/>
        </p:nvSpPr>
        <p:spPr>
          <a:xfrm>
            <a:off x="566928" y="3630168"/>
            <a:ext cx="11057839" cy="914400"/>
          </a:xfrm>
          <a:prstGeom prst="rect">
            <a:avLst/>
          </a:prstGeom>
          <a:noFill/>
        </p:spPr>
        <p:txBody>
          <a:bodyPr wrap="square" lIns="0" rIns="0" tIns="0" bIns="0" anchor="t">
            <a:spAutoFit/>
          </a:bodyPr>
          <a:lstStyle/>
          <a:p>
            <a:pPr algn="l">
              <a:lnSpc>
                <a:spcPct val="112000"/>
              </a:lnSpc>
            </a:pPr>
            <a:r>
              <a:rPr sz="1250" b="0" i="0">
                <a:solidFill>
                  <a:srgbClr val="4EC3E0"/>
                </a:solidFill>
                <a:latin typeface="Barlow"/>
              </a:rPr>
              <a:t>◆  </a:t>
            </a:r>
            <a:r>
              <a:rPr sz="1250" b="0" i="0">
                <a:solidFill>
                  <a:srgbClr val="EAF0F6"/>
                </a:solidFill>
                <a:latin typeface="Barlow"/>
              </a:rPr>
              <a:t>For every blocker: is there a compatible release, a fork, a replacement — or is it yours to adopt?</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An abandoned extension is not a technical problem. It is a decision, and it belongs in phase 1.</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41 / 88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818763"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Your own tooling can ground you</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A real failure from building this talk</a:t>
            </a:r>
          </a:p>
        </p:txBody>
      </p:sp>
      <p:sp>
        <p:nvSpPr>
          <p:cNvPr id="8" name="Rectangle 7"/>
          <p:cNvSpPr/>
          <p:nvPr/>
        </p:nvSpPr>
        <p:spPr>
          <a:xfrm>
            <a:off x="566928" y="1975104"/>
            <a:ext cx="11057839" cy="1920240"/>
          </a:xfrm>
          <a:prstGeom prst="rect">
            <a:avLst/>
          </a:prstGeom>
          <a:solidFill>
            <a:srgbClr val="080C11"/>
          </a:solidFill>
          <a:ln w="952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composer require typo3/cms-core:^13.4 ... -W</a:t>
            </a:r>
          </a:p>
        </p:txBody>
      </p:sp>
      <p:sp>
        <p:nvSpPr>
          <p:cNvPr id="11" name="TextBox 10"/>
          <p:cNvSpPr txBox="1"/>
          <p:nvPr/>
        </p:nvSpPr>
        <p:spPr>
          <a:xfrm>
            <a:off x="713232" y="2395728"/>
            <a:ext cx="10765231" cy="1389888"/>
          </a:xfrm>
          <a:prstGeom prst="rect">
            <a:avLst/>
          </a:prstGeom>
          <a:noFill/>
        </p:spPr>
        <p:txBody>
          <a:bodyPr wrap="square" lIns="0" rIns="0" tIns="0" bIns="0" anchor="t">
            <a:spAutoFit/>
          </a:bodyPr>
          <a:lstStyle/>
          <a:p>
            <a:pPr algn="l">
              <a:lnSpc>
                <a:spcPct val="106000"/>
              </a:lnSpc>
            </a:pPr>
            <a:r>
              <a:rPr sz="836" b="0" i="0">
                <a:solidFill>
                  <a:srgbClr val="C9D6E2"/>
                </a:solidFill>
                <a:latin typeface="IBM Plex Mono"/>
              </a:rPr>
              <a:t>Your requirements could not be resolved to an installable set of packages.</a:t>
            </a:r>
          </a:p>
          <a:p>
            <a:pPr algn="l">
              <a:lnSpc>
                <a:spcPct val="106000"/>
              </a:lnSpc>
              <a:spcBef>
                <a:spcPts val="0"/>
              </a:spcBef>
            </a:pPr>
            <a:r>
              <a:rPr sz="836" b="0" i="0">
                <a:solidFill>
                  <a:srgbClr val="C9D6E2"/>
                </a:solidFill>
                <a:latin typeface="IBM Plex Mono"/>
              </a:rPr>
              <a:t> </a:t>
            </a:r>
          </a:p>
          <a:p>
            <a:pPr algn="l">
              <a:lnSpc>
                <a:spcPct val="106000"/>
              </a:lnSpc>
              <a:spcBef>
                <a:spcPts val="0"/>
              </a:spcBef>
            </a:pPr>
            <a:r>
              <a:rPr sz="836" b="0" i="0">
                <a:solidFill>
                  <a:srgbClr val="C9D6E2"/>
                </a:solidFill>
                <a:latin typeface="IBM Plex Mono"/>
              </a:rPr>
              <a:t>  Problem 1</a:t>
            </a:r>
          </a:p>
          <a:p>
            <a:pPr algn="l">
              <a:lnSpc>
                <a:spcPct val="106000"/>
              </a:lnSpc>
              <a:spcBef>
                <a:spcPts val="0"/>
              </a:spcBef>
            </a:pPr>
            <a:r>
              <a:rPr sz="836" b="0" i="0">
                <a:solidFill>
                  <a:srgbClr val="E5484D"/>
                </a:solidFill>
                <a:latin typeface="IBM Plex Mono"/>
              </a:rPr>
              <a:t>    - Root composer.json requires typo3/cms-install ^13.4</a:t>
            </a:r>
          </a:p>
          <a:p>
            <a:pPr algn="l">
              <a:lnSpc>
                <a:spcPct val="106000"/>
              </a:lnSpc>
              <a:spcBef>
                <a:spcPts val="0"/>
              </a:spcBef>
            </a:pPr>
            <a:r>
              <a:rPr sz="836" b="0" i="0">
                <a:solidFill>
                  <a:srgbClr val="E5484D"/>
                </a:solidFill>
                <a:latin typeface="IBM Plex Mono"/>
              </a:rPr>
              <a:t>      -&gt; satisfiable by typo3/cms-install[v13.4.0, ..., v13.4.34].</a:t>
            </a:r>
          </a:p>
          <a:p>
            <a:pPr algn="l">
              <a:lnSpc>
                <a:spcPct val="106000"/>
              </a:lnSpc>
              <a:spcBef>
                <a:spcPts val="0"/>
              </a:spcBef>
            </a:pPr>
            <a:r>
              <a:rPr sz="836" b="0" i="0">
                <a:solidFill>
                  <a:srgbClr val="E5484D"/>
                </a:solidFill>
                <a:latin typeface="IBM Plex Mono"/>
              </a:rPr>
              <a:t>    - typo3/cms-install[v13.4.10, ..., v13.4.34] require nikic/php-parser ^5.4.0</a:t>
            </a:r>
          </a:p>
          <a:p>
            <a:pPr algn="l">
              <a:lnSpc>
                <a:spcPct val="106000"/>
              </a:lnSpc>
              <a:spcBef>
                <a:spcPts val="0"/>
              </a:spcBef>
            </a:pPr>
            <a:r>
              <a:rPr sz="836" b="0" i="0">
                <a:solidFill>
                  <a:srgbClr val="E5484D"/>
                </a:solidFill>
                <a:latin typeface="IBM Plex Mono"/>
              </a:rPr>
              <a:t>      -&gt; found nikic/php-parser[v5.4.0, ..., v5.8.0] but these were not loaded,</a:t>
            </a:r>
          </a:p>
          <a:p>
            <a:pPr algn="l">
              <a:lnSpc>
                <a:spcPct val="106000"/>
              </a:lnSpc>
              <a:spcBef>
                <a:spcPts val="0"/>
              </a:spcBef>
            </a:pPr>
            <a:r>
              <a:rPr sz="836" b="0" i="0">
                <a:solidFill>
                  <a:srgbClr val="C9D6E2"/>
                </a:solidFill>
                <a:latin typeface="IBM Plex Mono"/>
              </a:rPr>
              <a:t>         likely because it conflicts with another require.</a:t>
            </a:r>
          </a:p>
          <a:p>
            <a:pPr algn="l">
              <a:lnSpc>
                <a:spcPct val="106000"/>
              </a:lnSpc>
              <a:spcBef>
                <a:spcPts val="0"/>
              </a:spcBef>
            </a:pPr>
            <a:r>
              <a:rPr sz="836" b="0" i="0">
                <a:solidFill>
                  <a:srgbClr val="C9D6E2"/>
                </a:solidFill>
                <a:latin typeface="IBM Plex Mono"/>
              </a:rPr>
              <a:t> </a:t>
            </a:r>
          </a:p>
          <a:p>
            <a:pPr algn="l">
              <a:lnSpc>
                <a:spcPct val="106000"/>
              </a:lnSpc>
              <a:spcBef>
                <a:spcPts val="0"/>
              </a:spcBef>
            </a:pPr>
            <a:r>
              <a:rPr sz="836" b="0" i="0">
                <a:solidFill>
                  <a:srgbClr val="C9D6E2"/>
                </a:solidFill>
                <a:latin typeface="IBM Plex Mono"/>
              </a:rPr>
              <a:t>Installation failed, reverting ./composer.json and ./composer.lock</a:t>
            </a:r>
          </a:p>
        </p:txBody>
      </p:sp>
      <p:sp>
        <p:nvSpPr>
          <p:cNvPr id="12" name="TextBox 11"/>
          <p:cNvSpPr txBox="1"/>
          <p:nvPr/>
        </p:nvSpPr>
        <p:spPr>
          <a:xfrm>
            <a:off x="566928" y="4041648"/>
            <a:ext cx="11057839" cy="914400"/>
          </a:xfrm>
          <a:prstGeom prst="rect">
            <a:avLst/>
          </a:prstGeom>
          <a:noFill/>
        </p:spPr>
        <p:txBody>
          <a:bodyPr wrap="square" lIns="0" rIns="0" tIns="0" bIns="0" anchor="t">
            <a:spAutoFit/>
          </a:bodyPr>
          <a:lstStyle/>
          <a:p>
            <a:pPr algn="l">
              <a:lnSpc>
                <a:spcPct val="112000"/>
              </a:lnSpc>
            </a:pPr>
            <a:r>
              <a:rPr sz="1250" b="0" i="0">
                <a:solidFill>
                  <a:srgbClr val="4EC3E0"/>
                </a:solidFill>
                <a:latin typeface="Barlow"/>
              </a:rPr>
              <a:t>◆  </a:t>
            </a:r>
            <a:r>
              <a:rPr sz="1250" b="0" i="0">
                <a:solidFill>
                  <a:srgbClr val="EAF0F6"/>
                </a:solidFill>
                <a:latin typeface="Barlow"/>
              </a:rPr>
              <a:t>The blocker was not the project. It was rector, pinning nikic/php-parser in require-dev.</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Dev tools share your dependency graph — until you isolate them.</a:t>
            </a:r>
          </a:p>
          <a:p>
            <a:pPr algn="l">
              <a:lnSpc>
                <a:spcPct val="112000"/>
              </a:lnSpc>
              <a:spcBef>
                <a:spcPts val="700"/>
              </a:spcBef>
            </a:pPr>
            <a:r>
              <a:rPr sz="1250" b="0" i="0">
                <a:solidFill>
                  <a:srgbClr val="4EC3E0"/>
                </a:solidFill>
                <a:latin typeface="Barlow"/>
              </a:rPr>
              <a:t>◆  </a:t>
            </a:r>
            <a:r>
              <a:rPr sz="1250" b="0" i="0">
                <a:solidFill>
                  <a:srgbClr val="EAF0F6"/>
                </a:solidFill>
                <a:latin typeface="Barlow"/>
              </a:rPr>
              <a:t>Fix: update the tools in the same transaction, or install them in their own tools/ directory.</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42 / 88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5957305"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The MEL — what you accept as broken</a:t>
            </a:r>
          </a:p>
        </p:txBody>
      </p:sp>
      <p:sp>
        <p:nvSpPr>
          <p:cNvPr id="7" name="TextBox 6"/>
          <p:cNvSpPr txBox="1"/>
          <p:nvPr/>
        </p:nvSpPr>
        <p:spPr>
          <a:xfrm>
            <a:off x="566928" y="1636776"/>
            <a:ext cx="11057839" cy="2377440"/>
          </a:xfrm>
          <a:prstGeom prst="rect">
            <a:avLst/>
          </a:prstGeom>
          <a:noFill/>
        </p:spPr>
        <p:txBody>
          <a:bodyPr wrap="square" lIns="0" rIns="0" tIns="0" bIns="0" anchor="t">
            <a:spAutoFit/>
          </a:bodyPr>
          <a:lstStyle/>
          <a:p>
            <a:pPr algn="l">
              <a:lnSpc>
                <a:spcPct val="112000"/>
              </a:lnSpc>
            </a:pPr>
            <a:r>
              <a:rPr sz="1600" b="0" i="0">
                <a:solidFill>
                  <a:srgbClr val="4EC3E0"/>
                </a:solidFill>
                <a:latin typeface="Barlow"/>
              </a:rPr>
              <a:t>◆  </a:t>
            </a:r>
            <a:r>
              <a:rPr sz="1600" b="0" i="0">
                <a:solidFill>
                  <a:srgbClr val="EAF0F6"/>
                </a:solidFill>
                <a:latin typeface="Barlow"/>
              </a:rPr>
              <a:t>Aviation has a legal list of equipment that may be inoperative while the aircraft still dispatches.</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Every item carries a condition, a procedure, and a rectification deadline.</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You will not fix every finding before departure. That is normal and professional.</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What is not professional is not writing down which ones you skipped, and why.</a:t>
            </a:r>
          </a:p>
        </p:txBody>
      </p:sp>
      <p:sp>
        <p:nvSpPr>
          <p:cNvPr id="8" name="Rectangle 7"/>
          <p:cNvSpPr/>
          <p:nvPr/>
        </p:nvSpPr>
        <p:spPr>
          <a:xfrm>
            <a:off x="566928" y="3310128"/>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310128"/>
            <a:ext cx="10948111" cy="457200"/>
          </a:xfrm>
          <a:prstGeom prst="rect">
            <a:avLst/>
          </a:prstGeom>
          <a:noFill/>
        </p:spPr>
        <p:txBody>
          <a:bodyPr wrap="square" lIns="0" rIns="0" tIns="0" bIns="0" anchor="t">
            <a:spAutoFit/>
          </a:bodyPr>
          <a:lstStyle/>
          <a:p>
            <a:pPr algn="l"/>
            <a:r>
              <a:rPr sz="1250" b="0">
                <a:solidFill>
                  <a:srgbClr val="A8B6C6"/>
                </a:solidFill>
                <a:latin typeface="Barlow"/>
              </a:rPr>
              <a:t>An undocumented accepted finding is not accepted. It is forgotten — and it will be rediscovered at the worst possible moment.</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43 / 88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6095847"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Tests are your instruments</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4EC3E0"/>
                </a:solidFill>
                <a:latin typeface="Barlow"/>
              </a:rPr>
              <a:t>◆  </a:t>
            </a:r>
            <a:r>
              <a:rPr sz="1600" b="0" i="0">
                <a:solidFill>
                  <a:srgbClr val="EAF0F6"/>
                </a:solidFill>
                <a:latin typeface="Barlow"/>
              </a:rPr>
              <a:t>Clicking through the site is VFR — fine in daylight, useless at night and in cloud.</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A functional test boots an actual TYPO3 and runs your code against the real core.</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That is the difference: every other tool in this talk READS your code. Tests RUN it.</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No tests? Then a smoke checklist before you depart — not after it breaks.</a:t>
            </a:r>
          </a:p>
        </p:txBody>
      </p:sp>
      <p:sp>
        <p:nvSpPr>
          <p:cNvPr id="8" name="Rectangle 7"/>
          <p:cNvSpPr/>
          <p:nvPr/>
        </p:nvSpPr>
        <p:spPr>
          <a:xfrm>
            <a:off x="566928" y="3401568"/>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Instruments do not stop turbulence. They tell you which way is up while it happens.</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44 / 88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6234389"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Every line your tests execute is a line the core can warn you about.</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Deprecations are raised at runtime. Removed API fails at runtime. A line of code no test ever executes is a line no tool can warn you about — until an editor executes it in production.</a:t>
            </a:r>
          </a:p>
        </p:txBody>
      </p:sp>
      <p:sp>
        <p:nvSpPr>
          <p:cNvPr id="6" name="Rectangle 5"/>
          <p:cNvSpPr/>
          <p:nvPr/>
        </p:nvSpPr>
        <p:spPr>
          <a:xfrm>
            <a:off x="566928" y="4572000"/>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This is why coverage is not a code-quality nicety during an upgrade. It is the difference between finding things in week one and finding them on the night.</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45 / 88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6372931"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852208"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852208" cy="201168"/>
          </a:xfrm>
          <a:prstGeom prst="rect">
            <a:avLst/>
          </a:prstGeom>
          <a:noFill/>
        </p:spPr>
        <p:txBody>
          <a:bodyPr wrap="square" lIns="0" rIns="0" tIns="0" bIns="0" anchor="t">
            <a:spAutoFit/>
          </a:bodyPr>
          <a:lstStyle/>
          <a:p>
            <a:pPr algn="l"/>
            <a:r>
              <a:rPr sz="1100" b="1">
                <a:solidFill>
                  <a:srgbClr val="0B1016"/>
                </a:solidFill>
                <a:latin typeface="Barlow Condensed"/>
              </a:rPr>
              <a:t>PHASE 1 · COVERAGE</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Reading the code vs running it</a:t>
            </a:r>
          </a:p>
        </p:txBody>
      </p:sp>
      <p:sp>
        <p:nvSpPr>
          <p:cNvPr id="7" name="Rectangle 6"/>
          <p:cNvSpPr/>
          <p:nvPr/>
        </p:nvSpPr>
        <p:spPr>
          <a:xfrm>
            <a:off x="566928" y="159105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91056"/>
            <a:ext cx="5346039" cy="4064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8" y="184708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Static analysis — reads</a:t>
            </a:r>
          </a:p>
        </p:txBody>
      </p:sp>
      <p:sp>
        <p:nvSpPr>
          <p:cNvPr id="10" name="TextBox 9"/>
          <p:cNvSpPr txBox="1"/>
          <p:nvPr/>
        </p:nvSpPr>
        <p:spPr>
          <a:xfrm>
            <a:off x="795528" y="2304288"/>
            <a:ext cx="4888839" cy="1463040"/>
          </a:xfrm>
          <a:prstGeom prst="rect">
            <a:avLst/>
          </a:prstGeom>
          <a:noFill/>
        </p:spPr>
        <p:txBody>
          <a:bodyPr wrap="square" lIns="0" rIns="0" tIns="0" bIns="0" anchor="t">
            <a:spAutoFit/>
          </a:bodyPr>
          <a:lstStyle/>
          <a:p>
            <a:pPr algn="l">
              <a:lnSpc>
                <a:spcPct val="112000"/>
              </a:lnSpc>
            </a:pPr>
            <a:r>
              <a:rPr sz="1300" b="0" i="0">
                <a:solidFill>
                  <a:srgbClr val="FFB020"/>
                </a:solidFill>
                <a:latin typeface="Barlow"/>
              </a:rPr>
              <a:t>◆  </a:t>
            </a:r>
            <a:r>
              <a:rPr sz="1300" b="0" i="0">
                <a:solidFill>
                  <a:srgbClr val="EAF0F6"/>
                </a:solidFill>
                <a:latin typeface="Barlow"/>
              </a:rPr>
              <a:t>Extension Scanner, Rector, Fractor, PHPStan</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Limited to a fixed list of known patterns</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Cannot resolve dynamic calls or string class names</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Never sees your TCA, TypoScript or data as the core sees them</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Fast, cheap, runs on every commit</a:t>
            </a:r>
          </a:p>
        </p:txBody>
      </p:sp>
      <p:sp>
        <p:nvSpPr>
          <p:cNvPr id="11" name="Rectangle 10"/>
          <p:cNvSpPr/>
          <p:nvPr/>
        </p:nvSpPr>
        <p:spPr>
          <a:xfrm>
            <a:off x="6278727" y="159105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8727" y="1591056"/>
            <a:ext cx="5346039"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07327" y="184708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Tests — run</a:t>
            </a:r>
          </a:p>
        </p:txBody>
      </p:sp>
      <p:sp>
        <p:nvSpPr>
          <p:cNvPr id="14" name="TextBox 13"/>
          <p:cNvSpPr txBox="1"/>
          <p:nvPr/>
        </p:nvSpPr>
        <p:spPr>
          <a:xfrm>
            <a:off x="6507327" y="2304288"/>
            <a:ext cx="4888839" cy="1463040"/>
          </a:xfrm>
          <a:prstGeom prst="rect">
            <a:avLst/>
          </a:prstGeom>
          <a:noFill/>
        </p:spPr>
        <p:txBody>
          <a:bodyPr wrap="square" lIns="0" rIns="0" tIns="0" bIns="0" anchor="t">
            <a:spAutoFit/>
          </a:bodyPr>
          <a:lstStyle/>
          <a:p>
            <a:pPr algn="l">
              <a:lnSpc>
                <a:spcPct val="112000"/>
              </a:lnSpc>
            </a:pPr>
            <a:r>
              <a:rPr sz="1300" b="0" i="0">
                <a:solidFill>
                  <a:srgbClr val="3FCF8E"/>
                </a:solidFill>
                <a:latin typeface="Barlow"/>
              </a:rPr>
              <a:t>◆  </a:t>
            </a:r>
            <a:r>
              <a:rPr sz="1300" b="0" i="0">
                <a:solidFill>
                  <a:srgbClr val="EAF0F6"/>
                </a:solidFill>
                <a:latin typeface="Barlow"/>
              </a:rPr>
              <a:t>The real core, the real bootstrap, a real database</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Whatever your code actually does, including the dynamic parts</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Catches changed defaults and changed rendering</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Reports the core's own deprecation text, verbatim</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Slower, and the only layer that executes anything</a:t>
            </a:r>
          </a:p>
        </p:txBody>
      </p:sp>
      <p:sp>
        <p:nvSpPr>
          <p:cNvPr id="15" name="Rectangle 14"/>
          <p:cNvSpPr/>
          <p:nvPr/>
        </p:nvSpPr>
        <p:spPr>
          <a:xfrm>
            <a:off x="566928" y="4105656"/>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76656" y="4105656"/>
            <a:ext cx="10948111" cy="457200"/>
          </a:xfrm>
          <a:prstGeom prst="rect">
            <a:avLst/>
          </a:prstGeom>
          <a:noFill/>
        </p:spPr>
        <p:txBody>
          <a:bodyPr wrap="square" lIns="0" rIns="0" tIns="0" bIns="0" anchor="t">
            <a:spAutoFit/>
          </a:bodyPr>
          <a:lstStyle/>
          <a:p>
            <a:pPr algn="l"/>
            <a:r>
              <a:rPr sz="1250" b="0">
                <a:solidFill>
                  <a:srgbClr val="A8B6C6"/>
                </a:solidFill>
                <a:latin typeface="Barlow"/>
              </a:rPr>
              <a:t>You need both. Static analysis narrows the search; tests prove the result.</a:t>
            </a:r>
          </a:p>
        </p:txBody>
      </p:sp>
      <p:sp>
        <p:nvSpPr>
          <p:cNvPr id="17" name="TextBox 1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8" name="TextBox 1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46 / 88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6511473"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852208"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852208" cy="201168"/>
          </a:xfrm>
          <a:prstGeom prst="rect">
            <a:avLst/>
          </a:prstGeom>
          <a:noFill/>
        </p:spPr>
        <p:txBody>
          <a:bodyPr wrap="square" lIns="0" rIns="0" tIns="0" bIns="0" anchor="t">
            <a:spAutoFit/>
          </a:bodyPr>
          <a:lstStyle/>
          <a:p>
            <a:pPr algn="l"/>
            <a:r>
              <a:rPr sz="1100" b="1">
                <a:solidFill>
                  <a:srgbClr val="0B1016"/>
                </a:solidFill>
                <a:latin typeface="Barlow Condensed"/>
              </a:rPr>
              <a:t>PHASE 1 · COVERAGE</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Cover what touches the core</a:t>
            </a:r>
          </a:p>
        </p:txBody>
      </p:sp>
      <p:sp>
        <p:nvSpPr>
          <p:cNvPr id="7" name="Rectangle 6"/>
          <p:cNvSpPr/>
          <p:nvPr/>
        </p:nvSpPr>
        <p:spPr>
          <a:xfrm>
            <a:off x="566928" y="159105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159105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Services and repositories</a:t>
            </a:r>
          </a:p>
        </p:txBody>
      </p:sp>
      <p:sp>
        <p:nvSpPr>
          <p:cNvPr id="9" name="TextBox 8"/>
          <p:cNvSpPr txBox="1"/>
          <p:nvPr/>
        </p:nvSpPr>
        <p:spPr>
          <a:xfrm>
            <a:off x="704088" y="1837944"/>
            <a:ext cx="5025999" cy="658368"/>
          </a:xfrm>
          <a:prstGeom prst="rect">
            <a:avLst/>
          </a:prstGeom>
          <a:noFill/>
        </p:spPr>
        <p:txBody>
          <a:bodyPr wrap="square" lIns="0" rIns="0" tIns="0" bIns="0" anchor="t">
            <a:spAutoFit/>
          </a:bodyPr>
          <a:lstStyle/>
          <a:p>
            <a:pPr algn="l"/>
            <a:r>
              <a:rPr sz="1050" b="0">
                <a:solidFill>
                  <a:srgbClr val="A8B6C6"/>
                </a:solidFill>
                <a:latin typeface="Barlow"/>
              </a:rPr>
              <a:t>Anything calling QueryBuilder, FAL, links, language or context. This is where removed API hides.</a:t>
            </a:r>
          </a:p>
        </p:txBody>
      </p:sp>
      <p:sp>
        <p:nvSpPr>
          <p:cNvPr id="10" name="Rectangle 9"/>
          <p:cNvSpPr/>
          <p:nvPr/>
        </p:nvSpPr>
        <p:spPr>
          <a:xfrm>
            <a:off x="6370167" y="159105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07327" y="159105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Plugins and controllers</a:t>
            </a:r>
          </a:p>
        </p:txBody>
      </p:sp>
      <p:sp>
        <p:nvSpPr>
          <p:cNvPr id="12" name="TextBox 11"/>
          <p:cNvSpPr txBox="1"/>
          <p:nvPr/>
        </p:nvSpPr>
        <p:spPr>
          <a:xfrm>
            <a:off x="6507327" y="1837944"/>
            <a:ext cx="5025999" cy="658368"/>
          </a:xfrm>
          <a:prstGeom prst="rect">
            <a:avLst/>
          </a:prstGeom>
          <a:noFill/>
        </p:spPr>
        <p:txBody>
          <a:bodyPr wrap="square" lIns="0" rIns="0" tIns="0" bIns="0" anchor="t">
            <a:spAutoFit/>
          </a:bodyPr>
          <a:lstStyle/>
          <a:p>
            <a:pPr algn="l"/>
            <a:r>
              <a:rPr sz="1050" b="0">
                <a:solidFill>
                  <a:srgbClr val="A8B6C6"/>
                </a:solidFill>
                <a:latin typeface="Barlow"/>
              </a:rPr>
              <a:t>One functional request per plugin. Registration, routing and TypoScript all change between majors — and a plugin that stops rendering is silent.</a:t>
            </a:r>
          </a:p>
        </p:txBody>
      </p:sp>
      <p:sp>
        <p:nvSpPr>
          <p:cNvPr id="13" name="Rectangle 12"/>
          <p:cNvSpPr/>
          <p:nvPr/>
        </p:nvSpPr>
        <p:spPr>
          <a:xfrm>
            <a:off x="566928" y="264261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04088" y="264261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ViewHelpers and templates</a:t>
            </a:r>
          </a:p>
        </p:txBody>
      </p:sp>
      <p:sp>
        <p:nvSpPr>
          <p:cNvPr id="15" name="TextBox 14"/>
          <p:cNvSpPr txBox="1"/>
          <p:nvPr/>
        </p:nvSpPr>
        <p:spPr>
          <a:xfrm>
            <a:off x="704088" y="2889504"/>
            <a:ext cx="5025999" cy="658368"/>
          </a:xfrm>
          <a:prstGeom prst="rect">
            <a:avLst/>
          </a:prstGeom>
          <a:noFill/>
        </p:spPr>
        <p:txBody>
          <a:bodyPr wrap="square" lIns="0" rIns="0" tIns="0" bIns="0" anchor="t">
            <a:spAutoFit/>
          </a:bodyPr>
          <a:lstStyle/>
          <a:p>
            <a:pPr algn="l"/>
            <a:r>
              <a:rPr sz="1050" b="0">
                <a:solidFill>
                  <a:srgbClr val="A8B6C6"/>
                </a:solidFill>
                <a:latin typeface="Barlow"/>
              </a:rPr>
              <a:t>Fluid changes quietly. A render test costs minutes and catches silent output changes.</a:t>
            </a:r>
          </a:p>
        </p:txBody>
      </p:sp>
      <p:sp>
        <p:nvSpPr>
          <p:cNvPr id="16" name="Rectangle 15"/>
          <p:cNvSpPr/>
          <p:nvPr/>
        </p:nvSpPr>
        <p:spPr>
          <a:xfrm>
            <a:off x="6370167" y="264261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07327" y="264261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Event listeners, hooks and middleware</a:t>
            </a:r>
          </a:p>
        </p:txBody>
      </p:sp>
      <p:sp>
        <p:nvSpPr>
          <p:cNvPr id="18" name="TextBox 17"/>
          <p:cNvSpPr txBox="1"/>
          <p:nvPr/>
        </p:nvSpPr>
        <p:spPr>
          <a:xfrm>
            <a:off x="6507327" y="2889504"/>
            <a:ext cx="5025999" cy="658368"/>
          </a:xfrm>
          <a:prstGeom prst="rect">
            <a:avLst/>
          </a:prstGeom>
          <a:noFill/>
        </p:spPr>
        <p:txBody>
          <a:bodyPr wrap="square" lIns="0" rIns="0" tIns="0" bIns="0" anchor="t">
            <a:spAutoFit/>
          </a:bodyPr>
          <a:lstStyle/>
          <a:p>
            <a:pPr algn="l"/>
            <a:r>
              <a:rPr sz="1050" b="0">
                <a:solidFill>
                  <a:srgbClr val="A8B6C6"/>
                </a:solidFill>
                <a:latin typeface="Barlow"/>
              </a:rPr>
              <a:t>Registration APIs move. A test proves yours is still called at all.</a:t>
            </a:r>
          </a:p>
        </p:txBody>
      </p:sp>
      <p:sp>
        <p:nvSpPr>
          <p:cNvPr id="19" name="Rectangle 18"/>
          <p:cNvSpPr/>
          <p:nvPr/>
        </p:nvSpPr>
        <p:spPr>
          <a:xfrm>
            <a:off x="566928" y="369417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4088" y="369417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TCA and FlexForms</a:t>
            </a:r>
          </a:p>
        </p:txBody>
      </p:sp>
      <p:sp>
        <p:nvSpPr>
          <p:cNvPr id="21" name="TextBox 20"/>
          <p:cNvSpPr txBox="1"/>
          <p:nvPr/>
        </p:nvSpPr>
        <p:spPr>
          <a:xfrm>
            <a:off x="704088" y="3941064"/>
            <a:ext cx="5025999" cy="658368"/>
          </a:xfrm>
          <a:prstGeom prst="rect">
            <a:avLst/>
          </a:prstGeom>
          <a:noFill/>
        </p:spPr>
        <p:txBody>
          <a:bodyPr wrap="square" lIns="0" rIns="0" tIns="0" bIns="0" anchor="t">
            <a:spAutoFit/>
          </a:bodyPr>
          <a:lstStyle/>
          <a:p>
            <a:pPr algn="l"/>
            <a:r>
              <a:rPr sz="1050" b="0">
                <a:solidFill>
                  <a:srgbClr val="A8B6C6"/>
                </a:solidFill>
                <a:latin typeface="Barlow"/>
              </a:rPr>
              <a:t>A test that only boots is already enough — the core reports its own migrations for you.</a:t>
            </a:r>
          </a:p>
        </p:txBody>
      </p:sp>
      <p:sp>
        <p:nvSpPr>
          <p:cNvPr id="22" name="Rectangle 21"/>
          <p:cNvSpPr/>
          <p:nvPr/>
        </p:nvSpPr>
        <p:spPr>
          <a:xfrm>
            <a:off x="6370167" y="3694176"/>
            <a:ext cx="31750" cy="90525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07327" y="3694176"/>
            <a:ext cx="5025999" cy="256032"/>
          </a:xfrm>
          <a:prstGeom prst="rect">
            <a:avLst/>
          </a:prstGeom>
          <a:noFill/>
        </p:spPr>
        <p:txBody>
          <a:bodyPr wrap="square" lIns="0" rIns="0" tIns="0" bIns="0" anchor="t">
            <a:spAutoFit/>
          </a:bodyPr>
          <a:lstStyle/>
          <a:p>
            <a:pPr algn="l"/>
            <a:r>
              <a:rPr sz="1400" b="1">
                <a:solidFill>
                  <a:srgbClr val="EAF0F6"/>
                </a:solidFill>
                <a:latin typeface="Barlow Condensed"/>
              </a:rPr>
              <a:t>Commands and scheduler tasks</a:t>
            </a:r>
          </a:p>
        </p:txBody>
      </p:sp>
      <p:sp>
        <p:nvSpPr>
          <p:cNvPr id="24" name="TextBox 23"/>
          <p:cNvSpPr txBox="1"/>
          <p:nvPr/>
        </p:nvSpPr>
        <p:spPr>
          <a:xfrm>
            <a:off x="6507327" y="3941064"/>
            <a:ext cx="5025999" cy="658368"/>
          </a:xfrm>
          <a:prstGeom prst="rect">
            <a:avLst/>
          </a:prstGeom>
          <a:noFill/>
        </p:spPr>
        <p:txBody>
          <a:bodyPr wrap="square" lIns="0" rIns="0" tIns="0" bIns="0" anchor="t">
            <a:spAutoFit/>
          </a:bodyPr>
          <a:lstStyle/>
          <a:p>
            <a:pPr algn="l"/>
            <a:r>
              <a:rPr sz="1050" b="0">
                <a:solidFill>
                  <a:srgbClr val="A8B6C6"/>
                </a:solidFill>
                <a:latin typeface="Barlow"/>
              </a:rPr>
              <a:t>Nobody clicks these during a smoke test. They break in the night, unattended.</a:t>
            </a:r>
          </a:p>
        </p:txBody>
      </p:sp>
      <p:sp>
        <p:nvSpPr>
          <p:cNvPr id="25" name="Rectangle 24"/>
          <p:cNvSpPr/>
          <p:nvPr/>
        </p:nvSpPr>
        <p:spPr>
          <a:xfrm>
            <a:off x="566928" y="4855464"/>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76656" y="4855464"/>
            <a:ext cx="10948111" cy="457200"/>
          </a:xfrm>
          <a:prstGeom prst="rect">
            <a:avLst/>
          </a:prstGeom>
          <a:noFill/>
        </p:spPr>
        <p:txBody>
          <a:bodyPr wrap="square" lIns="0" rIns="0" tIns="0" bIns="0" anchor="t">
            <a:spAutoFit/>
          </a:bodyPr>
          <a:lstStyle/>
          <a:p>
            <a:pPr algn="l"/>
            <a:r>
              <a:rPr sz="1250" b="0">
                <a:solidFill>
                  <a:srgbClr val="A8B6C6"/>
                </a:solidFill>
                <a:latin typeface="Barlow"/>
              </a:rPr>
              <a:t>Rule of thumb: if it calls TYPO3 API, one functional test that executes it pays for itself at every single upgrade — forever.</a:t>
            </a:r>
          </a:p>
        </p:txBody>
      </p:sp>
      <p:sp>
        <p:nvSpPr>
          <p:cNvPr id="27" name="TextBox 2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8" name="TextBox 2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47 / 88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6650015"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852208"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852208" cy="201168"/>
          </a:xfrm>
          <a:prstGeom prst="rect">
            <a:avLst/>
          </a:prstGeom>
          <a:noFill/>
        </p:spPr>
        <p:txBody>
          <a:bodyPr wrap="square" lIns="0" rIns="0" tIns="0" bIns="0" anchor="t">
            <a:spAutoFit/>
          </a:bodyPr>
          <a:lstStyle/>
          <a:p>
            <a:pPr algn="l"/>
            <a:r>
              <a:rPr sz="1100" b="1">
                <a:solidFill>
                  <a:srgbClr val="0B1016"/>
                </a:solidFill>
                <a:latin typeface="Barlow Condensed"/>
              </a:rPr>
              <a:t>PHASE 1 · COVERAGE</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What each kind of problem looks like in a test run</a:t>
            </a:r>
          </a:p>
        </p:txBody>
      </p:sp>
      <p:sp>
        <p:nvSpPr>
          <p:cNvPr id="7" name="Rectangle 6"/>
          <p:cNvSpPr/>
          <p:nvPr/>
        </p:nvSpPr>
        <p:spPr>
          <a:xfrm>
            <a:off x="566928" y="149961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499616"/>
            <a:ext cx="5346039" cy="406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8" y="175564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Breaking change</a:t>
            </a:r>
          </a:p>
        </p:txBody>
      </p:sp>
      <p:sp>
        <p:nvSpPr>
          <p:cNvPr id="10" name="TextBox 9"/>
          <p:cNvSpPr txBox="1"/>
          <p:nvPr/>
        </p:nvSpPr>
        <p:spPr>
          <a:xfrm>
            <a:off x="795528" y="2212848"/>
            <a:ext cx="4888839" cy="1463040"/>
          </a:xfrm>
          <a:prstGeom prst="rect">
            <a:avLst/>
          </a:prstGeom>
          <a:noFill/>
        </p:spPr>
        <p:txBody>
          <a:bodyPr wrap="square" lIns="0" rIns="0" tIns="0" bIns="0" anchor="t">
            <a:spAutoFit/>
          </a:bodyPr>
          <a:lstStyle/>
          <a:p>
            <a:pPr algn="l">
              <a:lnSpc>
                <a:spcPct val="112000"/>
              </a:lnSpc>
            </a:pPr>
            <a:r>
              <a:rPr sz="1300" b="0" i="0">
                <a:solidFill>
                  <a:srgbClr val="E5484D"/>
                </a:solidFill>
                <a:latin typeface="Barlow"/>
              </a:rPr>
              <a:t>◆  </a:t>
            </a:r>
            <a:r>
              <a:rPr sz="1300" b="0" i="0">
                <a:solidFill>
                  <a:srgbClr val="EAF0F6"/>
                </a:solidFill>
                <a:latin typeface="Barlow"/>
              </a:rPr>
              <a:t>The API is gone — the code cannot run at all</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PHPUnit reports an ERROR, with file and line</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Call to undefined method QueryBuilder::execute()</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Urgency: now. It cannot run on the new version.</a:t>
            </a:r>
          </a:p>
        </p:txBody>
      </p:sp>
      <p:sp>
        <p:nvSpPr>
          <p:cNvPr id="11" name="Rectangle 10"/>
          <p:cNvSpPr/>
          <p:nvPr/>
        </p:nvSpPr>
        <p:spPr>
          <a:xfrm>
            <a:off x="6278727" y="149961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8727" y="1499616"/>
            <a:ext cx="5346039" cy="4064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07327" y="175564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Deprecation</a:t>
            </a:r>
          </a:p>
        </p:txBody>
      </p:sp>
      <p:sp>
        <p:nvSpPr>
          <p:cNvPr id="14" name="TextBox 13"/>
          <p:cNvSpPr txBox="1"/>
          <p:nvPr/>
        </p:nvSpPr>
        <p:spPr>
          <a:xfrm>
            <a:off x="6507327" y="2212848"/>
            <a:ext cx="4888839" cy="1463040"/>
          </a:xfrm>
          <a:prstGeom prst="rect">
            <a:avLst/>
          </a:prstGeom>
          <a:noFill/>
        </p:spPr>
        <p:txBody>
          <a:bodyPr wrap="square" lIns="0" rIns="0" tIns="0" bIns="0" anchor="t">
            <a:spAutoFit/>
          </a:bodyPr>
          <a:lstStyle/>
          <a:p>
            <a:pPr algn="l">
              <a:lnSpc>
                <a:spcPct val="112000"/>
              </a:lnSpc>
            </a:pPr>
            <a:r>
              <a:rPr sz="1300" b="0" i="0">
                <a:solidFill>
                  <a:srgbClr val="FFB020"/>
                </a:solidFill>
                <a:latin typeface="Barlow"/>
              </a:rPr>
              <a:t>◆  </a:t>
            </a:r>
            <a:r>
              <a:rPr sz="1300" b="0" i="0">
                <a:solidFill>
                  <a:srgbClr val="EAF0F6"/>
                </a:solidFill>
                <a:latin typeface="Barlow"/>
              </a:rPr>
              <a:t>Still works — the core raises E_USER_DEPRECATED</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failOnDeprecation turns it into a build failure</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The message contains the migration instruction</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Urgency: before the next major. On your schedule.</a:t>
            </a:r>
          </a:p>
        </p:txBody>
      </p:sp>
      <p:sp>
        <p:nvSpPr>
          <p:cNvPr id="15" name="Rectangle 14"/>
          <p:cNvSpPr/>
          <p:nvPr/>
        </p:nvSpPr>
        <p:spPr>
          <a:xfrm>
            <a:off x="566928" y="4014216"/>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76656" y="4014216"/>
            <a:ext cx="10948111" cy="457200"/>
          </a:xfrm>
          <a:prstGeom prst="rect">
            <a:avLst/>
          </a:prstGeom>
          <a:noFill/>
        </p:spPr>
        <p:txBody>
          <a:bodyPr wrap="square" lIns="0" rIns="0" tIns="0" bIns="0" anchor="t">
            <a:spAutoFit/>
          </a:bodyPr>
          <a:lstStyle/>
          <a:p>
            <a:pPr algn="l"/>
            <a:r>
              <a:rPr sz="1250" b="0">
                <a:solidFill>
                  <a:srgbClr val="A8B6C6"/>
                </a:solidFill>
                <a:latin typeface="Barlow"/>
              </a:rPr>
              <a:t>One test run separates “must fix to boot” from “must fix before the next flight” — and hands you the migration text for both.</a:t>
            </a:r>
          </a:p>
        </p:txBody>
      </p:sp>
      <p:sp>
        <p:nvSpPr>
          <p:cNvPr id="17" name="TextBox 1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8" name="TextBox 1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48 / 88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6788557"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Write the QRH</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Quick Reference Handbook — the prepared answer to the expected failure</a:t>
            </a:r>
          </a:p>
        </p:txBody>
      </p:sp>
      <p:sp>
        <p:nvSpPr>
          <p:cNvPr id="8" name="TextBox 7"/>
          <p:cNvSpPr txBox="1"/>
          <p:nvPr/>
        </p:nvSpPr>
        <p:spPr>
          <a:xfrm>
            <a:off x="566928" y="1975104"/>
            <a:ext cx="3840480" cy="201168"/>
          </a:xfrm>
          <a:prstGeom prst="rect">
            <a:avLst/>
          </a:prstGeom>
          <a:noFill/>
        </p:spPr>
        <p:txBody>
          <a:bodyPr wrap="square" lIns="0" rIns="0" tIns="0" bIns="0" anchor="t">
            <a:spAutoFit/>
          </a:bodyPr>
          <a:lstStyle/>
          <a:p>
            <a:pPr algn="l"/>
            <a:r>
              <a:rPr sz="900" b="0">
                <a:solidFill>
                  <a:srgbClr val="6F8093"/>
                </a:solidFill>
                <a:latin typeface="IBM Plex Mono"/>
              </a:rPr>
              <a:t>WHEN THIS HAPPENS</a:t>
            </a:r>
          </a:p>
        </p:txBody>
      </p:sp>
      <p:sp>
        <p:nvSpPr>
          <p:cNvPr id="9" name="TextBox 8"/>
          <p:cNvSpPr txBox="1"/>
          <p:nvPr/>
        </p:nvSpPr>
        <p:spPr>
          <a:xfrm>
            <a:off x="4498848" y="1975104"/>
            <a:ext cx="4206240" cy="201168"/>
          </a:xfrm>
          <a:prstGeom prst="rect">
            <a:avLst/>
          </a:prstGeom>
          <a:noFill/>
        </p:spPr>
        <p:txBody>
          <a:bodyPr wrap="square" lIns="0" rIns="0" tIns="0" bIns="0" anchor="t">
            <a:spAutoFit/>
          </a:bodyPr>
          <a:lstStyle/>
          <a:p>
            <a:pPr algn="l"/>
            <a:r>
              <a:rPr sz="900" b="0">
                <a:solidFill>
                  <a:srgbClr val="6F8093"/>
                </a:solidFill>
                <a:latin typeface="IBM Plex Mono"/>
              </a:rPr>
              <a:t>DO THIS</a:t>
            </a:r>
          </a:p>
        </p:txBody>
      </p:sp>
      <p:sp>
        <p:nvSpPr>
          <p:cNvPr id="10" name="TextBox 9"/>
          <p:cNvSpPr txBox="1"/>
          <p:nvPr/>
        </p:nvSpPr>
        <p:spPr>
          <a:xfrm>
            <a:off x="9430207" y="1975104"/>
            <a:ext cx="2194560" cy="201168"/>
          </a:xfrm>
          <a:prstGeom prst="rect">
            <a:avLst/>
          </a:prstGeom>
          <a:noFill/>
        </p:spPr>
        <p:txBody>
          <a:bodyPr wrap="square" lIns="0" rIns="0" tIns="0" bIns="0" anchor="t">
            <a:spAutoFit/>
          </a:bodyPr>
          <a:lstStyle/>
          <a:p>
            <a:pPr algn="r"/>
            <a:r>
              <a:rPr sz="900" b="0">
                <a:solidFill>
                  <a:srgbClr val="6F8093"/>
                </a:solidFill>
                <a:latin typeface="IBM Plex Mono"/>
              </a:rPr>
              <a:t>REFERENCE</a:t>
            </a:r>
          </a:p>
        </p:txBody>
      </p:sp>
      <p:sp>
        <p:nvSpPr>
          <p:cNvPr id="11" name="TextBox 10"/>
          <p:cNvSpPr txBox="1"/>
          <p:nvPr/>
        </p:nvSpPr>
        <p:spPr>
          <a:xfrm>
            <a:off x="566928" y="2249424"/>
            <a:ext cx="3840480" cy="365760"/>
          </a:xfrm>
          <a:prstGeom prst="rect">
            <a:avLst/>
          </a:prstGeom>
          <a:noFill/>
        </p:spPr>
        <p:txBody>
          <a:bodyPr wrap="square" lIns="0" rIns="0" tIns="0" bIns="0" anchor="t">
            <a:spAutoFit/>
          </a:bodyPr>
          <a:lstStyle/>
          <a:p>
            <a:pPr algn="l"/>
            <a:r>
              <a:rPr sz="1050" b="0">
                <a:solidFill>
                  <a:srgbClr val="E5484D"/>
                </a:solidFill>
                <a:latin typeface="IBM Plex Mono"/>
              </a:rPr>
              <a:t>Class not found: ObjectManager</a:t>
            </a:r>
          </a:p>
        </p:txBody>
      </p:sp>
      <p:sp>
        <p:nvSpPr>
          <p:cNvPr id="12" name="TextBox 11"/>
          <p:cNvSpPr txBox="1"/>
          <p:nvPr/>
        </p:nvSpPr>
        <p:spPr>
          <a:xfrm>
            <a:off x="4498848" y="2249424"/>
            <a:ext cx="4206240" cy="365760"/>
          </a:xfrm>
          <a:prstGeom prst="rect">
            <a:avLst/>
          </a:prstGeom>
          <a:noFill/>
        </p:spPr>
        <p:txBody>
          <a:bodyPr wrap="square" lIns="0" rIns="0" tIns="0" bIns="0" anchor="t">
            <a:spAutoFit/>
          </a:bodyPr>
          <a:lstStyle/>
          <a:p>
            <a:pPr algn="l"/>
            <a:r>
              <a:rPr sz="1200" b="0">
                <a:solidFill>
                  <a:srgbClr val="EAF0F6"/>
                </a:solidFill>
                <a:latin typeface="Barlow"/>
              </a:rPr>
              <a:t>Removed in v12 — inject dependencies via constructor</a:t>
            </a:r>
          </a:p>
        </p:txBody>
      </p:sp>
      <p:sp>
        <p:nvSpPr>
          <p:cNvPr id="13" name="TextBox 12"/>
          <p:cNvSpPr txBox="1"/>
          <p:nvPr/>
        </p:nvSpPr>
        <p:spPr>
          <a:xfrm>
            <a:off x="9430207" y="2249424"/>
            <a:ext cx="2194560" cy="274320"/>
          </a:xfrm>
          <a:prstGeom prst="rect">
            <a:avLst/>
          </a:prstGeom>
          <a:noFill/>
        </p:spPr>
        <p:txBody>
          <a:bodyPr wrap="square" lIns="0" rIns="0" tIns="0" bIns="0" anchor="t">
            <a:spAutoFit/>
          </a:bodyPr>
          <a:lstStyle/>
          <a:p>
            <a:pPr algn="r"/>
            <a:r>
              <a:rPr sz="1000" b="0">
                <a:solidFill>
                  <a:srgbClr val="FFB020"/>
                </a:solidFill>
                <a:latin typeface="IBM Plex Mono"/>
              </a:rPr>
              <a:t>Breaking #96107</a:t>
            </a:r>
          </a:p>
        </p:txBody>
      </p:sp>
      <p:sp>
        <p:nvSpPr>
          <p:cNvPr id="14" name="Rectangle 13"/>
          <p:cNvSpPr/>
          <p:nvPr/>
        </p:nvSpPr>
        <p:spPr>
          <a:xfrm>
            <a:off x="566928" y="2615184"/>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2706624"/>
            <a:ext cx="3840480" cy="365760"/>
          </a:xfrm>
          <a:prstGeom prst="rect">
            <a:avLst/>
          </a:prstGeom>
          <a:noFill/>
        </p:spPr>
        <p:txBody>
          <a:bodyPr wrap="square" lIns="0" rIns="0" tIns="0" bIns="0" anchor="t">
            <a:spAutoFit/>
          </a:bodyPr>
          <a:lstStyle/>
          <a:p>
            <a:pPr algn="l"/>
            <a:r>
              <a:rPr sz="1050" b="0">
                <a:solidFill>
                  <a:srgbClr val="E5484D"/>
                </a:solidFill>
                <a:latin typeface="IBM Plex Mono"/>
              </a:rPr>
              <a:t>Call to undefined method QueryBuilder::execute()</a:t>
            </a:r>
          </a:p>
        </p:txBody>
      </p:sp>
      <p:sp>
        <p:nvSpPr>
          <p:cNvPr id="16" name="TextBox 15"/>
          <p:cNvSpPr txBox="1"/>
          <p:nvPr/>
        </p:nvSpPr>
        <p:spPr>
          <a:xfrm>
            <a:off x="4498848" y="2706624"/>
            <a:ext cx="4206240" cy="365760"/>
          </a:xfrm>
          <a:prstGeom prst="rect">
            <a:avLst/>
          </a:prstGeom>
          <a:noFill/>
        </p:spPr>
        <p:txBody>
          <a:bodyPr wrap="square" lIns="0" rIns="0" tIns="0" bIns="0" anchor="t">
            <a:spAutoFit/>
          </a:bodyPr>
          <a:lstStyle/>
          <a:p>
            <a:pPr algn="l"/>
            <a:r>
              <a:rPr sz="1200" b="0">
                <a:solidFill>
                  <a:srgbClr val="EAF0F6"/>
                </a:solidFill>
                <a:latin typeface="Barlow"/>
              </a:rPr>
              <a:t>executeQuery() / executeStatement()</a:t>
            </a:r>
          </a:p>
        </p:txBody>
      </p:sp>
      <p:sp>
        <p:nvSpPr>
          <p:cNvPr id="17" name="TextBox 16"/>
          <p:cNvSpPr txBox="1"/>
          <p:nvPr/>
        </p:nvSpPr>
        <p:spPr>
          <a:xfrm>
            <a:off x="9430207" y="2706624"/>
            <a:ext cx="2194560" cy="274320"/>
          </a:xfrm>
          <a:prstGeom prst="rect">
            <a:avLst/>
          </a:prstGeom>
          <a:noFill/>
        </p:spPr>
        <p:txBody>
          <a:bodyPr wrap="square" lIns="0" rIns="0" tIns="0" bIns="0" anchor="t">
            <a:spAutoFit/>
          </a:bodyPr>
          <a:lstStyle/>
          <a:p>
            <a:pPr algn="r"/>
            <a:r>
              <a:rPr sz="1000" b="0">
                <a:solidFill>
                  <a:srgbClr val="FFB020"/>
                </a:solidFill>
                <a:latin typeface="IBM Plex Mono"/>
              </a:rPr>
              <a:t>Deprecation #96972</a:t>
            </a:r>
          </a:p>
        </p:txBody>
      </p:sp>
      <p:sp>
        <p:nvSpPr>
          <p:cNvPr id="18" name="Rectangle 17"/>
          <p:cNvSpPr/>
          <p:nvPr/>
        </p:nvSpPr>
        <p:spPr>
          <a:xfrm>
            <a:off x="566928" y="3072384"/>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66928" y="3163824"/>
            <a:ext cx="3840480" cy="365760"/>
          </a:xfrm>
          <a:prstGeom prst="rect">
            <a:avLst/>
          </a:prstGeom>
          <a:noFill/>
        </p:spPr>
        <p:txBody>
          <a:bodyPr wrap="square" lIns="0" rIns="0" tIns="0" bIns="0" anchor="t">
            <a:spAutoFit/>
          </a:bodyPr>
          <a:lstStyle/>
          <a:p>
            <a:pPr algn="l"/>
            <a:r>
              <a:rPr sz="1050" b="0">
                <a:solidFill>
                  <a:srgbClr val="E5484D"/>
                </a:solidFill>
                <a:latin typeface="IBM Plex Mono"/>
              </a:rPr>
              <a:t>FlashMessage severity type error</a:t>
            </a:r>
          </a:p>
        </p:txBody>
      </p:sp>
      <p:sp>
        <p:nvSpPr>
          <p:cNvPr id="20" name="TextBox 19"/>
          <p:cNvSpPr txBox="1"/>
          <p:nvPr/>
        </p:nvSpPr>
        <p:spPr>
          <a:xfrm>
            <a:off x="4498848" y="3163824"/>
            <a:ext cx="4206240" cy="365760"/>
          </a:xfrm>
          <a:prstGeom prst="rect">
            <a:avLst/>
          </a:prstGeom>
          <a:noFill/>
        </p:spPr>
        <p:txBody>
          <a:bodyPr wrap="square" lIns="0" rIns="0" tIns="0" bIns="0" anchor="t">
            <a:spAutoFit/>
          </a:bodyPr>
          <a:lstStyle/>
          <a:p>
            <a:pPr algn="l"/>
            <a:r>
              <a:rPr sz="1200" b="0">
                <a:solidFill>
                  <a:srgbClr val="EAF0F6"/>
                </a:solidFill>
                <a:latin typeface="Barlow"/>
              </a:rPr>
              <a:t>ContextualFeedbackSeverity enum</a:t>
            </a:r>
          </a:p>
        </p:txBody>
      </p:sp>
      <p:sp>
        <p:nvSpPr>
          <p:cNvPr id="21" name="TextBox 20"/>
          <p:cNvSpPr txBox="1"/>
          <p:nvPr/>
        </p:nvSpPr>
        <p:spPr>
          <a:xfrm>
            <a:off x="9430207" y="3163824"/>
            <a:ext cx="2194560" cy="274320"/>
          </a:xfrm>
          <a:prstGeom prst="rect">
            <a:avLst/>
          </a:prstGeom>
          <a:noFill/>
        </p:spPr>
        <p:txBody>
          <a:bodyPr wrap="square" lIns="0" rIns="0" tIns="0" bIns="0" anchor="t">
            <a:spAutoFit/>
          </a:bodyPr>
          <a:lstStyle/>
          <a:p>
            <a:pPr algn="r"/>
            <a:r>
              <a:rPr sz="1000" b="0">
                <a:solidFill>
                  <a:srgbClr val="FFB020"/>
                </a:solidFill>
                <a:latin typeface="IBM Plex Mono"/>
              </a:rPr>
              <a:t>Deprecation #97787</a:t>
            </a:r>
          </a:p>
        </p:txBody>
      </p:sp>
      <p:sp>
        <p:nvSpPr>
          <p:cNvPr id="22" name="Rectangle 21"/>
          <p:cNvSpPr/>
          <p:nvPr/>
        </p:nvSpPr>
        <p:spPr>
          <a:xfrm>
            <a:off x="566928" y="3529584"/>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66928" y="3621024"/>
            <a:ext cx="3840480" cy="365760"/>
          </a:xfrm>
          <a:prstGeom prst="rect">
            <a:avLst/>
          </a:prstGeom>
          <a:noFill/>
        </p:spPr>
        <p:txBody>
          <a:bodyPr wrap="square" lIns="0" rIns="0" tIns="0" bIns="0" anchor="t">
            <a:spAutoFit/>
          </a:bodyPr>
          <a:lstStyle/>
          <a:p>
            <a:pPr algn="l"/>
            <a:r>
              <a:rPr sz="1050" b="0">
                <a:solidFill>
                  <a:srgbClr val="E5484D"/>
                </a:solidFill>
                <a:latin typeface="IBM Plex Mono"/>
              </a:rPr>
              <a:t>TypoScript condition never matches</a:t>
            </a:r>
          </a:p>
        </p:txBody>
      </p:sp>
      <p:sp>
        <p:nvSpPr>
          <p:cNvPr id="24" name="TextBox 23"/>
          <p:cNvSpPr txBox="1"/>
          <p:nvPr/>
        </p:nvSpPr>
        <p:spPr>
          <a:xfrm>
            <a:off x="4498848" y="3621024"/>
            <a:ext cx="4206240" cy="365760"/>
          </a:xfrm>
          <a:prstGeom prst="rect">
            <a:avLst/>
          </a:prstGeom>
          <a:noFill/>
        </p:spPr>
        <p:txBody>
          <a:bodyPr wrap="square" lIns="0" rIns="0" tIns="0" bIns="0" anchor="t">
            <a:spAutoFit/>
          </a:bodyPr>
          <a:lstStyle/>
          <a:p>
            <a:pPr algn="l"/>
            <a:r>
              <a:rPr sz="1200" b="0">
                <a:solidFill>
                  <a:srgbClr val="EAF0F6"/>
                </a:solidFill>
                <a:latin typeface="Barlow"/>
              </a:rPr>
              <a:t>[loginUser()] / [usergroup()] gone — use frontend.user / backend.user</a:t>
            </a:r>
          </a:p>
        </p:txBody>
      </p:sp>
      <p:sp>
        <p:nvSpPr>
          <p:cNvPr id="25" name="TextBox 24"/>
          <p:cNvSpPr txBox="1"/>
          <p:nvPr/>
        </p:nvSpPr>
        <p:spPr>
          <a:xfrm>
            <a:off x="9430207" y="3621024"/>
            <a:ext cx="2194560" cy="274320"/>
          </a:xfrm>
          <a:prstGeom prst="rect">
            <a:avLst/>
          </a:prstGeom>
          <a:noFill/>
        </p:spPr>
        <p:txBody>
          <a:bodyPr wrap="square" lIns="0" rIns="0" tIns="0" bIns="0" anchor="t">
            <a:spAutoFit/>
          </a:bodyPr>
          <a:lstStyle/>
          <a:p>
            <a:pPr algn="r"/>
            <a:r>
              <a:rPr sz="1000" b="0">
                <a:solidFill>
                  <a:srgbClr val="FFB020"/>
                </a:solidFill>
                <a:latin typeface="IBM Plex Mono"/>
              </a:rPr>
              <a:t>Deprecation #100349</a:t>
            </a:r>
          </a:p>
        </p:txBody>
      </p:sp>
      <p:sp>
        <p:nvSpPr>
          <p:cNvPr id="26" name="Rectangle 25"/>
          <p:cNvSpPr/>
          <p:nvPr/>
        </p:nvSpPr>
        <p:spPr>
          <a:xfrm>
            <a:off x="566928" y="3986784"/>
            <a:ext cx="1105783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66928" y="4187952"/>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76656" y="4187952"/>
            <a:ext cx="10948111" cy="457200"/>
          </a:xfrm>
          <a:prstGeom prst="rect">
            <a:avLst/>
          </a:prstGeom>
          <a:noFill/>
        </p:spPr>
        <p:txBody>
          <a:bodyPr wrap="square" lIns="0" rIns="0" tIns="0" bIns="0" anchor="t">
            <a:spAutoFit/>
          </a:bodyPr>
          <a:lstStyle/>
          <a:p>
            <a:pPr algn="l"/>
            <a:r>
              <a:rPr sz="1250" b="0">
                <a:solidFill>
                  <a:srgbClr val="A8B6C6"/>
                </a:solidFill>
                <a:latin typeface="Barlow"/>
              </a:rPr>
              <a:t>An error you predicted is a checklist item. The same error unpredicted is an emergency. Same error — different day.</a:t>
            </a:r>
          </a:p>
        </p:txBody>
      </p:sp>
      <p:sp>
        <p:nvSpPr>
          <p:cNvPr id="29" name="TextBox 28"/>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30" name="TextBox 29"/>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49 / 88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6927099"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departure briefing</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4EC3E0"/>
                </a:solidFill>
                <a:latin typeface="Barlow"/>
              </a:rPr>
              <a:t>◆  </a:t>
            </a:r>
            <a:r>
              <a:rPr sz="1600" b="0" i="0">
                <a:solidFill>
                  <a:srgbClr val="EAF0F6"/>
                </a:solidFill>
                <a:latin typeface="Barlow"/>
              </a:rPr>
              <a:t>Say the plan out loud to the people who will fly it with you.</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Who runs which step, in which order, and who watches what.</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What going wrong looks like — concretely, not as a feeling.</a:t>
            </a:r>
          </a:p>
          <a:p>
            <a:pPr algn="l">
              <a:lnSpc>
                <a:spcPct val="112000"/>
              </a:lnSpc>
              <a:spcBef>
                <a:spcPts val="1200"/>
              </a:spcBef>
            </a:pPr>
            <a:r>
              <a:rPr sz="1600" b="0" i="0">
                <a:solidFill>
                  <a:srgbClr val="4EC3E0"/>
                </a:solidFill>
                <a:latin typeface="Barlow"/>
              </a:rPr>
              <a:t>◆  </a:t>
            </a:r>
            <a:r>
              <a:rPr sz="1600" b="0" i="0">
                <a:solidFill>
                  <a:srgbClr val="EAF0F6"/>
                </a:solidFill>
                <a:latin typeface="Barlow"/>
              </a:rPr>
              <a:t>Who is reachable, and who is explicitly not on duty.</a:t>
            </a:r>
          </a:p>
        </p:txBody>
      </p:sp>
      <p:sp>
        <p:nvSpPr>
          <p:cNvPr id="8" name="Rectangle 7"/>
          <p:cNvSpPr/>
          <p:nvPr/>
        </p:nvSpPr>
        <p:spPr>
          <a:xfrm>
            <a:off x="566928" y="3401568"/>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A shared mental map is the reason two pilots are better than one. Two people with different plans are worse than one person with a plan.</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50 / 88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065641" cy="3810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1</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Go / No-Go</a:t>
            </a:r>
          </a:p>
        </p:txBody>
      </p:sp>
      <p:sp>
        <p:nvSpPr>
          <p:cNvPr id="7" name="Rectangle 6"/>
          <p:cNvSpPr/>
          <p:nvPr/>
        </p:nvSpPr>
        <p:spPr>
          <a:xfrm>
            <a:off x="566928" y="1591056"/>
            <a:ext cx="5300319" cy="23774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91056"/>
            <a:ext cx="5300319"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8" y="1792224"/>
            <a:ext cx="5300319" cy="365760"/>
          </a:xfrm>
          <a:prstGeom prst="rect">
            <a:avLst/>
          </a:prstGeom>
          <a:noFill/>
        </p:spPr>
        <p:txBody>
          <a:bodyPr wrap="square" lIns="0" rIns="0" tIns="0" bIns="0" anchor="t">
            <a:spAutoFit/>
          </a:bodyPr>
          <a:lstStyle/>
          <a:p>
            <a:pPr algn="l"/>
            <a:r>
              <a:rPr sz="2400" b="1">
                <a:solidFill>
                  <a:srgbClr val="3FCF8E"/>
                </a:solidFill>
                <a:latin typeface="Barlow Condensed"/>
              </a:rPr>
              <a:t>GO</a:t>
            </a:r>
          </a:p>
        </p:txBody>
      </p:sp>
      <p:sp>
        <p:nvSpPr>
          <p:cNvPr id="10" name="TextBox 9"/>
          <p:cNvSpPr txBox="1"/>
          <p:nvPr/>
        </p:nvSpPr>
        <p:spPr>
          <a:xfrm>
            <a:off x="795528" y="2304288"/>
            <a:ext cx="4843119" cy="1554480"/>
          </a:xfrm>
          <a:prstGeom prst="rect">
            <a:avLst/>
          </a:prstGeom>
          <a:noFill/>
        </p:spPr>
        <p:txBody>
          <a:bodyPr wrap="square" lIns="0" rIns="0" tIns="0" bIns="0" anchor="t">
            <a:spAutoFit/>
          </a:bodyPr>
          <a:lstStyle/>
          <a:p>
            <a:pPr algn="l">
              <a:lnSpc>
                <a:spcPct val="110000"/>
              </a:lnSpc>
            </a:pPr>
            <a:r>
              <a:rPr sz="1250" b="0" i="0">
                <a:solidFill>
                  <a:srgbClr val="3FCF8E"/>
                </a:solidFill>
                <a:latin typeface="Barlow"/>
              </a:rPr>
              <a:t>✓  </a:t>
            </a:r>
            <a:r>
              <a:rPr sz="1250" b="0" i="0">
                <a:solidFill>
                  <a:srgbClr val="EAF0F6"/>
                </a:solidFill>
                <a:latin typeface="Barlow"/>
              </a:rPr>
              <a:t>Strong matches at zero, or on the MEL with a date</a:t>
            </a:r>
          </a:p>
          <a:p>
            <a:pPr algn="l">
              <a:lnSpc>
                <a:spcPct val="110000"/>
              </a:lnSpc>
              <a:spcBef>
                <a:spcPts val="900"/>
              </a:spcBef>
            </a:pPr>
            <a:r>
              <a:rPr sz="1250" b="0" i="0">
                <a:solidFill>
                  <a:srgbClr val="3FCF8E"/>
                </a:solidFill>
                <a:latin typeface="Barlow"/>
              </a:rPr>
              <a:t>✓  </a:t>
            </a:r>
            <a:r>
              <a:rPr sz="1250" b="0" i="0">
                <a:solidFill>
                  <a:srgbClr val="EAF0F6"/>
                </a:solidFill>
                <a:latin typeface="Barlow"/>
              </a:rPr>
              <a:t>All third-party extensions resolved</a:t>
            </a:r>
          </a:p>
          <a:p>
            <a:pPr algn="l">
              <a:lnSpc>
                <a:spcPct val="110000"/>
              </a:lnSpc>
              <a:spcBef>
                <a:spcPts val="900"/>
              </a:spcBef>
            </a:pPr>
            <a:r>
              <a:rPr sz="1250" b="0" i="0">
                <a:solidFill>
                  <a:srgbClr val="3FCF8E"/>
                </a:solidFill>
                <a:latin typeface="Barlow"/>
              </a:rPr>
              <a:t>✓  </a:t>
            </a:r>
            <a:r>
              <a:rPr sz="1250" b="0" i="0">
                <a:solidFill>
                  <a:srgbClr val="EAF0F6"/>
                </a:solidFill>
                <a:latin typeface="Barlow"/>
              </a:rPr>
              <a:t>Backup restored successfully at least once</a:t>
            </a:r>
          </a:p>
          <a:p>
            <a:pPr algn="l">
              <a:lnSpc>
                <a:spcPct val="110000"/>
              </a:lnSpc>
              <a:spcBef>
                <a:spcPts val="900"/>
              </a:spcBef>
            </a:pPr>
            <a:r>
              <a:rPr sz="1250" b="0" i="0">
                <a:solidFill>
                  <a:srgbClr val="3FCF8E"/>
                </a:solidFill>
                <a:latin typeface="Barlow"/>
              </a:rPr>
              <a:t>✓  </a:t>
            </a:r>
            <a:r>
              <a:rPr sz="1250" b="0" i="0">
                <a:solidFill>
                  <a:srgbClr val="EAF0F6"/>
                </a:solidFill>
                <a:latin typeface="Barlow"/>
              </a:rPr>
              <a:t>Rollback criteria written and understood</a:t>
            </a:r>
          </a:p>
          <a:p>
            <a:pPr algn="l">
              <a:lnSpc>
                <a:spcPct val="110000"/>
              </a:lnSpc>
              <a:spcBef>
                <a:spcPts val="900"/>
              </a:spcBef>
            </a:pPr>
            <a:r>
              <a:rPr sz="1250" b="0" i="0">
                <a:solidFill>
                  <a:srgbClr val="3FCF8E"/>
                </a:solidFill>
                <a:latin typeface="Barlow"/>
              </a:rPr>
              <a:t>✓  </a:t>
            </a:r>
            <a:r>
              <a:rPr sz="1250" b="0" i="0">
                <a:solidFill>
                  <a:srgbClr val="EAF0F6"/>
                </a:solidFill>
                <a:latin typeface="Barlow"/>
              </a:rPr>
              <a:t>The window is long enough for the plan plus surprises</a:t>
            </a:r>
          </a:p>
        </p:txBody>
      </p:sp>
      <p:sp>
        <p:nvSpPr>
          <p:cNvPr id="11" name="Rectangle 10"/>
          <p:cNvSpPr/>
          <p:nvPr/>
        </p:nvSpPr>
        <p:spPr>
          <a:xfrm>
            <a:off x="6324447" y="1591056"/>
            <a:ext cx="5300319" cy="23774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324447" y="1591056"/>
            <a:ext cx="5300319" cy="406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53047" y="1792224"/>
            <a:ext cx="5300319" cy="365760"/>
          </a:xfrm>
          <a:prstGeom prst="rect">
            <a:avLst/>
          </a:prstGeom>
          <a:noFill/>
        </p:spPr>
        <p:txBody>
          <a:bodyPr wrap="square" lIns="0" rIns="0" tIns="0" bIns="0" anchor="t">
            <a:spAutoFit/>
          </a:bodyPr>
          <a:lstStyle/>
          <a:p>
            <a:pPr algn="l"/>
            <a:r>
              <a:rPr sz="2400" b="1">
                <a:solidFill>
                  <a:srgbClr val="E5484D"/>
                </a:solidFill>
                <a:latin typeface="Barlow Condensed"/>
              </a:rPr>
              <a:t>NO-GO</a:t>
            </a:r>
          </a:p>
        </p:txBody>
      </p:sp>
      <p:sp>
        <p:nvSpPr>
          <p:cNvPr id="14" name="TextBox 13"/>
          <p:cNvSpPr txBox="1"/>
          <p:nvPr/>
        </p:nvSpPr>
        <p:spPr>
          <a:xfrm>
            <a:off x="6553047" y="2304288"/>
            <a:ext cx="4843119" cy="1554480"/>
          </a:xfrm>
          <a:prstGeom prst="rect">
            <a:avLst/>
          </a:prstGeom>
          <a:noFill/>
        </p:spPr>
        <p:txBody>
          <a:bodyPr wrap="square" lIns="0" rIns="0" tIns="0" bIns="0" anchor="t">
            <a:spAutoFit/>
          </a:bodyPr>
          <a:lstStyle/>
          <a:p>
            <a:pPr algn="l">
              <a:lnSpc>
                <a:spcPct val="110000"/>
              </a:lnSpc>
            </a:pPr>
            <a:r>
              <a:rPr sz="1250" b="0" i="0">
                <a:solidFill>
                  <a:srgbClr val="E5484D"/>
                </a:solidFill>
                <a:latin typeface="Barlow"/>
              </a:rPr>
              <a:t>✕  </a:t>
            </a:r>
            <a:r>
              <a:rPr sz="1250" b="0" i="0">
                <a:solidFill>
                  <a:srgbClr val="EAF0F6"/>
                </a:solidFill>
                <a:latin typeface="Barlow"/>
              </a:rPr>
              <a:t>“We will find out during the upgrade”</a:t>
            </a:r>
          </a:p>
          <a:p>
            <a:pPr algn="l">
              <a:lnSpc>
                <a:spcPct val="110000"/>
              </a:lnSpc>
              <a:spcBef>
                <a:spcPts val="900"/>
              </a:spcBef>
            </a:pPr>
            <a:r>
              <a:rPr sz="1250" b="0" i="0">
                <a:solidFill>
                  <a:srgbClr val="E5484D"/>
                </a:solidFill>
                <a:latin typeface="Barlow"/>
              </a:rPr>
              <a:t>✕  </a:t>
            </a:r>
            <a:r>
              <a:rPr sz="1250" b="0" i="0">
                <a:solidFill>
                  <a:srgbClr val="EAF0F6"/>
                </a:solidFill>
                <a:latin typeface="Barlow"/>
              </a:rPr>
              <a:t>An unowned extension nobody can update</a:t>
            </a:r>
          </a:p>
          <a:p>
            <a:pPr algn="l">
              <a:lnSpc>
                <a:spcPct val="110000"/>
              </a:lnSpc>
              <a:spcBef>
                <a:spcPts val="900"/>
              </a:spcBef>
            </a:pPr>
            <a:r>
              <a:rPr sz="1250" b="0" i="0">
                <a:solidFill>
                  <a:srgbClr val="E5484D"/>
                </a:solidFill>
                <a:latin typeface="Barlow"/>
              </a:rPr>
              <a:t>✕  </a:t>
            </a:r>
            <a:r>
              <a:rPr sz="1250" b="0" i="0">
                <a:solidFill>
                  <a:srgbClr val="EAF0F6"/>
                </a:solidFill>
                <a:latin typeface="Barlow"/>
              </a:rPr>
              <a:t>A backup that has never been restored</a:t>
            </a:r>
          </a:p>
          <a:p>
            <a:pPr algn="l">
              <a:lnSpc>
                <a:spcPct val="110000"/>
              </a:lnSpc>
              <a:spcBef>
                <a:spcPts val="900"/>
              </a:spcBef>
            </a:pPr>
            <a:r>
              <a:rPr sz="1250" b="0" i="0">
                <a:solidFill>
                  <a:srgbClr val="E5484D"/>
                </a:solidFill>
                <a:latin typeface="Barlow"/>
              </a:rPr>
              <a:t>✕  </a:t>
            </a:r>
            <a:r>
              <a:rPr sz="1250" b="0" i="0">
                <a:solidFill>
                  <a:srgbClr val="EAF0F6"/>
                </a:solidFill>
                <a:latin typeface="Barlow"/>
              </a:rPr>
              <a:t>A window that fits only the happy path</a:t>
            </a:r>
          </a:p>
          <a:p>
            <a:pPr algn="l">
              <a:lnSpc>
                <a:spcPct val="110000"/>
              </a:lnSpc>
              <a:spcBef>
                <a:spcPts val="900"/>
              </a:spcBef>
            </a:pPr>
            <a:r>
              <a:rPr sz="1250" b="0" i="0">
                <a:solidFill>
                  <a:srgbClr val="E5484D"/>
                </a:solidFill>
                <a:latin typeface="Barlow"/>
              </a:rPr>
              <a:t>✕  </a:t>
            </a:r>
            <a:r>
              <a:rPr sz="1250" b="0" i="0">
                <a:solidFill>
                  <a:srgbClr val="EAF0F6"/>
                </a:solidFill>
                <a:latin typeface="Barlow"/>
              </a:rPr>
              <a:t>The person who knows the system is on holiday</a:t>
            </a:r>
          </a:p>
        </p:txBody>
      </p:sp>
      <p:sp>
        <p:nvSpPr>
          <p:cNvPr id="15" name="Rectangle 14"/>
          <p:cNvSpPr/>
          <p:nvPr/>
        </p:nvSpPr>
        <p:spPr>
          <a:xfrm>
            <a:off x="566928" y="4151376"/>
            <a:ext cx="31750" cy="384048"/>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76656" y="4151376"/>
            <a:ext cx="10948111" cy="457200"/>
          </a:xfrm>
          <a:prstGeom prst="rect">
            <a:avLst/>
          </a:prstGeom>
          <a:noFill/>
        </p:spPr>
        <p:txBody>
          <a:bodyPr wrap="square" lIns="0" rIns="0" tIns="0" bIns="0" anchor="t">
            <a:spAutoFit/>
          </a:bodyPr>
          <a:lstStyle/>
          <a:p>
            <a:pPr algn="l"/>
            <a:r>
              <a:rPr sz="1250" b="0">
                <a:solidFill>
                  <a:srgbClr val="A8B6C6"/>
                </a:solidFill>
                <a:latin typeface="Barlow"/>
              </a:rPr>
              <a:t>No-Go is a valid, professional outcome. Delaying a flight costs money. The alternative costs more.</a:t>
            </a:r>
          </a:p>
        </p:txBody>
      </p:sp>
      <p:sp>
        <p:nvSpPr>
          <p:cNvPr id="17" name="TextBox 1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8" name="TextBox 1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51 / 88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D141C"/>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204183"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920240"/>
            <a:ext cx="1463040" cy="1463040"/>
          </a:xfrm>
          <a:prstGeom prst="rect">
            <a:avLst/>
          </a:prstGeom>
          <a:noFill/>
        </p:spPr>
        <p:txBody>
          <a:bodyPr wrap="square" lIns="0" rIns="0" tIns="0" bIns="0" anchor="t">
            <a:spAutoFit/>
          </a:bodyPr>
          <a:lstStyle/>
          <a:p>
            <a:pPr algn="ctr"/>
            <a:r>
              <a:rPr sz="9600" b="1">
                <a:solidFill>
                  <a:srgbClr val="FF8700"/>
                </a:solidFill>
                <a:latin typeface="Barlow Condensed"/>
              </a:rPr>
              <a:t>2</a:t>
            </a:r>
          </a:p>
        </p:txBody>
      </p:sp>
      <p:sp>
        <p:nvSpPr>
          <p:cNvPr id="5" name="TextBox 4"/>
          <p:cNvSpPr txBox="1"/>
          <p:nvPr/>
        </p:nvSpPr>
        <p:spPr>
          <a:xfrm>
            <a:off x="2167128" y="2148840"/>
            <a:ext cx="9457639" cy="274320"/>
          </a:xfrm>
          <a:prstGeom prst="rect">
            <a:avLst/>
          </a:prstGeom>
          <a:noFill/>
        </p:spPr>
        <p:txBody>
          <a:bodyPr wrap="square" lIns="0" rIns="0" tIns="0" bIns="0" anchor="t">
            <a:spAutoFit/>
          </a:bodyPr>
          <a:lstStyle/>
          <a:p>
            <a:pPr algn="l"/>
            <a:r>
              <a:rPr sz="1250" b="1">
                <a:solidFill>
                  <a:srgbClr val="FF8700"/>
                </a:solidFill>
                <a:latin typeface="Barlow Condensed"/>
              </a:rPr>
              <a:t>THE UPGRADE WINDOW ITSELF</a:t>
            </a:r>
          </a:p>
        </p:txBody>
      </p:sp>
      <p:sp>
        <p:nvSpPr>
          <p:cNvPr id="6" name="TextBox 5"/>
          <p:cNvSpPr txBox="1"/>
          <p:nvPr/>
        </p:nvSpPr>
        <p:spPr>
          <a:xfrm>
            <a:off x="2167128" y="2514600"/>
            <a:ext cx="9457639" cy="822960"/>
          </a:xfrm>
          <a:prstGeom prst="rect">
            <a:avLst/>
          </a:prstGeom>
          <a:noFill/>
        </p:spPr>
        <p:txBody>
          <a:bodyPr wrap="square" lIns="0" rIns="0" tIns="0" bIns="0" anchor="t">
            <a:spAutoFit/>
          </a:bodyPr>
          <a:lstStyle/>
          <a:p>
            <a:pPr algn="l"/>
            <a:r>
              <a:rPr sz="4800" b="1">
                <a:solidFill>
                  <a:srgbClr val="EAF0F6"/>
                </a:solidFill>
                <a:latin typeface="Barlow Condensed"/>
              </a:rPr>
              <a:t>Take-Off &amp; Cruise</a:t>
            </a:r>
          </a:p>
        </p:txBody>
      </p:sp>
      <p:sp>
        <p:nvSpPr>
          <p:cNvPr id="7" name="TextBox 6"/>
          <p:cNvSpPr txBox="1"/>
          <p:nvPr/>
        </p:nvSpPr>
        <p:spPr>
          <a:xfrm>
            <a:off x="2167128" y="3520440"/>
            <a:ext cx="8771839" cy="640080"/>
          </a:xfrm>
          <a:prstGeom prst="rect">
            <a:avLst/>
          </a:prstGeom>
          <a:noFill/>
        </p:spPr>
        <p:txBody>
          <a:bodyPr wrap="square" lIns="0" rIns="0" tIns="0" bIns="0" anchor="t">
            <a:spAutoFit/>
          </a:bodyPr>
          <a:lstStyle/>
          <a:p>
            <a:pPr algn="l"/>
            <a:r>
              <a:rPr sz="1500" b="0">
                <a:solidFill>
                  <a:srgbClr val="A8B6C6"/>
                </a:solidFill>
                <a:latin typeface="Barlow"/>
              </a:rPr>
              <a:t>Now you fly the plan you wrote. You do not write a new one.</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52 / 88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342725"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2</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Sterile cockpit</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FF8700"/>
                </a:solidFill>
                <a:latin typeface="Barlow"/>
              </a:rPr>
              <a:t>◆  </a:t>
            </a:r>
            <a:r>
              <a:rPr sz="1600" b="0" i="0">
                <a:solidFill>
                  <a:srgbClr val="EAF0F6"/>
                </a:solidFill>
                <a:latin typeface="Barlow"/>
              </a:rPr>
              <a:t>Below 10,000 feet, crews may only discuss what is necessary for the flight.</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No small talk, no paperwork, no non-essential radio calls. It is a rule, not a mood.</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Your equivalent: content freeze, code freeze, deploy freeze — announced in advance.</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“While you are in there anyway, could you also…” — no. That is a separate flight.</a:t>
            </a:r>
          </a:p>
        </p:txBody>
      </p:sp>
      <p:sp>
        <p:nvSpPr>
          <p:cNvPr id="8" name="Rectangle 7"/>
          <p:cNvSpPr/>
          <p:nvPr/>
        </p:nvSpPr>
        <p:spPr>
          <a:xfrm>
            <a:off x="566928" y="3401568"/>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Most upgrade disasters are not caused by the upgrade. They are caused by the third thing someone did during it.</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53 / 88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481267"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2</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Upgrade checklist</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Challenge — Response</a:t>
            </a:r>
          </a:p>
        </p:txBody>
      </p:sp>
      <p:sp>
        <p:nvSpPr>
          <p:cNvPr id="8" name="TextBox 7"/>
          <p:cNvSpPr txBox="1"/>
          <p:nvPr/>
        </p:nvSpPr>
        <p:spPr>
          <a:xfrm>
            <a:off x="566928" y="197510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FREEZE ANNOUNCED</a:t>
            </a:r>
          </a:p>
        </p:txBody>
      </p:sp>
      <p:sp>
        <p:nvSpPr>
          <p:cNvPr id="9" name="TextBox 8"/>
          <p:cNvSpPr txBox="1"/>
          <p:nvPr/>
        </p:nvSpPr>
        <p:spPr>
          <a:xfrm>
            <a:off x="3431811" y="2002536"/>
            <a:ext cx="2343995" cy="237744"/>
          </a:xfrm>
          <a:prstGeom prst="rect">
            <a:avLst/>
          </a:prstGeom>
          <a:noFill/>
        </p:spPr>
        <p:txBody>
          <a:bodyPr wrap="square" lIns="0" rIns="0" tIns="0" bIns="0" anchor="t">
            <a:spAutoFit/>
          </a:bodyPr>
          <a:lstStyle/>
          <a:p>
            <a:pPr algn="r"/>
            <a:r>
              <a:rPr sz="900" b="0">
                <a:solidFill>
                  <a:srgbClr val="3FCF8E"/>
                </a:solidFill>
                <a:latin typeface="IBM Plex Mono"/>
              </a:rPr>
              <a:t>▸ content, code, deploys</a:t>
            </a:r>
          </a:p>
        </p:txBody>
      </p:sp>
      <p:sp>
        <p:nvSpPr>
          <p:cNvPr id="10" name="Rectangle 9"/>
          <p:cNvSpPr/>
          <p:nvPr/>
        </p:nvSpPr>
        <p:spPr>
          <a:xfrm>
            <a:off x="566928" y="220370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66928" y="2313432"/>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BACKUP TAKEN</a:t>
            </a:r>
          </a:p>
        </p:txBody>
      </p:sp>
      <p:sp>
        <p:nvSpPr>
          <p:cNvPr id="12" name="TextBox 11"/>
          <p:cNvSpPr txBox="1"/>
          <p:nvPr/>
        </p:nvSpPr>
        <p:spPr>
          <a:xfrm>
            <a:off x="3431811" y="2340864"/>
            <a:ext cx="2343995" cy="237744"/>
          </a:xfrm>
          <a:prstGeom prst="rect">
            <a:avLst/>
          </a:prstGeom>
          <a:noFill/>
        </p:spPr>
        <p:txBody>
          <a:bodyPr wrap="square" lIns="0" rIns="0" tIns="0" bIns="0" anchor="t">
            <a:spAutoFit/>
          </a:bodyPr>
          <a:lstStyle/>
          <a:p>
            <a:pPr algn="r"/>
            <a:r>
              <a:rPr sz="900" b="0">
                <a:solidFill>
                  <a:srgbClr val="3FCF8E"/>
                </a:solidFill>
                <a:latin typeface="IBM Plex Mono"/>
              </a:rPr>
              <a:t>▸ database and files, verified</a:t>
            </a:r>
          </a:p>
        </p:txBody>
      </p:sp>
      <p:sp>
        <p:nvSpPr>
          <p:cNvPr id="13" name="Rectangle 12"/>
          <p:cNvSpPr/>
          <p:nvPr/>
        </p:nvSpPr>
        <p:spPr>
          <a:xfrm>
            <a:off x="566928" y="2542032"/>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6928" y="2651760"/>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PACKAGES UPGRADED</a:t>
            </a:r>
          </a:p>
        </p:txBody>
      </p:sp>
      <p:sp>
        <p:nvSpPr>
          <p:cNvPr id="15" name="TextBox 14"/>
          <p:cNvSpPr txBox="1"/>
          <p:nvPr/>
        </p:nvSpPr>
        <p:spPr>
          <a:xfrm>
            <a:off x="3431811" y="2679192"/>
            <a:ext cx="2343995" cy="237744"/>
          </a:xfrm>
          <a:prstGeom prst="rect">
            <a:avLst/>
          </a:prstGeom>
          <a:noFill/>
        </p:spPr>
        <p:txBody>
          <a:bodyPr wrap="square" lIns="0" rIns="0" tIns="0" bIns="0" anchor="t">
            <a:spAutoFit/>
          </a:bodyPr>
          <a:lstStyle/>
          <a:p>
            <a:pPr algn="r"/>
            <a:r>
              <a:rPr sz="900" b="0">
                <a:solidFill>
                  <a:srgbClr val="3FCF8E"/>
                </a:solidFill>
                <a:latin typeface="IBM Plex Mono"/>
              </a:rPr>
              <a:t>▸ core and extensions, one transaction</a:t>
            </a:r>
          </a:p>
        </p:txBody>
      </p:sp>
      <p:sp>
        <p:nvSpPr>
          <p:cNvPr id="16" name="Rectangle 15"/>
          <p:cNvSpPr/>
          <p:nvPr/>
        </p:nvSpPr>
        <p:spPr>
          <a:xfrm>
            <a:off x="566928" y="2880360"/>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6928" y="2990088"/>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FRACTOR RUN</a:t>
            </a:r>
          </a:p>
        </p:txBody>
      </p:sp>
      <p:sp>
        <p:nvSpPr>
          <p:cNvPr id="18" name="TextBox 17"/>
          <p:cNvSpPr txBox="1"/>
          <p:nvPr/>
        </p:nvSpPr>
        <p:spPr>
          <a:xfrm>
            <a:off x="3431811" y="3017520"/>
            <a:ext cx="2343995" cy="237744"/>
          </a:xfrm>
          <a:prstGeom prst="rect">
            <a:avLst/>
          </a:prstGeom>
          <a:noFill/>
        </p:spPr>
        <p:txBody>
          <a:bodyPr wrap="square" lIns="0" rIns="0" tIns="0" bIns="0" anchor="t">
            <a:spAutoFit/>
          </a:bodyPr>
          <a:lstStyle/>
          <a:p>
            <a:pPr algn="r"/>
            <a:r>
              <a:rPr sz="900" b="0">
                <a:solidFill>
                  <a:srgbClr val="3FCF8E"/>
                </a:solidFill>
                <a:latin typeface="IBM Plex Mono"/>
              </a:rPr>
              <a:t>▸ AFTER packages — reviewed hunk by hunk</a:t>
            </a:r>
          </a:p>
        </p:txBody>
      </p:sp>
      <p:sp>
        <p:nvSpPr>
          <p:cNvPr id="19" name="Rectangle 18"/>
          <p:cNvSpPr/>
          <p:nvPr/>
        </p:nvSpPr>
        <p:spPr>
          <a:xfrm>
            <a:off x="566928" y="3218688"/>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6928" y="3328416"/>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TCA MIGRATIONS</a:t>
            </a:r>
          </a:p>
        </p:txBody>
      </p:sp>
      <p:sp>
        <p:nvSpPr>
          <p:cNvPr id="21" name="TextBox 20"/>
          <p:cNvSpPr txBox="1"/>
          <p:nvPr/>
        </p:nvSpPr>
        <p:spPr>
          <a:xfrm>
            <a:off x="3431811" y="3355848"/>
            <a:ext cx="2343995" cy="237744"/>
          </a:xfrm>
          <a:prstGeom prst="rect">
            <a:avLst/>
          </a:prstGeom>
          <a:noFill/>
        </p:spPr>
        <p:txBody>
          <a:bodyPr wrap="square" lIns="0" rIns="0" tIns="0" bIns="0" anchor="t">
            <a:spAutoFit/>
          </a:bodyPr>
          <a:lstStyle/>
          <a:p>
            <a:pPr algn="r"/>
            <a:r>
              <a:rPr sz="900" b="0">
                <a:solidFill>
                  <a:srgbClr val="3FCF8E"/>
                </a:solidFill>
                <a:latin typeface="IBM Plex Mono"/>
              </a:rPr>
              <a:t>▸ re-checked on the new core</a:t>
            </a:r>
          </a:p>
        </p:txBody>
      </p:sp>
      <p:sp>
        <p:nvSpPr>
          <p:cNvPr id="22" name="Rectangle 21"/>
          <p:cNvSpPr/>
          <p:nvPr/>
        </p:nvSpPr>
        <p:spPr>
          <a:xfrm>
            <a:off x="566928" y="3557016"/>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66928" y="366674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WIZARDS RUN</a:t>
            </a:r>
          </a:p>
        </p:txBody>
      </p:sp>
      <p:sp>
        <p:nvSpPr>
          <p:cNvPr id="24" name="TextBox 23"/>
          <p:cNvSpPr txBox="1"/>
          <p:nvPr/>
        </p:nvSpPr>
        <p:spPr>
          <a:xfrm>
            <a:off x="3431811" y="3694176"/>
            <a:ext cx="2343995" cy="237744"/>
          </a:xfrm>
          <a:prstGeom prst="rect">
            <a:avLst/>
          </a:prstGeom>
          <a:noFill/>
        </p:spPr>
        <p:txBody>
          <a:bodyPr wrap="square" lIns="0" rIns="0" tIns="0" bIns="0" anchor="t">
            <a:spAutoFit/>
          </a:bodyPr>
          <a:lstStyle/>
          <a:p>
            <a:pPr algn="r"/>
            <a:r>
              <a:rPr sz="900" b="0">
                <a:solidFill>
                  <a:srgbClr val="3FCF8E"/>
                </a:solidFill>
                <a:latin typeface="IBM Plex Mono"/>
              </a:rPr>
              <a:t>▸ listed, executed, verified</a:t>
            </a:r>
          </a:p>
        </p:txBody>
      </p:sp>
      <p:sp>
        <p:nvSpPr>
          <p:cNvPr id="25" name="Rectangle 24"/>
          <p:cNvSpPr/>
          <p:nvPr/>
        </p:nvSpPr>
        <p:spPr>
          <a:xfrm>
            <a:off x="566928" y="389534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66928" y="4005072"/>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SMOKE TEST</a:t>
            </a:r>
          </a:p>
        </p:txBody>
      </p:sp>
      <p:sp>
        <p:nvSpPr>
          <p:cNvPr id="27" name="TextBox 26"/>
          <p:cNvSpPr txBox="1"/>
          <p:nvPr/>
        </p:nvSpPr>
        <p:spPr>
          <a:xfrm>
            <a:off x="3431811" y="4032504"/>
            <a:ext cx="2343995" cy="237744"/>
          </a:xfrm>
          <a:prstGeom prst="rect">
            <a:avLst/>
          </a:prstGeom>
          <a:noFill/>
        </p:spPr>
        <p:txBody>
          <a:bodyPr wrap="square" lIns="0" rIns="0" tIns="0" bIns="0" anchor="t">
            <a:spAutoFit/>
          </a:bodyPr>
          <a:lstStyle/>
          <a:p>
            <a:pPr algn="r"/>
            <a:r>
              <a:rPr sz="900" b="0">
                <a:solidFill>
                  <a:srgbClr val="3FCF8E"/>
                </a:solidFill>
                <a:latin typeface="IBM Plex Mono"/>
              </a:rPr>
              <a:t>▸ frontend and backend, by a human</a:t>
            </a:r>
          </a:p>
        </p:txBody>
      </p:sp>
      <p:sp>
        <p:nvSpPr>
          <p:cNvPr id="28" name="Rectangle 27"/>
          <p:cNvSpPr/>
          <p:nvPr/>
        </p:nvSpPr>
        <p:spPr>
          <a:xfrm>
            <a:off x="566928" y="4233672"/>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15887" y="197510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BRANCH CREATED</a:t>
            </a:r>
          </a:p>
        </p:txBody>
      </p:sp>
      <p:sp>
        <p:nvSpPr>
          <p:cNvPr id="30" name="TextBox 29"/>
          <p:cNvSpPr txBox="1"/>
          <p:nvPr/>
        </p:nvSpPr>
        <p:spPr>
          <a:xfrm>
            <a:off x="9280771" y="2002536"/>
            <a:ext cx="2343995" cy="237744"/>
          </a:xfrm>
          <a:prstGeom prst="rect">
            <a:avLst/>
          </a:prstGeom>
          <a:noFill/>
        </p:spPr>
        <p:txBody>
          <a:bodyPr wrap="square" lIns="0" rIns="0" tIns="0" bIns="0" anchor="t">
            <a:spAutoFit/>
          </a:bodyPr>
          <a:lstStyle/>
          <a:p>
            <a:pPr algn="r"/>
            <a:r>
              <a:rPr sz="900" b="0">
                <a:solidFill>
                  <a:srgbClr val="3FCF8E"/>
                </a:solidFill>
                <a:latin typeface="IBM Plex Mono"/>
              </a:rPr>
              <a:t>▸ everything under version control</a:t>
            </a:r>
          </a:p>
        </p:txBody>
      </p:sp>
      <p:sp>
        <p:nvSpPr>
          <p:cNvPr id="31" name="Rectangle 30"/>
          <p:cNvSpPr/>
          <p:nvPr/>
        </p:nvSpPr>
        <p:spPr>
          <a:xfrm>
            <a:off x="6415887" y="220370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15887" y="2313432"/>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PLATFORM RAISED</a:t>
            </a:r>
          </a:p>
        </p:txBody>
      </p:sp>
      <p:sp>
        <p:nvSpPr>
          <p:cNvPr id="33" name="TextBox 32"/>
          <p:cNvSpPr txBox="1"/>
          <p:nvPr/>
        </p:nvSpPr>
        <p:spPr>
          <a:xfrm>
            <a:off x="9280771" y="2340864"/>
            <a:ext cx="2343995" cy="237744"/>
          </a:xfrm>
          <a:prstGeom prst="rect">
            <a:avLst/>
          </a:prstGeom>
          <a:noFill/>
        </p:spPr>
        <p:txBody>
          <a:bodyPr wrap="square" lIns="0" rIns="0" tIns="0" bIns="0" anchor="t">
            <a:spAutoFit/>
          </a:bodyPr>
          <a:lstStyle/>
          <a:p>
            <a:pPr algn="r"/>
            <a:r>
              <a:rPr sz="900" b="0">
                <a:solidFill>
                  <a:srgbClr val="3FCF8E"/>
                </a:solidFill>
                <a:latin typeface="IBM Plex Mono"/>
              </a:rPr>
              <a:t>▸ PHP and composer platform config</a:t>
            </a:r>
          </a:p>
        </p:txBody>
      </p:sp>
      <p:sp>
        <p:nvSpPr>
          <p:cNvPr id="34" name="Rectangle 33"/>
          <p:cNvSpPr/>
          <p:nvPr/>
        </p:nvSpPr>
        <p:spPr>
          <a:xfrm>
            <a:off x="6415887" y="2542032"/>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15887" y="2651760"/>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RECTOR RUN</a:t>
            </a:r>
          </a:p>
        </p:txBody>
      </p:sp>
      <p:sp>
        <p:nvSpPr>
          <p:cNvPr id="36" name="TextBox 35"/>
          <p:cNvSpPr txBox="1"/>
          <p:nvPr/>
        </p:nvSpPr>
        <p:spPr>
          <a:xfrm>
            <a:off x="9280771" y="2679192"/>
            <a:ext cx="2343995" cy="237744"/>
          </a:xfrm>
          <a:prstGeom prst="rect">
            <a:avLst/>
          </a:prstGeom>
          <a:noFill/>
        </p:spPr>
        <p:txBody>
          <a:bodyPr wrap="square" lIns="0" rIns="0" tIns="0" bIns="0" anchor="t">
            <a:spAutoFit/>
          </a:bodyPr>
          <a:lstStyle/>
          <a:p>
            <a:pPr algn="r"/>
            <a:r>
              <a:rPr sz="900" b="0">
                <a:solidFill>
                  <a:srgbClr val="3FCF8E"/>
                </a:solidFill>
                <a:latin typeface="IBM Plex Mono"/>
              </a:rPr>
              <a:t>▸ AFTER packages — reviewed hunk by hunk</a:t>
            </a:r>
          </a:p>
        </p:txBody>
      </p:sp>
      <p:sp>
        <p:nvSpPr>
          <p:cNvPr id="37" name="Rectangle 36"/>
          <p:cNvSpPr/>
          <p:nvPr/>
        </p:nvSpPr>
        <p:spPr>
          <a:xfrm>
            <a:off x="6415887" y="2880360"/>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15887" y="2990088"/>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EXTENSION SCAN</a:t>
            </a:r>
          </a:p>
        </p:txBody>
      </p:sp>
      <p:sp>
        <p:nvSpPr>
          <p:cNvPr id="39" name="TextBox 38"/>
          <p:cNvSpPr txBox="1"/>
          <p:nvPr/>
        </p:nvSpPr>
        <p:spPr>
          <a:xfrm>
            <a:off x="9280771" y="3017520"/>
            <a:ext cx="2343995" cy="237744"/>
          </a:xfrm>
          <a:prstGeom prst="rect">
            <a:avLst/>
          </a:prstGeom>
          <a:noFill/>
        </p:spPr>
        <p:txBody>
          <a:bodyPr wrap="square" lIns="0" rIns="0" tIns="0" bIns="0" anchor="t">
            <a:spAutoFit/>
          </a:bodyPr>
          <a:lstStyle/>
          <a:p>
            <a:pPr algn="r"/>
            <a:r>
              <a:rPr sz="900" b="0">
                <a:solidFill>
                  <a:srgbClr val="3FCF8E"/>
                </a:solidFill>
                <a:latin typeface="IBM Plex Mono"/>
              </a:rPr>
              <a:t>▸ re-run with the TARGET version's rules</a:t>
            </a:r>
          </a:p>
        </p:txBody>
      </p:sp>
      <p:sp>
        <p:nvSpPr>
          <p:cNvPr id="40" name="Rectangle 39"/>
          <p:cNvSpPr/>
          <p:nvPr/>
        </p:nvSpPr>
        <p:spPr>
          <a:xfrm>
            <a:off x="6415887" y="3218688"/>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15887" y="3328416"/>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SCHEMA UPDATED</a:t>
            </a:r>
          </a:p>
        </p:txBody>
      </p:sp>
      <p:sp>
        <p:nvSpPr>
          <p:cNvPr id="42" name="TextBox 41"/>
          <p:cNvSpPr txBox="1"/>
          <p:nvPr/>
        </p:nvSpPr>
        <p:spPr>
          <a:xfrm>
            <a:off x="9280771" y="3355848"/>
            <a:ext cx="2343995" cy="237744"/>
          </a:xfrm>
          <a:prstGeom prst="rect">
            <a:avLst/>
          </a:prstGeom>
          <a:noFill/>
        </p:spPr>
        <p:txBody>
          <a:bodyPr wrap="square" lIns="0" rIns="0" tIns="0" bIns="0" anchor="t">
            <a:spAutoFit/>
          </a:bodyPr>
          <a:lstStyle/>
          <a:p>
            <a:pPr algn="r"/>
            <a:r>
              <a:rPr sz="900" b="0">
                <a:solidFill>
                  <a:srgbClr val="3FCF8E"/>
                </a:solidFill>
                <a:latin typeface="IBM Plex Mono"/>
              </a:rPr>
              <a:t>▸ database compare, deliberately</a:t>
            </a:r>
          </a:p>
        </p:txBody>
      </p:sp>
      <p:sp>
        <p:nvSpPr>
          <p:cNvPr id="43" name="Rectangle 42"/>
          <p:cNvSpPr/>
          <p:nvPr/>
        </p:nvSpPr>
        <p:spPr>
          <a:xfrm>
            <a:off x="6415887" y="3557016"/>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15887" y="366674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CACHES FLUSHED</a:t>
            </a:r>
          </a:p>
        </p:txBody>
      </p:sp>
      <p:sp>
        <p:nvSpPr>
          <p:cNvPr id="45" name="TextBox 44"/>
          <p:cNvSpPr txBox="1"/>
          <p:nvPr/>
        </p:nvSpPr>
        <p:spPr>
          <a:xfrm>
            <a:off x="9280771" y="3694176"/>
            <a:ext cx="2343995" cy="237744"/>
          </a:xfrm>
          <a:prstGeom prst="rect">
            <a:avLst/>
          </a:prstGeom>
          <a:noFill/>
        </p:spPr>
        <p:txBody>
          <a:bodyPr wrap="square" lIns="0" rIns="0" tIns="0" bIns="0" anchor="t">
            <a:spAutoFit/>
          </a:bodyPr>
          <a:lstStyle/>
          <a:p>
            <a:pPr algn="r"/>
            <a:r>
              <a:rPr sz="900" b="0">
                <a:solidFill>
                  <a:srgbClr val="3FCF8E"/>
                </a:solidFill>
                <a:latin typeface="IBM Plex Mono"/>
              </a:rPr>
              <a:t>▸ and warmed</a:t>
            </a:r>
          </a:p>
        </p:txBody>
      </p:sp>
      <p:sp>
        <p:nvSpPr>
          <p:cNvPr id="46" name="Rectangle 45"/>
          <p:cNvSpPr/>
          <p:nvPr/>
        </p:nvSpPr>
        <p:spPr>
          <a:xfrm>
            <a:off x="6415887" y="389534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48" name="TextBox 4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54 / 88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619809"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2</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order is not a preference</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Do these in this order, or do them twice</a:t>
            </a:r>
          </a:p>
        </p:txBody>
      </p:sp>
      <p:sp>
        <p:nvSpPr>
          <p:cNvPr id="8" name="Rectangle 7"/>
          <p:cNvSpPr/>
          <p:nvPr/>
        </p:nvSpPr>
        <p:spPr>
          <a:xfrm>
            <a:off x="566928" y="1956816"/>
            <a:ext cx="31750" cy="310896"/>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94944" y="1975104"/>
            <a:ext cx="365760" cy="256032"/>
          </a:xfrm>
          <a:prstGeom prst="rect">
            <a:avLst/>
          </a:prstGeom>
          <a:noFill/>
        </p:spPr>
        <p:txBody>
          <a:bodyPr wrap="square" lIns="0" rIns="0" tIns="0" bIns="0" anchor="t">
            <a:spAutoFit/>
          </a:bodyPr>
          <a:lstStyle/>
          <a:p>
            <a:pPr algn="l"/>
            <a:r>
              <a:rPr sz="1400" b="1">
                <a:solidFill>
                  <a:srgbClr val="6F8093"/>
                </a:solidFill>
                <a:latin typeface="Barlow Condensed"/>
              </a:rPr>
              <a:t>1</a:t>
            </a:r>
          </a:p>
        </p:txBody>
      </p:sp>
      <p:sp>
        <p:nvSpPr>
          <p:cNvPr id="10" name="TextBox 9"/>
          <p:cNvSpPr txBox="1"/>
          <p:nvPr/>
        </p:nvSpPr>
        <p:spPr>
          <a:xfrm>
            <a:off x="1115568" y="1975104"/>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Branch</a:t>
            </a:r>
          </a:p>
        </p:txBody>
      </p:sp>
      <p:sp>
        <p:nvSpPr>
          <p:cNvPr id="11" name="TextBox 10"/>
          <p:cNvSpPr txBox="1"/>
          <p:nvPr/>
        </p:nvSpPr>
        <p:spPr>
          <a:xfrm>
            <a:off x="2578608" y="1993392"/>
            <a:ext cx="8954719" cy="256032"/>
          </a:xfrm>
          <a:prstGeom prst="rect">
            <a:avLst/>
          </a:prstGeom>
          <a:noFill/>
        </p:spPr>
        <p:txBody>
          <a:bodyPr wrap="square" lIns="0" rIns="0" tIns="0" bIns="0" anchor="t">
            <a:spAutoFit/>
          </a:bodyPr>
          <a:lstStyle/>
          <a:p>
            <a:pPr algn="l"/>
            <a:r>
              <a:rPr sz="1150" b="0">
                <a:solidFill>
                  <a:srgbClr val="A8B6C6"/>
                </a:solidFill>
                <a:latin typeface="Barlow"/>
              </a:rPr>
              <a:t>git checkout -b upgrade/v13 — everything after this is reversible</a:t>
            </a:r>
          </a:p>
        </p:txBody>
      </p:sp>
      <p:sp>
        <p:nvSpPr>
          <p:cNvPr id="12" name="Rectangle 11"/>
          <p:cNvSpPr/>
          <p:nvPr/>
        </p:nvSpPr>
        <p:spPr>
          <a:xfrm>
            <a:off x="566928" y="2304288"/>
            <a:ext cx="31750" cy="310896"/>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322576"/>
            <a:ext cx="365760" cy="256032"/>
          </a:xfrm>
          <a:prstGeom prst="rect">
            <a:avLst/>
          </a:prstGeom>
          <a:noFill/>
        </p:spPr>
        <p:txBody>
          <a:bodyPr wrap="square" lIns="0" rIns="0" tIns="0" bIns="0" anchor="t">
            <a:spAutoFit/>
          </a:bodyPr>
          <a:lstStyle/>
          <a:p>
            <a:pPr algn="l"/>
            <a:r>
              <a:rPr sz="1400" b="1">
                <a:solidFill>
                  <a:srgbClr val="6F8093"/>
                </a:solidFill>
                <a:latin typeface="Barlow Condensed"/>
              </a:rPr>
              <a:t>2</a:t>
            </a:r>
          </a:p>
        </p:txBody>
      </p:sp>
      <p:sp>
        <p:nvSpPr>
          <p:cNvPr id="14" name="TextBox 13"/>
          <p:cNvSpPr txBox="1"/>
          <p:nvPr/>
        </p:nvSpPr>
        <p:spPr>
          <a:xfrm>
            <a:off x="1115568" y="2322576"/>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Platform</a:t>
            </a:r>
          </a:p>
        </p:txBody>
      </p:sp>
      <p:sp>
        <p:nvSpPr>
          <p:cNvPr id="15" name="TextBox 14"/>
          <p:cNvSpPr txBox="1"/>
          <p:nvPr/>
        </p:nvSpPr>
        <p:spPr>
          <a:xfrm>
            <a:off x="2578608" y="2340864"/>
            <a:ext cx="8954719" cy="256032"/>
          </a:xfrm>
          <a:prstGeom prst="rect">
            <a:avLst/>
          </a:prstGeom>
          <a:noFill/>
        </p:spPr>
        <p:txBody>
          <a:bodyPr wrap="square" lIns="0" rIns="0" tIns="0" bIns="0" anchor="t">
            <a:spAutoFit/>
          </a:bodyPr>
          <a:lstStyle/>
          <a:p>
            <a:pPr algn="l"/>
            <a:r>
              <a:rPr sz="1150" b="0">
                <a:solidFill>
                  <a:srgbClr val="A8B6C6"/>
                </a:solidFill>
                <a:latin typeface="Barlow"/>
              </a:rPr>
              <a:t>PHP version, composer config platform.php, extension constraints</a:t>
            </a:r>
          </a:p>
        </p:txBody>
      </p:sp>
      <p:sp>
        <p:nvSpPr>
          <p:cNvPr id="16" name="Rectangle 15"/>
          <p:cNvSpPr/>
          <p:nvPr/>
        </p:nvSpPr>
        <p:spPr>
          <a:xfrm>
            <a:off x="566928" y="2651760"/>
            <a:ext cx="31750" cy="310896"/>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2670048"/>
            <a:ext cx="365760" cy="256032"/>
          </a:xfrm>
          <a:prstGeom prst="rect">
            <a:avLst/>
          </a:prstGeom>
          <a:noFill/>
        </p:spPr>
        <p:txBody>
          <a:bodyPr wrap="square" lIns="0" rIns="0" tIns="0" bIns="0" anchor="t">
            <a:spAutoFit/>
          </a:bodyPr>
          <a:lstStyle/>
          <a:p>
            <a:pPr algn="l"/>
            <a:r>
              <a:rPr sz="1400" b="1">
                <a:solidFill>
                  <a:srgbClr val="6F8093"/>
                </a:solidFill>
                <a:latin typeface="Barlow Condensed"/>
              </a:rPr>
              <a:t>3</a:t>
            </a:r>
          </a:p>
        </p:txBody>
      </p:sp>
      <p:sp>
        <p:nvSpPr>
          <p:cNvPr id="18" name="TextBox 17"/>
          <p:cNvSpPr txBox="1"/>
          <p:nvPr/>
        </p:nvSpPr>
        <p:spPr>
          <a:xfrm>
            <a:off x="1115568" y="2670048"/>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Packages</a:t>
            </a:r>
          </a:p>
        </p:txBody>
      </p:sp>
      <p:sp>
        <p:nvSpPr>
          <p:cNvPr id="19" name="TextBox 18"/>
          <p:cNvSpPr txBox="1"/>
          <p:nvPr/>
        </p:nvSpPr>
        <p:spPr>
          <a:xfrm>
            <a:off x="2578608" y="2688336"/>
            <a:ext cx="8954719" cy="256032"/>
          </a:xfrm>
          <a:prstGeom prst="rect">
            <a:avLst/>
          </a:prstGeom>
          <a:noFill/>
        </p:spPr>
        <p:txBody>
          <a:bodyPr wrap="square" lIns="0" rIns="0" tIns="0" bIns="0" anchor="t">
            <a:spAutoFit/>
          </a:bodyPr>
          <a:lstStyle/>
          <a:p>
            <a:pPr algn="l"/>
            <a:r>
              <a:rPr sz="1150" b="0">
                <a:solidFill>
                  <a:srgbClr val="A8B6C6"/>
                </a:solidFill>
                <a:latin typeface="Barlow"/>
              </a:rPr>
              <a:t>composer update -W — the core and all extensions move together</a:t>
            </a:r>
          </a:p>
        </p:txBody>
      </p:sp>
      <p:sp>
        <p:nvSpPr>
          <p:cNvPr id="20" name="Rectangle 19"/>
          <p:cNvSpPr/>
          <p:nvPr/>
        </p:nvSpPr>
        <p:spPr>
          <a:xfrm>
            <a:off x="566928" y="2999232"/>
            <a:ext cx="11057839" cy="310896"/>
          </a:xfrm>
          <a:prstGeom prst="rect">
            <a:avLst/>
          </a:prstGeom>
          <a:solidFill>
            <a:srgbClr val="281E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66928" y="2999232"/>
            <a:ext cx="31750" cy="310896"/>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4944" y="3017520"/>
            <a:ext cx="365760" cy="256032"/>
          </a:xfrm>
          <a:prstGeom prst="rect">
            <a:avLst/>
          </a:prstGeom>
          <a:noFill/>
        </p:spPr>
        <p:txBody>
          <a:bodyPr wrap="square" lIns="0" rIns="0" tIns="0" bIns="0" anchor="t">
            <a:spAutoFit/>
          </a:bodyPr>
          <a:lstStyle/>
          <a:p>
            <a:pPr algn="l"/>
            <a:r>
              <a:rPr sz="1400" b="1">
                <a:solidFill>
                  <a:srgbClr val="FF8700"/>
                </a:solidFill>
                <a:latin typeface="Barlow Condensed"/>
              </a:rPr>
              <a:t>4</a:t>
            </a:r>
          </a:p>
        </p:txBody>
      </p:sp>
      <p:sp>
        <p:nvSpPr>
          <p:cNvPr id="23" name="TextBox 22"/>
          <p:cNvSpPr txBox="1"/>
          <p:nvPr/>
        </p:nvSpPr>
        <p:spPr>
          <a:xfrm>
            <a:off x="1115568" y="3017520"/>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Rector</a:t>
            </a:r>
          </a:p>
        </p:txBody>
      </p:sp>
      <p:sp>
        <p:nvSpPr>
          <p:cNvPr id="24" name="TextBox 23"/>
          <p:cNvSpPr txBox="1"/>
          <p:nvPr/>
        </p:nvSpPr>
        <p:spPr>
          <a:xfrm>
            <a:off x="2578608" y="3035808"/>
            <a:ext cx="8954719" cy="256032"/>
          </a:xfrm>
          <a:prstGeom prst="rect">
            <a:avLst/>
          </a:prstGeom>
          <a:noFill/>
        </p:spPr>
        <p:txBody>
          <a:bodyPr wrap="square" lIns="0" rIns="0" tIns="0" bIns="0" anchor="t">
            <a:spAutoFit/>
          </a:bodyPr>
          <a:lstStyle/>
          <a:p>
            <a:pPr algn="l"/>
            <a:r>
              <a:rPr sz="1150" b="0">
                <a:solidFill>
                  <a:srgbClr val="A8B6C6"/>
                </a:solidFill>
                <a:latin typeface="Barlow"/>
              </a:rPr>
              <a:t>Now the new rule sets and the new code are both on disk</a:t>
            </a:r>
          </a:p>
        </p:txBody>
      </p:sp>
      <p:sp>
        <p:nvSpPr>
          <p:cNvPr id="25" name="Rectangle 24"/>
          <p:cNvSpPr/>
          <p:nvPr/>
        </p:nvSpPr>
        <p:spPr>
          <a:xfrm>
            <a:off x="566928" y="3346704"/>
            <a:ext cx="11057839" cy="310896"/>
          </a:xfrm>
          <a:prstGeom prst="rect">
            <a:avLst/>
          </a:prstGeom>
          <a:solidFill>
            <a:srgbClr val="281E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566928" y="3346704"/>
            <a:ext cx="31750" cy="310896"/>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94944" y="3364992"/>
            <a:ext cx="365760" cy="256032"/>
          </a:xfrm>
          <a:prstGeom prst="rect">
            <a:avLst/>
          </a:prstGeom>
          <a:noFill/>
        </p:spPr>
        <p:txBody>
          <a:bodyPr wrap="square" lIns="0" rIns="0" tIns="0" bIns="0" anchor="t">
            <a:spAutoFit/>
          </a:bodyPr>
          <a:lstStyle/>
          <a:p>
            <a:pPr algn="l"/>
            <a:r>
              <a:rPr sz="1400" b="1">
                <a:solidFill>
                  <a:srgbClr val="FF8700"/>
                </a:solidFill>
                <a:latin typeface="Barlow Condensed"/>
              </a:rPr>
              <a:t>5</a:t>
            </a:r>
          </a:p>
        </p:txBody>
      </p:sp>
      <p:sp>
        <p:nvSpPr>
          <p:cNvPr id="28" name="TextBox 27"/>
          <p:cNvSpPr txBox="1"/>
          <p:nvPr/>
        </p:nvSpPr>
        <p:spPr>
          <a:xfrm>
            <a:off x="1115568" y="3364992"/>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Fractor</a:t>
            </a:r>
          </a:p>
        </p:txBody>
      </p:sp>
      <p:sp>
        <p:nvSpPr>
          <p:cNvPr id="29" name="TextBox 28"/>
          <p:cNvSpPr txBox="1"/>
          <p:nvPr/>
        </p:nvSpPr>
        <p:spPr>
          <a:xfrm>
            <a:off x="2578608" y="3383280"/>
            <a:ext cx="8954719" cy="256032"/>
          </a:xfrm>
          <a:prstGeom prst="rect">
            <a:avLst/>
          </a:prstGeom>
          <a:noFill/>
        </p:spPr>
        <p:txBody>
          <a:bodyPr wrap="square" lIns="0" rIns="0" tIns="0" bIns="0" anchor="t">
            <a:spAutoFit/>
          </a:bodyPr>
          <a:lstStyle/>
          <a:p>
            <a:pPr algn="l"/>
            <a:r>
              <a:rPr sz="1150" b="0">
                <a:solidFill>
                  <a:srgbClr val="A8B6C6"/>
                </a:solidFill>
                <a:latin typeface="Barlow"/>
              </a:rPr>
              <a:t>TypoScript, Fluid, YAML — the half Rector never sees</a:t>
            </a:r>
          </a:p>
        </p:txBody>
      </p:sp>
      <p:sp>
        <p:nvSpPr>
          <p:cNvPr id="30" name="Rectangle 29"/>
          <p:cNvSpPr/>
          <p:nvPr/>
        </p:nvSpPr>
        <p:spPr>
          <a:xfrm>
            <a:off x="566928" y="3694176"/>
            <a:ext cx="31750" cy="310896"/>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94944" y="3712464"/>
            <a:ext cx="365760" cy="256032"/>
          </a:xfrm>
          <a:prstGeom prst="rect">
            <a:avLst/>
          </a:prstGeom>
          <a:noFill/>
        </p:spPr>
        <p:txBody>
          <a:bodyPr wrap="square" lIns="0" rIns="0" tIns="0" bIns="0" anchor="t">
            <a:spAutoFit/>
          </a:bodyPr>
          <a:lstStyle/>
          <a:p>
            <a:pPr algn="l"/>
            <a:r>
              <a:rPr sz="1400" b="1">
                <a:solidFill>
                  <a:srgbClr val="6F8093"/>
                </a:solidFill>
                <a:latin typeface="Barlow Condensed"/>
              </a:rPr>
              <a:t>6</a:t>
            </a:r>
          </a:p>
        </p:txBody>
      </p:sp>
      <p:sp>
        <p:nvSpPr>
          <p:cNvPr id="32" name="TextBox 31"/>
          <p:cNvSpPr txBox="1"/>
          <p:nvPr/>
        </p:nvSpPr>
        <p:spPr>
          <a:xfrm>
            <a:off x="1115568" y="3712464"/>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Scan</a:t>
            </a:r>
          </a:p>
        </p:txBody>
      </p:sp>
      <p:sp>
        <p:nvSpPr>
          <p:cNvPr id="33" name="TextBox 32"/>
          <p:cNvSpPr txBox="1"/>
          <p:nvPr/>
        </p:nvSpPr>
        <p:spPr>
          <a:xfrm>
            <a:off x="2578608" y="3730752"/>
            <a:ext cx="8954719" cy="256032"/>
          </a:xfrm>
          <a:prstGeom prst="rect">
            <a:avLst/>
          </a:prstGeom>
          <a:noFill/>
        </p:spPr>
        <p:txBody>
          <a:bodyPr wrap="square" lIns="0" rIns="0" tIns="0" bIns="0" anchor="t">
            <a:spAutoFit/>
          </a:bodyPr>
          <a:lstStyle/>
          <a:p>
            <a:pPr algn="l"/>
            <a:r>
              <a:rPr sz="1150" b="0">
                <a:solidFill>
                  <a:srgbClr val="A8B6C6"/>
                </a:solidFill>
                <a:latin typeface="Barlow"/>
              </a:rPr>
              <a:t>Extension Scanner AND the TCA migration check — both now carry the target rules</a:t>
            </a:r>
          </a:p>
        </p:txBody>
      </p:sp>
      <p:sp>
        <p:nvSpPr>
          <p:cNvPr id="34" name="Rectangle 33"/>
          <p:cNvSpPr/>
          <p:nvPr/>
        </p:nvSpPr>
        <p:spPr>
          <a:xfrm>
            <a:off x="566928" y="4041648"/>
            <a:ext cx="31750" cy="310896"/>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4944" y="4059936"/>
            <a:ext cx="365760" cy="256032"/>
          </a:xfrm>
          <a:prstGeom prst="rect">
            <a:avLst/>
          </a:prstGeom>
          <a:noFill/>
        </p:spPr>
        <p:txBody>
          <a:bodyPr wrap="square" lIns="0" rIns="0" tIns="0" bIns="0" anchor="t">
            <a:spAutoFit/>
          </a:bodyPr>
          <a:lstStyle/>
          <a:p>
            <a:pPr algn="l"/>
            <a:r>
              <a:rPr sz="1400" b="1">
                <a:solidFill>
                  <a:srgbClr val="6F8093"/>
                </a:solidFill>
                <a:latin typeface="Barlow Condensed"/>
              </a:rPr>
              <a:t>7</a:t>
            </a:r>
          </a:p>
        </p:txBody>
      </p:sp>
      <p:sp>
        <p:nvSpPr>
          <p:cNvPr id="36" name="TextBox 35"/>
          <p:cNvSpPr txBox="1"/>
          <p:nvPr/>
        </p:nvSpPr>
        <p:spPr>
          <a:xfrm>
            <a:off x="1115568" y="4059936"/>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Schema</a:t>
            </a:r>
          </a:p>
        </p:txBody>
      </p:sp>
      <p:sp>
        <p:nvSpPr>
          <p:cNvPr id="37" name="TextBox 36"/>
          <p:cNvSpPr txBox="1"/>
          <p:nvPr/>
        </p:nvSpPr>
        <p:spPr>
          <a:xfrm>
            <a:off x="2578608" y="4078224"/>
            <a:ext cx="8954719" cy="256032"/>
          </a:xfrm>
          <a:prstGeom prst="rect">
            <a:avLst/>
          </a:prstGeom>
          <a:noFill/>
        </p:spPr>
        <p:txBody>
          <a:bodyPr wrap="square" lIns="0" rIns="0" tIns="0" bIns="0" anchor="t">
            <a:spAutoFit/>
          </a:bodyPr>
          <a:lstStyle/>
          <a:p>
            <a:pPr algn="l"/>
            <a:r>
              <a:rPr sz="1150" b="0">
                <a:solidFill>
                  <a:srgbClr val="A8B6C6"/>
                </a:solidFill>
                <a:latin typeface="Barlow"/>
              </a:rPr>
              <a:t>extension:setup and the database compare — the point of no return</a:t>
            </a:r>
          </a:p>
        </p:txBody>
      </p:sp>
      <p:sp>
        <p:nvSpPr>
          <p:cNvPr id="38" name="Rectangle 37"/>
          <p:cNvSpPr/>
          <p:nvPr/>
        </p:nvSpPr>
        <p:spPr>
          <a:xfrm>
            <a:off x="566928" y="4389120"/>
            <a:ext cx="31750" cy="310896"/>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94944" y="4407408"/>
            <a:ext cx="365760" cy="256032"/>
          </a:xfrm>
          <a:prstGeom prst="rect">
            <a:avLst/>
          </a:prstGeom>
          <a:noFill/>
        </p:spPr>
        <p:txBody>
          <a:bodyPr wrap="square" lIns="0" rIns="0" tIns="0" bIns="0" anchor="t">
            <a:spAutoFit/>
          </a:bodyPr>
          <a:lstStyle/>
          <a:p>
            <a:pPr algn="l"/>
            <a:r>
              <a:rPr sz="1400" b="1">
                <a:solidFill>
                  <a:srgbClr val="6F8093"/>
                </a:solidFill>
                <a:latin typeface="Barlow Condensed"/>
              </a:rPr>
              <a:t>8</a:t>
            </a:r>
          </a:p>
        </p:txBody>
      </p:sp>
      <p:sp>
        <p:nvSpPr>
          <p:cNvPr id="40" name="TextBox 39"/>
          <p:cNvSpPr txBox="1"/>
          <p:nvPr/>
        </p:nvSpPr>
        <p:spPr>
          <a:xfrm>
            <a:off x="1115568" y="4407408"/>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Wizards</a:t>
            </a:r>
          </a:p>
        </p:txBody>
      </p:sp>
      <p:sp>
        <p:nvSpPr>
          <p:cNvPr id="41" name="TextBox 40"/>
          <p:cNvSpPr txBox="1"/>
          <p:nvPr/>
        </p:nvSpPr>
        <p:spPr>
          <a:xfrm>
            <a:off x="2578608" y="4425696"/>
            <a:ext cx="8954719" cy="256032"/>
          </a:xfrm>
          <a:prstGeom prst="rect">
            <a:avLst/>
          </a:prstGeom>
          <a:noFill/>
        </p:spPr>
        <p:txBody>
          <a:bodyPr wrap="square" lIns="0" rIns="0" tIns="0" bIns="0" anchor="t">
            <a:spAutoFit/>
          </a:bodyPr>
          <a:lstStyle/>
          <a:p>
            <a:pPr algn="l"/>
            <a:r>
              <a:rPr sz="1150" b="0">
                <a:solidFill>
                  <a:srgbClr val="A8B6C6"/>
                </a:solidFill>
                <a:latin typeface="Barlow"/>
              </a:rPr>
              <a:t>upgrade:list, then upgrade:run — repeatable, scriptable</a:t>
            </a:r>
          </a:p>
        </p:txBody>
      </p:sp>
      <p:sp>
        <p:nvSpPr>
          <p:cNvPr id="42" name="Rectangle 41"/>
          <p:cNvSpPr/>
          <p:nvPr/>
        </p:nvSpPr>
        <p:spPr>
          <a:xfrm>
            <a:off x="566928" y="4736592"/>
            <a:ext cx="31750" cy="310896"/>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94944" y="4754880"/>
            <a:ext cx="365760" cy="256032"/>
          </a:xfrm>
          <a:prstGeom prst="rect">
            <a:avLst/>
          </a:prstGeom>
          <a:noFill/>
        </p:spPr>
        <p:txBody>
          <a:bodyPr wrap="square" lIns="0" rIns="0" tIns="0" bIns="0" anchor="t">
            <a:spAutoFit/>
          </a:bodyPr>
          <a:lstStyle/>
          <a:p>
            <a:pPr algn="l"/>
            <a:r>
              <a:rPr sz="1400" b="1">
                <a:solidFill>
                  <a:srgbClr val="6F8093"/>
                </a:solidFill>
                <a:latin typeface="Barlow Condensed"/>
              </a:rPr>
              <a:t>9</a:t>
            </a:r>
          </a:p>
        </p:txBody>
      </p:sp>
      <p:sp>
        <p:nvSpPr>
          <p:cNvPr id="44" name="TextBox 43"/>
          <p:cNvSpPr txBox="1"/>
          <p:nvPr/>
        </p:nvSpPr>
        <p:spPr>
          <a:xfrm>
            <a:off x="1115568" y="4754880"/>
            <a:ext cx="1371600" cy="256032"/>
          </a:xfrm>
          <a:prstGeom prst="rect">
            <a:avLst/>
          </a:prstGeom>
          <a:noFill/>
        </p:spPr>
        <p:txBody>
          <a:bodyPr wrap="square" lIns="0" rIns="0" tIns="0" bIns="0" anchor="t">
            <a:spAutoFit/>
          </a:bodyPr>
          <a:lstStyle/>
          <a:p>
            <a:pPr algn="l"/>
            <a:r>
              <a:rPr sz="1400" b="1">
                <a:solidFill>
                  <a:srgbClr val="EAF0F6"/>
                </a:solidFill>
                <a:latin typeface="Barlow Condensed"/>
              </a:rPr>
              <a:t>Caches</a:t>
            </a:r>
          </a:p>
        </p:txBody>
      </p:sp>
      <p:sp>
        <p:nvSpPr>
          <p:cNvPr id="45" name="TextBox 44"/>
          <p:cNvSpPr txBox="1"/>
          <p:nvPr/>
        </p:nvSpPr>
        <p:spPr>
          <a:xfrm>
            <a:off x="2578608" y="4773168"/>
            <a:ext cx="8954719" cy="256032"/>
          </a:xfrm>
          <a:prstGeom prst="rect">
            <a:avLst/>
          </a:prstGeom>
          <a:noFill/>
        </p:spPr>
        <p:txBody>
          <a:bodyPr wrap="square" lIns="0" rIns="0" tIns="0" bIns="0" anchor="t">
            <a:spAutoFit/>
          </a:bodyPr>
          <a:lstStyle/>
          <a:p>
            <a:pPr algn="l"/>
            <a:r>
              <a:rPr sz="1150" b="0">
                <a:solidFill>
                  <a:srgbClr val="A8B6C6"/>
                </a:solidFill>
                <a:latin typeface="Barlow"/>
              </a:rPr>
              <a:t>flush, warm, and only then look at the site</a:t>
            </a:r>
          </a:p>
        </p:txBody>
      </p:sp>
      <p:sp>
        <p:nvSpPr>
          <p:cNvPr id="46" name="Rectangle 45"/>
          <p:cNvSpPr/>
          <p:nvPr/>
        </p:nvSpPr>
        <p:spPr>
          <a:xfrm>
            <a:off x="566928" y="5193792"/>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76656" y="5193792"/>
            <a:ext cx="10948111" cy="457200"/>
          </a:xfrm>
          <a:prstGeom prst="rect">
            <a:avLst/>
          </a:prstGeom>
          <a:noFill/>
        </p:spPr>
        <p:txBody>
          <a:bodyPr wrap="square" lIns="0" rIns="0" tIns="0" bIns="0" anchor="t">
            <a:spAutoFit/>
          </a:bodyPr>
          <a:lstStyle/>
          <a:p>
            <a:pPr algn="l"/>
            <a:r>
              <a:rPr sz="1250" b="0">
                <a:solidFill>
                  <a:srgbClr val="A8B6C6"/>
                </a:solidFill>
                <a:latin typeface="Barlow"/>
              </a:rPr>
              <a:t>Steps 4 and 5 run AFTER step 3 — that is the one everybody gets wrong.</a:t>
            </a:r>
          </a:p>
        </p:txBody>
      </p:sp>
      <p:sp>
        <p:nvSpPr>
          <p:cNvPr id="48" name="TextBox 4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49" name="TextBox 4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55 / 88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58351"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Rector before the package upgrade refactors against the old world.</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The rule sets ship with the tool. The code they must match ships with the new core. You need both on disk before you let anything rewrite your files.</a:t>
            </a:r>
          </a:p>
        </p:txBody>
      </p:sp>
      <p:sp>
        <p:nvSpPr>
          <p:cNvPr id="6" name="Rectangle 5"/>
          <p:cNvSpPr/>
          <p:nvPr/>
        </p:nvSpPr>
        <p:spPr>
          <a:xfrm>
            <a:off x="566928" y="4572000"/>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Same for Fractor. Bump first, refactor second, review always.</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56 / 88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896893"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2</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bump</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One transaction — the core and everything that depends on it</a:t>
            </a:r>
          </a:p>
        </p:txBody>
      </p:sp>
      <p:sp>
        <p:nvSpPr>
          <p:cNvPr id="8" name="Rectangle 7"/>
          <p:cNvSpPr/>
          <p:nvPr/>
        </p:nvSpPr>
        <p:spPr>
          <a:xfrm>
            <a:off x="566928" y="1975104"/>
            <a:ext cx="11057839" cy="2331720"/>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composer update -W</a:t>
            </a:r>
          </a:p>
        </p:txBody>
      </p:sp>
      <p:sp>
        <p:nvSpPr>
          <p:cNvPr id="11" name="TextBox 10"/>
          <p:cNvSpPr txBox="1"/>
          <p:nvPr/>
        </p:nvSpPr>
        <p:spPr>
          <a:xfrm>
            <a:off x="713232" y="2395728"/>
            <a:ext cx="10765231" cy="1801368"/>
          </a:xfrm>
          <a:prstGeom prst="rect">
            <a:avLst/>
          </a:prstGeom>
          <a:noFill/>
        </p:spPr>
        <p:txBody>
          <a:bodyPr wrap="square" lIns="0" rIns="0" tIns="0" bIns="0" anchor="t">
            <a:spAutoFit/>
          </a:bodyPr>
          <a:lstStyle/>
          <a:p>
            <a:pPr algn="l">
              <a:lnSpc>
                <a:spcPct val="106000"/>
              </a:lnSpc>
            </a:pPr>
            <a:r>
              <a:rPr sz="854" b="0" i="0">
                <a:solidFill>
                  <a:srgbClr val="C9D6E2"/>
                </a:solidFill>
                <a:latin typeface="IBM Plex Mono"/>
              </a:rPr>
              <a:t>Loading composer repositories with package information</a:t>
            </a:r>
          </a:p>
          <a:p>
            <a:pPr algn="l">
              <a:lnSpc>
                <a:spcPct val="106000"/>
              </a:lnSpc>
              <a:spcBef>
                <a:spcPts val="0"/>
              </a:spcBef>
            </a:pPr>
            <a:r>
              <a:rPr sz="854" b="0" i="0">
                <a:solidFill>
                  <a:srgbClr val="C9D6E2"/>
                </a:solidFill>
                <a:latin typeface="IBM Plex Mono"/>
              </a:rPr>
              <a:t>Updating dependencies</a:t>
            </a:r>
          </a:p>
          <a:p>
            <a:pPr algn="l">
              <a:lnSpc>
                <a:spcPct val="106000"/>
              </a:lnSpc>
              <a:spcBef>
                <a:spcPts val="0"/>
              </a:spcBef>
            </a:pPr>
            <a:r>
              <a:rPr sz="854" b="0" i="0">
                <a:solidFill>
                  <a:srgbClr val="C9D6E2"/>
                </a:solidFill>
                <a:latin typeface="IBM Plex Mono"/>
              </a:rPr>
              <a:t>Lock file operations: 12 installs, 47 updates, 6 removals</a:t>
            </a:r>
          </a:p>
          <a:p>
            <a:pPr algn="l">
              <a:lnSpc>
                <a:spcPct val="106000"/>
              </a:lnSpc>
              <a:spcBef>
                <a:spcPts val="0"/>
              </a:spcBef>
            </a:pPr>
            <a:r>
              <a:rPr sz="854" b="0" i="0">
                <a:solidFill>
                  <a:srgbClr val="E5484D"/>
                </a:solidFill>
                <a:latin typeface="IBM Plex Mono"/>
              </a:rPr>
              <a:t>  - Upgrading typo3/cms-core (v12.4.45 =&gt; v13.4.34)</a:t>
            </a:r>
          </a:p>
          <a:p>
            <a:pPr algn="l">
              <a:lnSpc>
                <a:spcPct val="106000"/>
              </a:lnSpc>
              <a:spcBef>
                <a:spcPts val="0"/>
              </a:spcBef>
            </a:pPr>
            <a:r>
              <a:rPr sz="854" b="0" i="0">
                <a:solidFill>
                  <a:srgbClr val="E5484D"/>
                </a:solidFill>
                <a:latin typeface="IBM Plex Mono"/>
              </a:rPr>
              <a:t>  - Upgrading typo3/cms-backend (v12.4.45 =&gt; v13.4.34)</a:t>
            </a:r>
          </a:p>
          <a:p>
            <a:pPr algn="l">
              <a:lnSpc>
                <a:spcPct val="106000"/>
              </a:lnSpc>
              <a:spcBef>
                <a:spcPts val="0"/>
              </a:spcBef>
            </a:pPr>
            <a:r>
              <a:rPr sz="854" b="0" i="0">
                <a:solidFill>
                  <a:srgbClr val="E5484D"/>
                </a:solidFill>
                <a:latin typeface="IBM Plex Mono"/>
              </a:rPr>
              <a:t>  - Upgrading typo3/cms-extbase (v12.4.45 =&gt; v13.4.34)</a:t>
            </a:r>
          </a:p>
          <a:p>
            <a:pPr algn="l">
              <a:lnSpc>
                <a:spcPct val="106000"/>
              </a:lnSpc>
              <a:spcBef>
                <a:spcPts val="0"/>
              </a:spcBef>
            </a:pPr>
            <a:r>
              <a:rPr sz="854" b="0" i="0">
                <a:solidFill>
                  <a:srgbClr val="E5484D"/>
                </a:solidFill>
                <a:latin typeface="IBM Plex Mono"/>
              </a:rPr>
              <a:t>  - Upgrading doctrine/dbal (3.10.6 =&gt; 4.4.1)</a:t>
            </a:r>
          </a:p>
          <a:p>
            <a:pPr algn="l">
              <a:lnSpc>
                <a:spcPct val="106000"/>
              </a:lnSpc>
              <a:spcBef>
                <a:spcPts val="0"/>
              </a:spcBef>
            </a:pPr>
            <a:r>
              <a:rPr sz="854" b="0" i="0">
                <a:solidFill>
                  <a:srgbClr val="C9D6E2"/>
                </a:solidFill>
                <a:latin typeface="IBM Plex Mono"/>
              </a:rPr>
              <a:t>  ...</a:t>
            </a:r>
          </a:p>
          <a:p>
            <a:pPr algn="l">
              <a:lnSpc>
                <a:spcPct val="106000"/>
              </a:lnSpc>
              <a:spcBef>
                <a:spcPts val="0"/>
              </a:spcBef>
            </a:pPr>
            <a:r>
              <a:rPr sz="854" b="0" i="0">
                <a:solidFill>
                  <a:srgbClr val="C9D6E2"/>
                </a:solidFill>
                <a:latin typeface="IBM Plex Mono"/>
              </a:rPr>
              <a:t>Writing lock file</a:t>
            </a:r>
          </a:p>
          <a:p>
            <a:pPr algn="l">
              <a:lnSpc>
                <a:spcPct val="106000"/>
              </a:lnSpc>
              <a:spcBef>
                <a:spcPts val="0"/>
              </a:spcBef>
            </a:pPr>
            <a:r>
              <a:rPr sz="854" b="0" i="0">
                <a:solidFill>
                  <a:srgbClr val="C9D6E2"/>
                </a:solidFill>
                <a:latin typeface="IBM Plex Mono"/>
              </a:rPr>
              <a:t>Generating autoload files</a:t>
            </a:r>
          </a:p>
          <a:p>
            <a:pPr algn="l">
              <a:lnSpc>
                <a:spcPct val="106000"/>
              </a:lnSpc>
              <a:spcBef>
                <a:spcPts val="0"/>
              </a:spcBef>
            </a:pPr>
            <a:r>
              <a:rPr sz="854" b="0" i="0">
                <a:solidFill>
                  <a:srgbClr val="C9D6E2"/>
                </a:solidFill>
                <a:latin typeface="IBM Plex Mono"/>
              </a:rPr>
              <a:t>Publishing public assets of TYPO3 extensions</a:t>
            </a:r>
          </a:p>
          <a:p>
            <a:pPr algn="l">
              <a:lnSpc>
                <a:spcPct val="106000"/>
              </a:lnSpc>
              <a:spcBef>
                <a:spcPts val="0"/>
              </a:spcBef>
            </a:pPr>
            <a:r>
              <a:rPr sz="854" b="0" i="0">
                <a:solidFill>
                  <a:srgbClr val="C9D6E2"/>
                </a:solidFill>
                <a:latin typeface="IBM Plex Mono"/>
              </a:rPr>
              <a:t> </a:t>
            </a:r>
          </a:p>
          <a:p>
            <a:pPr algn="l">
              <a:lnSpc>
                <a:spcPct val="106000"/>
              </a:lnSpc>
              <a:spcBef>
                <a:spcPts val="0"/>
              </a:spcBef>
            </a:pPr>
            <a:r>
              <a:rPr sz="854" b="0" i="0">
                <a:solidFill>
                  <a:srgbClr val="3FCF8E"/>
                </a:solidFill>
                <a:latin typeface="IBM Plex Mono"/>
              </a:rPr>
              <a:t>No security vulnerability advisories found.</a:t>
            </a:r>
          </a:p>
        </p:txBody>
      </p:sp>
      <p:sp>
        <p:nvSpPr>
          <p:cNvPr id="12" name="TextBox 11"/>
          <p:cNvSpPr txBox="1"/>
          <p:nvPr/>
        </p:nvSpPr>
        <p:spPr>
          <a:xfrm>
            <a:off x="566928" y="4453128"/>
            <a:ext cx="11057839" cy="914400"/>
          </a:xfrm>
          <a:prstGeom prst="rect">
            <a:avLst/>
          </a:prstGeom>
          <a:noFill/>
        </p:spPr>
        <p:txBody>
          <a:bodyPr wrap="square" lIns="0" rIns="0" tIns="0" bIns="0" anchor="t">
            <a:spAutoFit/>
          </a:bodyPr>
          <a:lstStyle/>
          <a:p>
            <a:pPr algn="l">
              <a:lnSpc>
                <a:spcPct val="112000"/>
              </a:lnSpc>
            </a:pPr>
            <a:r>
              <a:rPr sz="1250" b="0" i="0">
                <a:solidFill>
                  <a:srgbClr val="FF8700"/>
                </a:solidFill>
                <a:latin typeface="Barlow"/>
              </a:rPr>
              <a:t>◆  </a:t>
            </a:r>
            <a:r>
              <a:rPr sz="1250" b="0" i="0">
                <a:solidFill>
                  <a:srgbClr val="EAF0F6"/>
                </a:solidFill>
                <a:latin typeface="Barlow"/>
              </a:rPr>
              <a:t>Compare that last line with the one from phase 1. That is what leaving ELTS looks like.</a:t>
            </a:r>
          </a:p>
          <a:p>
            <a:pPr algn="l">
              <a:lnSpc>
                <a:spcPct val="112000"/>
              </a:lnSpc>
              <a:spcBef>
                <a:spcPts val="700"/>
              </a:spcBef>
            </a:pPr>
            <a:r>
              <a:rPr sz="1250" b="0" i="0">
                <a:solidFill>
                  <a:srgbClr val="FF8700"/>
                </a:solidFill>
                <a:latin typeface="Barlow"/>
              </a:rPr>
              <a:t>◆  </a:t>
            </a:r>
            <a:r>
              <a:rPr sz="1250" b="0" i="0">
                <a:solidFill>
                  <a:srgbClr val="EAF0F6"/>
                </a:solidFill>
                <a:latin typeface="Barlow"/>
              </a:rPr>
              <a:t>If it refuses: composer why-not, then fix the real blocker — do not reach for --ignore-platform-reqs.</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57 / 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8035435"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V1</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On the take-off roll there is a speed after which you are going flying, whatever happens. Your V1 is the database schema migration.</a:t>
            </a:r>
          </a:p>
        </p:txBody>
      </p:sp>
      <p:sp>
        <p:nvSpPr>
          <p:cNvPr id="6" name="Rectangle 5"/>
          <p:cNvSpPr/>
          <p:nvPr/>
        </p:nvSpPr>
        <p:spPr>
          <a:xfrm>
            <a:off x="566928" y="4572000"/>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Before it: a branch and a lock file. After it: a restore from backup. Know exactly where your V1 is — and say it out loud before you cross it.</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58 / 88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8173977"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2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Now let Rector write</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Same command, without --dry-run</a:t>
            </a:r>
          </a:p>
        </p:txBody>
      </p:sp>
      <p:sp>
        <p:nvSpPr>
          <p:cNvPr id="8" name="Rectangle 7"/>
          <p:cNvSpPr/>
          <p:nvPr/>
        </p:nvSpPr>
        <p:spPr>
          <a:xfrm>
            <a:off x="566928" y="1975104"/>
            <a:ext cx="11057839" cy="2880360"/>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./vendor/bin/rector process</a:t>
            </a:r>
          </a:p>
        </p:txBody>
      </p:sp>
      <p:sp>
        <p:nvSpPr>
          <p:cNvPr id="11" name="TextBox 10"/>
          <p:cNvSpPr txBox="1"/>
          <p:nvPr/>
        </p:nvSpPr>
        <p:spPr>
          <a:xfrm>
            <a:off x="713232" y="2395728"/>
            <a:ext cx="10765231" cy="2350008"/>
          </a:xfrm>
          <a:prstGeom prst="rect">
            <a:avLst/>
          </a:prstGeom>
          <a:noFill/>
        </p:spPr>
        <p:txBody>
          <a:bodyPr wrap="square" lIns="0" rIns="0" tIns="0" bIns="0" anchor="t">
            <a:spAutoFit/>
          </a:bodyPr>
          <a:lstStyle/>
          <a:p>
            <a:pPr algn="l">
              <a:lnSpc>
                <a:spcPct val="106000"/>
              </a:lnSpc>
            </a:pPr>
            <a:r>
              <a:rPr sz="860" b="0" i="0">
                <a:solidFill>
                  <a:srgbClr val="C9D6E2"/>
                </a:solidFill>
                <a:latin typeface="IBM Plex Mono"/>
              </a:rPr>
              <a:t>4 files with changes</a:t>
            </a:r>
          </a:p>
          <a:p>
            <a:pPr algn="l">
              <a:lnSpc>
                <a:spcPct val="106000"/>
              </a:lnSpc>
              <a:spcBef>
                <a:spcPts val="0"/>
              </a:spcBef>
            </a:pPr>
            <a:r>
              <a:rPr sz="860" b="0" i="0">
                <a:solidFill>
                  <a:srgbClr val="C9D6E2"/>
                </a:solidFill>
                <a:latin typeface="IBM Plex Mono"/>
              </a:rPr>
              <a:t>====================</a:t>
            </a:r>
          </a:p>
          <a:p>
            <a:pPr algn="l">
              <a:lnSpc>
                <a:spcPct val="106000"/>
              </a:lnSpc>
              <a:spcBef>
                <a:spcPts val="0"/>
              </a:spcBef>
            </a:pPr>
            <a:r>
              <a:rPr sz="860" b="0" i="0">
                <a:solidFill>
                  <a:srgbClr val="C9D6E2"/>
                </a:solidFill>
                <a:latin typeface="IBM Plex Mono"/>
              </a:rPr>
              <a:t> </a:t>
            </a:r>
          </a:p>
          <a:p>
            <a:pPr algn="l">
              <a:lnSpc>
                <a:spcPct val="106000"/>
              </a:lnSpc>
              <a:spcBef>
                <a:spcPts val="0"/>
              </a:spcBef>
            </a:pPr>
            <a:r>
              <a:rPr sz="860" b="0" i="0">
                <a:solidFill>
                  <a:srgbClr val="C9D6E2"/>
                </a:solidFill>
                <a:latin typeface="IBM Plex Mono"/>
              </a:rPr>
              <a:t>1) packages/flight_ops/Classes/Controller/FlightController.php:27</a:t>
            </a:r>
          </a:p>
          <a:p>
            <a:pPr algn="l">
              <a:lnSpc>
                <a:spcPct val="106000"/>
              </a:lnSpc>
              <a:spcBef>
                <a:spcPts val="0"/>
              </a:spcBef>
            </a:pPr>
            <a:r>
              <a:rPr sz="860" b="0" i="0">
                <a:solidFill>
                  <a:srgbClr val="C9D6E2"/>
                </a:solidFill>
                <a:latin typeface="IBM Plex Mono"/>
              </a:rPr>
              <a:t>     * RenameClassConstFetchRector</a:t>
            </a:r>
          </a:p>
          <a:p>
            <a:pPr algn="l">
              <a:lnSpc>
                <a:spcPct val="106000"/>
              </a:lnSpc>
              <a:spcBef>
                <a:spcPts val="0"/>
              </a:spcBef>
            </a:pPr>
            <a:r>
              <a:rPr sz="860" b="0" i="0">
                <a:solidFill>
                  <a:srgbClr val="C9D6E2"/>
                </a:solidFill>
                <a:latin typeface="IBM Plex Mono"/>
              </a:rPr>
              <a:t> </a:t>
            </a:r>
          </a:p>
          <a:p>
            <a:pPr algn="l">
              <a:lnSpc>
                <a:spcPct val="106000"/>
              </a:lnSpc>
              <a:spcBef>
                <a:spcPts val="0"/>
              </a:spcBef>
            </a:pPr>
            <a:r>
              <a:rPr sz="860" b="0" i="0">
                <a:solidFill>
                  <a:srgbClr val="C9D6E2"/>
                </a:solidFill>
                <a:latin typeface="IBM Plex Mono"/>
              </a:rPr>
              <a:t>2) packages/flight_ops/Classes/Hooks/BackendStyleHook.php:19</a:t>
            </a:r>
          </a:p>
          <a:p>
            <a:pPr algn="l">
              <a:lnSpc>
                <a:spcPct val="106000"/>
              </a:lnSpc>
              <a:spcBef>
                <a:spcPts val="0"/>
              </a:spcBef>
            </a:pPr>
            <a:r>
              <a:rPr sz="860" b="0" i="0">
                <a:solidFill>
                  <a:srgbClr val="C9D6E2"/>
                </a:solidFill>
                <a:latin typeface="IBM Plex Mono"/>
              </a:rPr>
              <a:t>     * MigrateTypoScriptFrontendControllerTypeRector</a:t>
            </a:r>
          </a:p>
          <a:p>
            <a:pPr algn="l">
              <a:lnSpc>
                <a:spcPct val="106000"/>
              </a:lnSpc>
              <a:spcBef>
                <a:spcPts val="0"/>
              </a:spcBef>
            </a:pPr>
            <a:r>
              <a:rPr sz="860" b="0" i="0">
                <a:solidFill>
                  <a:srgbClr val="C9D6E2"/>
                </a:solidFill>
                <a:latin typeface="IBM Plex Mono"/>
              </a:rPr>
              <a:t> </a:t>
            </a:r>
          </a:p>
          <a:p>
            <a:pPr algn="l">
              <a:lnSpc>
                <a:spcPct val="106000"/>
              </a:lnSpc>
              <a:spcBef>
                <a:spcPts val="0"/>
              </a:spcBef>
            </a:pPr>
            <a:r>
              <a:rPr sz="860" b="0" i="0">
                <a:solidFill>
                  <a:srgbClr val="C9D6E2"/>
                </a:solidFill>
                <a:latin typeface="IBM Plex Mono"/>
              </a:rPr>
              <a:t>3) packages/flight_ops/Classes/Service/BoardingService.php:20</a:t>
            </a:r>
          </a:p>
          <a:p>
            <a:pPr algn="l">
              <a:lnSpc>
                <a:spcPct val="106000"/>
              </a:lnSpc>
              <a:spcBef>
                <a:spcPts val="0"/>
              </a:spcBef>
            </a:pPr>
            <a:r>
              <a:rPr sz="860" b="0" i="0">
                <a:solidFill>
                  <a:srgbClr val="C9D6E2"/>
                </a:solidFill>
                <a:latin typeface="IBM Plex Mono"/>
              </a:rPr>
              <a:t>     * MigrateQueryBuilderExecuteRector</a:t>
            </a:r>
          </a:p>
          <a:p>
            <a:pPr algn="l">
              <a:lnSpc>
                <a:spcPct val="106000"/>
              </a:lnSpc>
              <a:spcBef>
                <a:spcPts val="0"/>
              </a:spcBef>
            </a:pPr>
            <a:r>
              <a:rPr sz="860" b="0" i="0">
                <a:solidFill>
                  <a:srgbClr val="C9D6E2"/>
                </a:solidFill>
                <a:latin typeface="IBM Plex Mono"/>
              </a:rPr>
              <a:t>     * MigrateContentObjectRendererLastTypoLinkPropertiesRector</a:t>
            </a:r>
          </a:p>
          <a:p>
            <a:pPr algn="l">
              <a:lnSpc>
                <a:spcPct val="106000"/>
              </a:lnSpc>
              <a:spcBef>
                <a:spcPts val="0"/>
              </a:spcBef>
            </a:pPr>
            <a:r>
              <a:rPr sz="860" b="0" i="0">
                <a:solidFill>
                  <a:srgbClr val="C9D6E2"/>
                </a:solidFill>
                <a:latin typeface="IBM Plex Mono"/>
              </a:rPr>
              <a:t> </a:t>
            </a:r>
          </a:p>
          <a:p>
            <a:pPr algn="l">
              <a:lnSpc>
                <a:spcPct val="106000"/>
              </a:lnSpc>
              <a:spcBef>
                <a:spcPts val="0"/>
              </a:spcBef>
            </a:pPr>
            <a:r>
              <a:rPr sz="860" b="0" i="0">
                <a:solidFill>
                  <a:srgbClr val="C9D6E2"/>
                </a:solidFill>
                <a:latin typeface="IBM Plex Mono"/>
              </a:rPr>
              <a:t>4) packages/flight_ops/ext_emconf.php:5</a:t>
            </a:r>
          </a:p>
          <a:p>
            <a:pPr algn="l">
              <a:lnSpc>
                <a:spcPct val="106000"/>
              </a:lnSpc>
              <a:spcBef>
                <a:spcPts val="0"/>
              </a:spcBef>
            </a:pPr>
            <a:r>
              <a:rPr sz="860" b="0" i="0">
                <a:solidFill>
                  <a:srgbClr val="C9D6E2"/>
                </a:solidFill>
                <a:latin typeface="IBM Plex Mono"/>
              </a:rPr>
              <a:t>     * ExtEmConfRector</a:t>
            </a:r>
          </a:p>
          <a:p>
            <a:pPr algn="l">
              <a:lnSpc>
                <a:spcPct val="106000"/>
              </a:lnSpc>
              <a:spcBef>
                <a:spcPts val="0"/>
              </a:spcBef>
            </a:pPr>
            <a:r>
              <a:rPr sz="860" b="0" i="0">
                <a:solidFill>
                  <a:srgbClr val="C9D6E2"/>
                </a:solidFill>
                <a:latin typeface="IBM Plex Mono"/>
              </a:rPr>
              <a:t> </a:t>
            </a:r>
          </a:p>
          <a:p>
            <a:pPr algn="l">
              <a:lnSpc>
                <a:spcPct val="106000"/>
              </a:lnSpc>
              <a:spcBef>
                <a:spcPts val="0"/>
              </a:spcBef>
            </a:pPr>
            <a:r>
              <a:rPr sz="860" b="0" i="0">
                <a:solidFill>
                  <a:srgbClr val="3FCF8E"/>
                </a:solidFill>
                <a:latin typeface="IBM Plex Mono"/>
              </a:rPr>
              <a:t> [OK] 4 files have been changed by Rector</a:t>
            </a:r>
          </a:p>
        </p:txBody>
      </p:sp>
      <p:sp>
        <p:nvSpPr>
          <p:cNvPr id="12" name="TextBox 11"/>
          <p:cNvSpPr txBox="1"/>
          <p:nvPr/>
        </p:nvSpPr>
        <p:spPr>
          <a:xfrm>
            <a:off x="566928" y="5001768"/>
            <a:ext cx="11057839" cy="914400"/>
          </a:xfrm>
          <a:prstGeom prst="rect">
            <a:avLst/>
          </a:prstGeom>
          <a:noFill/>
        </p:spPr>
        <p:txBody>
          <a:bodyPr wrap="square" lIns="0" rIns="0" tIns="0" bIns="0" anchor="t">
            <a:spAutoFit/>
          </a:bodyPr>
          <a:lstStyle/>
          <a:p>
            <a:pPr algn="l">
              <a:lnSpc>
                <a:spcPct val="112000"/>
              </a:lnSpc>
            </a:pPr>
            <a:r>
              <a:rPr sz="1250" b="0" i="0">
                <a:solidFill>
                  <a:srgbClr val="FF8700"/>
                </a:solidFill>
                <a:latin typeface="Barlow"/>
              </a:rPr>
              <a:t>◆  </a:t>
            </a:r>
            <a:r>
              <a:rPr sz="1250" b="0" i="0">
                <a:solidFill>
                  <a:srgbClr val="EAF0F6"/>
                </a:solidFill>
                <a:latin typeface="Barlow"/>
              </a:rPr>
              <a:t>ExtEmConfRector removed clearCacheOnLoad — a 12.1 deprecation with no scanner rule either.</a:t>
            </a:r>
          </a:p>
          <a:p>
            <a:pPr algn="l">
              <a:lnSpc>
                <a:spcPct val="112000"/>
              </a:lnSpc>
              <a:spcBef>
                <a:spcPts val="700"/>
              </a:spcBef>
            </a:pPr>
            <a:r>
              <a:rPr sz="1250" b="0" i="0">
                <a:solidFill>
                  <a:srgbClr val="FF8700"/>
                </a:solidFill>
                <a:latin typeface="Barlow"/>
              </a:rPr>
              <a:t>◆  </a:t>
            </a:r>
            <a:r>
              <a:rPr sz="1250" b="0" i="0">
                <a:solidFill>
                  <a:srgbClr val="EAF0F6"/>
                </a:solidFill>
                <a:latin typeface="Barlow"/>
              </a:rPr>
              <a:t>Two of these five rules fixed things the Extension Scanner never reported.</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59 / 88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8312519"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2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Rector is a co-pilot, not an autopilot</a:t>
            </a:r>
          </a:p>
        </p:txBody>
      </p:sp>
      <p:sp>
        <p:nvSpPr>
          <p:cNvPr id="7" name="TextBox 6"/>
          <p:cNvSpPr txBox="1"/>
          <p:nvPr/>
        </p:nvSpPr>
        <p:spPr>
          <a:xfrm>
            <a:off x="566928" y="1636776"/>
            <a:ext cx="11057839" cy="2377440"/>
          </a:xfrm>
          <a:prstGeom prst="rect">
            <a:avLst/>
          </a:prstGeom>
          <a:noFill/>
        </p:spPr>
        <p:txBody>
          <a:bodyPr wrap="square" lIns="0" rIns="0" tIns="0" bIns="0" anchor="t">
            <a:spAutoFit/>
          </a:bodyPr>
          <a:lstStyle/>
          <a:p>
            <a:pPr algn="l">
              <a:lnSpc>
                <a:spcPct val="112000"/>
              </a:lnSpc>
            </a:pPr>
            <a:r>
              <a:rPr sz="1600" b="0" i="0">
                <a:solidFill>
                  <a:srgbClr val="FF8700"/>
                </a:solidFill>
                <a:latin typeface="Barlow"/>
              </a:rPr>
              <a:t>◆  </a:t>
            </a:r>
            <a:r>
              <a:rPr sz="1600" b="0" i="0">
                <a:solidFill>
                  <a:srgbClr val="EAF0F6"/>
                </a:solidFill>
                <a:latin typeface="Barlow"/>
              </a:rPr>
              <a:t>Read every hunk. It rewrote your code — you are still the one who signs for it.</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Commit in slices, one rule set at a time, so a bad change is one revert and not an archaeological dig.</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It produces unformatted output — run your CGL fixer afterwards.</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Never on production. Never outside version control. The tool's own docs say so.</a:t>
            </a:r>
          </a:p>
        </p:txBody>
      </p:sp>
      <p:sp>
        <p:nvSpPr>
          <p:cNvPr id="8" name="Rectangle 7"/>
          <p:cNvSpPr/>
          <p:nvPr/>
        </p:nvSpPr>
        <p:spPr>
          <a:xfrm>
            <a:off x="566928" y="3310128"/>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310128"/>
            <a:ext cx="10948111" cy="457200"/>
          </a:xfrm>
          <a:prstGeom prst="rect">
            <a:avLst/>
          </a:prstGeom>
          <a:noFill/>
        </p:spPr>
        <p:txBody>
          <a:bodyPr wrap="square" lIns="0" rIns="0" tIns="0" bIns="0" anchor="t">
            <a:spAutoFit/>
          </a:bodyPr>
          <a:lstStyle/>
          <a:p>
            <a:pPr algn="l"/>
            <a:r>
              <a:rPr sz="1250" b="0">
                <a:solidFill>
                  <a:srgbClr val="A8B6C6"/>
                </a:solidFill>
                <a:latin typeface="Barlow"/>
              </a:rPr>
              <a:t>A co-pilot flies the aircraft. A co-pilot does not get to decide where you are going.</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60 / 88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8451061"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2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fix that broke the plugin</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Rector migrated the plugin registration. Correctly. And the site went blank.</a:t>
            </a:r>
          </a:p>
        </p:txBody>
      </p:sp>
      <p:sp>
        <p:nvSpPr>
          <p:cNvPr id="8" name="Rectangle 7"/>
          <p:cNvSpPr/>
          <p:nvPr/>
        </p:nvSpPr>
        <p:spPr>
          <a:xfrm>
            <a:off x="566928" y="1975104"/>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5346039"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5528" y="2231136"/>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What Rector did</a:t>
            </a:r>
          </a:p>
        </p:txBody>
      </p:sp>
      <p:sp>
        <p:nvSpPr>
          <p:cNvPr id="11" name="TextBox 10"/>
          <p:cNvSpPr txBox="1"/>
          <p:nvPr/>
        </p:nvSpPr>
        <p:spPr>
          <a:xfrm>
            <a:off x="795528" y="2688336"/>
            <a:ext cx="4888839" cy="1463040"/>
          </a:xfrm>
          <a:prstGeom prst="rect">
            <a:avLst/>
          </a:prstGeom>
          <a:noFill/>
        </p:spPr>
        <p:txBody>
          <a:bodyPr wrap="square" lIns="0" rIns="0" tIns="0" bIns="0" anchor="t">
            <a:spAutoFit/>
          </a:bodyPr>
          <a:lstStyle/>
          <a:p>
            <a:pPr algn="l">
              <a:lnSpc>
                <a:spcPct val="112000"/>
              </a:lnSpc>
            </a:pPr>
            <a:r>
              <a:rPr sz="1300" b="0" i="0">
                <a:solidFill>
                  <a:srgbClr val="3FCF8E"/>
                </a:solidFill>
                <a:latin typeface="Barlow"/>
              </a:rPr>
              <a:t>◆  </a:t>
            </a:r>
            <a:r>
              <a:rPr sz="1300" b="0" i="0">
                <a:solidFill>
                  <a:srgbClr val="EAF0F6"/>
                </a:solidFill>
                <a:latin typeface="Barlow"/>
              </a:rPr>
              <a:t>Moved the plugin from a list_type subtype to a real CType</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Exactly what TYPO3 v13 asks you to do</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And it scaffolded the upgrade wizard for the data migration</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…with a // TODO: Add this mapping yourself! left in it</a:t>
            </a:r>
          </a:p>
        </p:txBody>
      </p:sp>
      <p:sp>
        <p:nvSpPr>
          <p:cNvPr id="12" name="Rectangle 11"/>
          <p:cNvSpPr/>
          <p:nvPr/>
        </p:nvSpPr>
        <p:spPr>
          <a:xfrm>
            <a:off x="6278727" y="1975104"/>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78727" y="1975104"/>
            <a:ext cx="5346039" cy="406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07327" y="2231136"/>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What nobody was told</a:t>
            </a:r>
          </a:p>
        </p:txBody>
      </p:sp>
      <p:sp>
        <p:nvSpPr>
          <p:cNvPr id="15" name="TextBox 14"/>
          <p:cNvSpPr txBox="1"/>
          <p:nvPr/>
        </p:nvSpPr>
        <p:spPr>
          <a:xfrm>
            <a:off x="6507327" y="2688336"/>
            <a:ext cx="4888839" cy="1463040"/>
          </a:xfrm>
          <a:prstGeom prst="rect">
            <a:avLst/>
          </a:prstGeom>
          <a:noFill/>
        </p:spPr>
        <p:txBody>
          <a:bodyPr wrap="square" lIns="0" rIns="0" tIns="0" bIns="0" anchor="t">
            <a:spAutoFit/>
          </a:bodyPr>
          <a:lstStyle/>
          <a:p>
            <a:pPr algn="l">
              <a:lnSpc>
                <a:spcPct val="112000"/>
              </a:lnSpc>
            </a:pPr>
            <a:r>
              <a:rPr sz="1300" b="0" i="0">
                <a:solidFill>
                  <a:srgbClr val="E5484D"/>
                </a:solidFill>
                <a:latin typeface="Barlow"/>
              </a:rPr>
              <a:t>◆  </a:t>
            </a:r>
            <a:r>
              <a:rPr sz="1300" b="0" i="0">
                <a:solidFill>
                  <a:srgbClr val="EAF0F6"/>
                </a:solidFill>
                <a:latin typeface="Barlow"/>
              </a:rPr>
              <a:t>Every existing tt_content row still says CType=list</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The plugin now matches nothing and renders nothing</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No error, no log entry, no scanner finding</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An editor reports it three weeks later</a:t>
            </a:r>
          </a:p>
        </p:txBody>
      </p:sp>
      <p:sp>
        <p:nvSpPr>
          <p:cNvPr id="16" name="Rectangle 15"/>
          <p:cNvSpPr/>
          <p:nvPr/>
        </p:nvSpPr>
        <p:spPr>
          <a:xfrm>
            <a:off x="566928" y="4489704"/>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76656" y="4489704"/>
            <a:ext cx="10948111" cy="457200"/>
          </a:xfrm>
          <a:prstGeom prst="rect">
            <a:avLst/>
          </a:prstGeom>
          <a:noFill/>
        </p:spPr>
        <p:txBody>
          <a:bodyPr wrap="square" lIns="0" rIns="0" tIns="0" bIns="0" anchor="t">
            <a:spAutoFit/>
          </a:bodyPr>
          <a:lstStyle/>
          <a:p>
            <a:pPr algn="l"/>
            <a:r>
              <a:rPr sz="1250" b="0">
                <a:solidFill>
                  <a:srgbClr val="A8B6C6"/>
                </a:solidFill>
                <a:latin typeface="Barlow"/>
              </a:rPr>
              <a:t>Code migration and data migration are two different jobs. Refactoring tools do the first one and, at best, hand you a stub for the second.</a:t>
            </a:r>
          </a:p>
        </p:txBody>
      </p:sp>
      <p:sp>
        <p:nvSpPr>
          <p:cNvPr id="18" name="TextBox 1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9" name="TextBox 1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61 / 88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8589603"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One test noticed. It was the one that renders the plugin.</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TypoScript object path “tt_content.list.20.flightops_board” does not exist. Not a deprecation, not a scanner match, not a Rector diff — a failing assertion in the only test that executes the whole chain.</a:t>
            </a:r>
          </a:p>
        </p:txBody>
      </p:sp>
      <p:sp>
        <p:nvSpPr>
          <p:cNvPr id="6" name="Rectangle 5"/>
          <p:cNvSpPr/>
          <p:nvPr/>
        </p:nvSpPr>
        <p:spPr>
          <a:xfrm>
            <a:off x="566928" y="4572000"/>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This is why “cover your plugins” is on the pre-flight checklist. A unit test on the service would have stayed green all the way to production.</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62 / 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8728145"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2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Then Fractor, for everything else</a:t>
            </a:r>
          </a:p>
        </p:txBody>
      </p:sp>
      <p:sp>
        <p:nvSpPr>
          <p:cNvPr id="7" name="Rectangle 6"/>
          <p:cNvSpPr/>
          <p:nvPr/>
        </p:nvSpPr>
        <p:spPr>
          <a:xfrm>
            <a:off x="566928" y="1591056"/>
            <a:ext cx="11057839" cy="1920240"/>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91056"/>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94944" y="1655064"/>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./vendor/bin/fractor process</a:t>
            </a:r>
          </a:p>
        </p:txBody>
      </p:sp>
      <p:sp>
        <p:nvSpPr>
          <p:cNvPr id="10" name="TextBox 9"/>
          <p:cNvSpPr txBox="1"/>
          <p:nvPr/>
        </p:nvSpPr>
        <p:spPr>
          <a:xfrm>
            <a:off x="713232" y="2011680"/>
            <a:ext cx="10765231" cy="1389888"/>
          </a:xfrm>
          <a:prstGeom prst="rect">
            <a:avLst/>
          </a:prstGeom>
          <a:noFill/>
        </p:spPr>
        <p:txBody>
          <a:bodyPr wrap="square" lIns="0" rIns="0" tIns="0" bIns="0" anchor="t">
            <a:spAutoFit/>
          </a:bodyPr>
          <a:lstStyle/>
          <a:p>
            <a:pPr algn="l">
              <a:lnSpc>
                <a:spcPct val="106000"/>
              </a:lnSpc>
            </a:pPr>
            <a:r>
              <a:rPr sz="836" b="0" i="0">
                <a:solidFill>
                  <a:srgbClr val="C9D6E2"/>
                </a:solidFill>
                <a:latin typeface="IBM Plex Mono"/>
              </a:rPr>
              <a:t>1 file with changes</a:t>
            </a:r>
          </a:p>
          <a:p>
            <a:pPr algn="l">
              <a:lnSpc>
                <a:spcPct val="106000"/>
              </a:lnSpc>
              <a:spcBef>
                <a:spcPts val="0"/>
              </a:spcBef>
            </a:pPr>
            <a:r>
              <a:rPr sz="836" b="0" i="0">
                <a:solidFill>
                  <a:srgbClr val="C9D6E2"/>
                </a:solidFill>
                <a:latin typeface="IBM Plex Mono"/>
              </a:rPr>
              <a:t>===================</a:t>
            </a:r>
          </a:p>
          <a:p>
            <a:pPr algn="l">
              <a:lnSpc>
                <a:spcPct val="106000"/>
              </a:lnSpc>
              <a:spcBef>
                <a:spcPts val="0"/>
              </a:spcBef>
            </a:pPr>
            <a:r>
              <a:rPr sz="836" b="0" i="0">
                <a:solidFill>
                  <a:srgbClr val="C9D6E2"/>
                </a:solidFill>
                <a:latin typeface="IBM Plex Mono"/>
              </a:rPr>
              <a:t> </a:t>
            </a:r>
          </a:p>
          <a:p>
            <a:pPr algn="l">
              <a:lnSpc>
                <a:spcPct val="106000"/>
              </a:lnSpc>
              <a:spcBef>
                <a:spcPts val="0"/>
              </a:spcBef>
            </a:pPr>
            <a:r>
              <a:rPr sz="836" b="0" i="0">
                <a:solidFill>
                  <a:srgbClr val="C9D6E2"/>
                </a:solidFill>
                <a:latin typeface="IBM Plex Mono"/>
              </a:rPr>
              <a:t>1) packages/flight_ops/Configuration/TypoScript/setup.typoscript:1</a:t>
            </a:r>
          </a:p>
          <a:p>
            <a:pPr algn="l">
              <a:lnSpc>
                <a:spcPct val="106000"/>
              </a:lnSpc>
              <a:spcBef>
                <a:spcPts val="0"/>
              </a:spcBef>
            </a:pPr>
            <a:r>
              <a:rPr sz="836" b="0" i="0">
                <a:solidFill>
                  <a:srgbClr val="C9D6E2"/>
                </a:solidFill>
                <a:latin typeface="IBM Plex Mono"/>
              </a:rPr>
              <a:t> </a:t>
            </a:r>
          </a:p>
          <a:p>
            <a:pPr algn="l">
              <a:lnSpc>
                <a:spcPct val="106000"/>
              </a:lnSpc>
              <a:spcBef>
                <a:spcPts val="0"/>
              </a:spcBef>
            </a:pPr>
            <a:r>
              <a:rPr sz="836" b="0" i="0">
                <a:solidFill>
                  <a:srgbClr val="C9D6E2"/>
                </a:solidFill>
                <a:latin typeface="IBM Plex Mono"/>
              </a:rPr>
              <a:t> * MigrateIncludeTypoScriptSyntaxFractor</a:t>
            </a:r>
          </a:p>
          <a:p>
            <a:pPr algn="l">
              <a:lnSpc>
                <a:spcPct val="106000"/>
              </a:lnSpc>
              <a:spcBef>
                <a:spcPts val="0"/>
              </a:spcBef>
            </a:pPr>
            <a:r>
              <a:rPr sz="836" b="0" i="0">
                <a:solidFill>
                  <a:srgbClr val="C9D6E2"/>
                </a:solidFill>
                <a:latin typeface="IBM Plex Mono"/>
              </a:rPr>
              <a:t> * MigrateLegacyTypoScriptConditionsFractor</a:t>
            </a:r>
          </a:p>
          <a:p>
            <a:pPr algn="l">
              <a:lnSpc>
                <a:spcPct val="106000"/>
              </a:lnSpc>
              <a:spcBef>
                <a:spcPts val="0"/>
              </a:spcBef>
            </a:pPr>
            <a:r>
              <a:rPr sz="836" b="0" i="0">
                <a:solidFill>
                  <a:srgbClr val="C9D6E2"/>
                </a:solidFill>
                <a:latin typeface="IBM Plex Mono"/>
              </a:rPr>
              <a:t> * MigrateTypoScriptPageConditionToTraverseFractor</a:t>
            </a:r>
          </a:p>
          <a:p>
            <a:pPr algn="l">
              <a:lnSpc>
                <a:spcPct val="106000"/>
              </a:lnSpc>
              <a:spcBef>
                <a:spcPts val="0"/>
              </a:spcBef>
            </a:pPr>
            <a:r>
              <a:rPr sz="836" b="0" i="0">
                <a:solidFill>
                  <a:srgbClr val="C9D6E2"/>
                </a:solidFill>
                <a:latin typeface="IBM Plex Mono"/>
              </a:rPr>
              <a:t> </a:t>
            </a:r>
          </a:p>
          <a:p>
            <a:pPr algn="l">
              <a:lnSpc>
                <a:spcPct val="106000"/>
              </a:lnSpc>
              <a:spcBef>
                <a:spcPts val="0"/>
              </a:spcBef>
            </a:pPr>
            <a:r>
              <a:rPr sz="836" b="0" i="0">
                <a:solidFill>
                  <a:srgbClr val="3FCF8E"/>
                </a:solidFill>
                <a:latin typeface="IBM Plex Mono"/>
              </a:rPr>
              <a:t> [OK] 1 file has been changed by Fractor</a:t>
            </a:r>
          </a:p>
        </p:txBody>
      </p:sp>
      <p:sp>
        <p:nvSpPr>
          <p:cNvPr id="11" name="TextBox 10"/>
          <p:cNvSpPr txBox="1"/>
          <p:nvPr/>
        </p:nvSpPr>
        <p:spPr>
          <a:xfrm>
            <a:off x="566928" y="3657600"/>
            <a:ext cx="11057839" cy="914400"/>
          </a:xfrm>
          <a:prstGeom prst="rect">
            <a:avLst/>
          </a:prstGeom>
          <a:noFill/>
        </p:spPr>
        <p:txBody>
          <a:bodyPr wrap="square" lIns="0" rIns="0" tIns="0" bIns="0" anchor="t">
            <a:spAutoFit/>
          </a:bodyPr>
          <a:lstStyle/>
          <a:p>
            <a:pPr algn="l">
              <a:lnSpc>
                <a:spcPct val="112000"/>
              </a:lnSpc>
            </a:pPr>
            <a:r>
              <a:rPr sz="1250" b="0" i="0">
                <a:solidFill>
                  <a:srgbClr val="FF8700"/>
                </a:solidFill>
                <a:latin typeface="Barlow"/>
              </a:rPr>
              <a:t>◆  </a:t>
            </a:r>
            <a:r>
              <a:rPr sz="1250" b="0" i="0">
                <a:solidFill>
                  <a:srgbClr val="EAF0F6"/>
                </a:solidFill>
                <a:latin typeface="Barlow"/>
              </a:rPr>
              <a:t>A silently non-matching TypoScript condition does not raise an error. It just quietly does nothing.</a:t>
            </a:r>
          </a:p>
          <a:p>
            <a:pPr algn="l">
              <a:lnSpc>
                <a:spcPct val="112000"/>
              </a:lnSpc>
              <a:spcBef>
                <a:spcPts val="700"/>
              </a:spcBef>
            </a:pPr>
            <a:r>
              <a:rPr sz="1250" b="0" i="0">
                <a:solidFill>
                  <a:srgbClr val="FF8700"/>
                </a:solidFill>
                <a:latin typeface="Barlow"/>
              </a:rPr>
              <a:t>◆  </a:t>
            </a:r>
            <a:r>
              <a:rPr sz="1250" b="0" i="0">
                <a:solidFill>
                  <a:srgbClr val="EAF0F6"/>
                </a:solidFill>
                <a:latin typeface="Barlow"/>
              </a:rPr>
              <a:t>Those are the bugs that get reported three weeks later by an editor, not by your logs.</a:t>
            </a:r>
          </a:p>
        </p:txBody>
      </p:sp>
      <p:sp>
        <p:nvSpPr>
          <p:cNvPr id="12" name="TextBox 11"/>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3" name="TextBox 12"/>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63 / 88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8866687"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Now the upgrade is a list of red tests.</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Run the suite. Take the top failure. Fix it. Run again. You always know how many are left and how far you have come.</a:t>
            </a:r>
          </a:p>
        </p:txBody>
      </p:sp>
      <p:sp>
        <p:nvSpPr>
          <p:cNvPr id="6" name="Rectangle 5"/>
          <p:cNvSpPr/>
          <p:nvPr/>
        </p:nvSpPr>
        <p:spPr>
          <a:xfrm>
            <a:off x="566928" y="4572000"/>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Without coverage the same work is: change something, click around the site, hope you thought of everything, repeat. That is not a procedure — that is a mood.</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64 / 88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005229"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852208"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852208" cy="201168"/>
          </a:xfrm>
          <a:prstGeom prst="rect">
            <a:avLst/>
          </a:prstGeom>
          <a:noFill/>
        </p:spPr>
        <p:txBody>
          <a:bodyPr wrap="square" lIns="0" rIns="0" tIns="0" bIns="0" anchor="t">
            <a:spAutoFit/>
          </a:bodyPr>
          <a:lstStyle/>
          <a:p>
            <a:pPr algn="l"/>
            <a:r>
              <a:rPr sz="1100" b="1">
                <a:solidFill>
                  <a:srgbClr val="0B1016"/>
                </a:solidFill>
                <a:latin typeface="Barlow Condensed"/>
              </a:rPr>
              <a:t>PHASE 2 · COVERAGE</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What a breaking change looks like</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The same suite, the same code — five minutes after the composer bump</a:t>
            </a:r>
          </a:p>
        </p:txBody>
      </p:sp>
      <p:sp>
        <p:nvSpPr>
          <p:cNvPr id="8" name="Rectangle 7"/>
          <p:cNvSpPr/>
          <p:nvPr/>
        </p:nvSpPr>
        <p:spPr>
          <a:xfrm>
            <a:off x="566928" y="1975104"/>
            <a:ext cx="11057839" cy="2331720"/>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11057839" cy="310896"/>
          </a:xfrm>
          <a:prstGeom prst="rect">
            <a:avLst/>
          </a:prstGeom>
          <a:solidFill>
            <a:srgbClr val="0E141B"/>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4944" y="2039112"/>
            <a:ext cx="10783519" cy="182880"/>
          </a:xfrm>
          <a:prstGeom prst="rect">
            <a:avLst/>
          </a:prstGeom>
          <a:noFill/>
        </p:spPr>
        <p:txBody>
          <a:bodyPr wrap="square" lIns="0" rIns="0" tIns="0" bIns="0" anchor="t">
            <a:spAutoFit/>
          </a:bodyPr>
          <a:lstStyle/>
          <a:p>
            <a:pPr algn="l"/>
            <a:r>
              <a:rPr sz="900" b="0">
                <a:solidFill>
                  <a:srgbClr val="3FCF8E"/>
                </a:solidFill>
                <a:latin typeface="IBM Plex Mono"/>
              </a:rPr>
              <a:t>$ </a:t>
            </a:r>
            <a:r>
              <a:rPr sz="900" b="0">
                <a:solidFill>
                  <a:srgbClr val="6F8093"/>
                </a:solidFill>
                <a:latin typeface="IBM Plex Mono"/>
              </a:rPr>
              <a:t>Build/Scripts/runTests.sh -s functional</a:t>
            </a:r>
          </a:p>
        </p:txBody>
      </p:sp>
      <p:sp>
        <p:nvSpPr>
          <p:cNvPr id="11" name="TextBox 10"/>
          <p:cNvSpPr txBox="1"/>
          <p:nvPr/>
        </p:nvSpPr>
        <p:spPr>
          <a:xfrm>
            <a:off x="713232" y="2395728"/>
            <a:ext cx="10765231" cy="1801368"/>
          </a:xfrm>
          <a:prstGeom prst="rect">
            <a:avLst/>
          </a:prstGeom>
          <a:noFill/>
        </p:spPr>
        <p:txBody>
          <a:bodyPr wrap="square" lIns="0" rIns="0" tIns="0" bIns="0" anchor="t">
            <a:spAutoFit/>
          </a:bodyPr>
          <a:lstStyle/>
          <a:p>
            <a:pPr algn="l">
              <a:lnSpc>
                <a:spcPct val="106000"/>
              </a:lnSpc>
            </a:pPr>
            <a:r>
              <a:rPr sz="854" b="0" i="0">
                <a:solidFill>
                  <a:srgbClr val="C9D6E2"/>
                </a:solidFill>
                <a:latin typeface="IBM Plex Mono"/>
              </a:rPr>
              <a:t>There were 6 errors:</a:t>
            </a:r>
          </a:p>
          <a:p>
            <a:pPr algn="l">
              <a:lnSpc>
                <a:spcPct val="106000"/>
              </a:lnSpc>
              <a:spcBef>
                <a:spcPts val="0"/>
              </a:spcBef>
            </a:pPr>
            <a:r>
              <a:rPr sz="854" b="0" i="0">
                <a:solidFill>
                  <a:srgbClr val="C9D6E2"/>
                </a:solidFill>
                <a:latin typeface="IBM Plex Mono"/>
              </a:rPr>
              <a:t> </a:t>
            </a:r>
          </a:p>
          <a:p>
            <a:pPr algn="l">
              <a:lnSpc>
                <a:spcPct val="106000"/>
              </a:lnSpc>
              <a:spcBef>
                <a:spcPts val="0"/>
              </a:spcBef>
            </a:pPr>
            <a:r>
              <a:rPr sz="854" b="0" i="0">
                <a:solidFill>
                  <a:srgbClr val="C9D6E2"/>
                </a:solidFill>
                <a:latin typeface="IBM Plex Mono"/>
              </a:rPr>
              <a:t>1) FlightBoardTest::boardRendersFlightNumbersFromTheDatabase</a:t>
            </a:r>
          </a:p>
          <a:p>
            <a:pPr algn="l">
              <a:lnSpc>
                <a:spcPct val="106000"/>
              </a:lnSpc>
              <a:spcBef>
                <a:spcPts val="0"/>
              </a:spcBef>
            </a:pPr>
            <a:r>
              <a:rPr sz="854" b="0" i="0">
                <a:solidFill>
                  <a:srgbClr val="C9D6E2"/>
                </a:solidFill>
                <a:latin typeface="IBM Plex Mono"/>
              </a:rPr>
              <a:t>Error: Undefined constant TYPO3\CMS\Core\Messaging\FlashMessage::WARNING</a:t>
            </a:r>
          </a:p>
          <a:p>
            <a:pPr algn="l">
              <a:lnSpc>
                <a:spcPct val="106000"/>
              </a:lnSpc>
              <a:spcBef>
                <a:spcPts val="0"/>
              </a:spcBef>
            </a:pPr>
            <a:r>
              <a:rPr sz="854" b="0" i="0">
                <a:solidFill>
                  <a:srgbClr val="C9D6E2"/>
                </a:solidFill>
                <a:latin typeface="IBM Plex Mono"/>
              </a:rPr>
              <a:t>packages/flight_ops/Classes/Controller/FlightController.php:31</a:t>
            </a:r>
          </a:p>
          <a:p>
            <a:pPr algn="l">
              <a:lnSpc>
                <a:spcPct val="106000"/>
              </a:lnSpc>
              <a:spcBef>
                <a:spcPts val="0"/>
              </a:spcBef>
            </a:pPr>
            <a:r>
              <a:rPr sz="854" b="0" i="0">
                <a:solidFill>
                  <a:srgbClr val="C9D6E2"/>
                </a:solidFill>
                <a:latin typeface="IBM Plex Mono"/>
              </a:rPr>
              <a:t> </a:t>
            </a:r>
          </a:p>
          <a:p>
            <a:pPr algn="l">
              <a:lnSpc>
                <a:spcPct val="106000"/>
              </a:lnSpc>
              <a:spcBef>
                <a:spcPts val="0"/>
              </a:spcBef>
            </a:pPr>
            <a:r>
              <a:rPr sz="854" b="0" i="0">
                <a:solidFill>
                  <a:srgbClr val="C9D6E2"/>
                </a:solidFill>
                <a:latin typeface="IBM Plex Mono"/>
              </a:rPr>
              <a:t>4) BoardingServiceTest::findDeparturesReturnsAllRows</a:t>
            </a:r>
          </a:p>
          <a:p>
            <a:pPr algn="l">
              <a:lnSpc>
                <a:spcPct val="106000"/>
              </a:lnSpc>
              <a:spcBef>
                <a:spcPts val="0"/>
              </a:spcBef>
            </a:pPr>
            <a:r>
              <a:rPr sz="854" b="0" i="0">
                <a:solidFill>
                  <a:srgbClr val="C9D6E2"/>
                </a:solidFill>
                <a:latin typeface="IBM Plex Mono"/>
              </a:rPr>
              <a:t>Error: Call to undefined method</a:t>
            </a:r>
          </a:p>
          <a:p>
            <a:pPr algn="l">
              <a:lnSpc>
                <a:spcPct val="106000"/>
              </a:lnSpc>
              <a:spcBef>
                <a:spcPts val="0"/>
              </a:spcBef>
            </a:pPr>
            <a:r>
              <a:rPr sz="854" b="0" i="0">
                <a:solidFill>
                  <a:srgbClr val="C9D6E2"/>
                </a:solidFill>
                <a:latin typeface="IBM Plex Mono"/>
              </a:rPr>
              <a:t>       TYPO3\CMS\Core\Database\Query\QueryBuilder::execute()</a:t>
            </a:r>
          </a:p>
          <a:p>
            <a:pPr algn="l">
              <a:lnSpc>
                <a:spcPct val="106000"/>
              </a:lnSpc>
              <a:spcBef>
                <a:spcPts val="0"/>
              </a:spcBef>
            </a:pPr>
            <a:r>
              <a:rPr sz="854" b="0" i="0">
                <a:solidFill>
                  <a:srgbClr val="C9D6E2"/>
                </a:solidFill>
                <a:latin typeface="IBM Plex Mono"/>
              </a:rPr>
              <a:t>packages/flight_ops/Classes/Service/BoardingService.php:26</a:t>
            </a:r>
          </a:p>
          <a:p>
            <a:pPr algn="l">
              <a:lnSpc>
                <a:spcPct val="106000"/>
              </a:lnSpc>
              <a:spcBef>
                <a:spcPts val="0"/>
              </a:spcBef>
            </a:pPr>
            <a:r>
              <a:rPr sz="854" b="0" i="0">
                <a:solidFill>
                  <a:srgbClr val="C9D6E2"/>
                </a:solidFill>
                <a:latin typeface="IBM Plex Mono"/>
              </a:rPr>
              <a:t> </a:t>
            </a:r>
          </a:p>
          <a:p>
            <a:pPr algn="l">
              <a:lnSpc>
                <a:spcPct val="106000"/>
              </a:lnSpc>
              <a:spcBef>
                <a:spcPts val="0"/>
              </a:spcBef>
            </a:pPr>
            <a:r>
              <a:rPr sz="854" b="0" i="0">
                <a:solidFill>
                  <a:srgbClr val="C9D6E2"/>
                </a:solidFill>
                <a:latin typeface="IBM Plex Mono"/>
              </a:rPr>
              <a:t>ERRORS!</a:t>
            </a:r>
          </a:p>
          <a:p>
            <a:pPr algn="l">
              <a:lnSpc>
                <a:spcPct val="106000"/>
              </a:lnSpc>
              <a:spcBef>
                <a:spcPts val="0"/>
              </a:spcBef>
            </a:pPr>
            <a:r>
              <a:rPr sz="854" b="0" i="0">
                <a:solidFill>
                  <a:srgbClr val="C9D6E2"/>
                </a:solidFill>
                <a:latin typeface="IBM Plex Mono"/>
              </a:rPr>
              <a:t>Tests: 8, Assertions: 2, Errors: 6, Deprecations: 4.</a:t>
            </a:r>
          </a:p>
        </p:txBody>
      </p:sp>
      <p:sp>
        <p:nvSpPr>
          <p:cNvPr id="12" name="TextBox 11"/>
          <p:cNvSpPr txBox="1"/>
          <p:nvPr/>
        </p:nvSpPr>
        <p:spPr>
          <a:xfrm>
            <a:off x="566928" y="4453128"/>
            <a:ext cx="11057839" cy="914400"/>
          </a:xfrm>
          <a:prstGeom prst="rect">
            <a:avLst/>
          </a:prstGeom>
          <a:noFill/>
        </p:spPr>
        <p:txBody>
          <a:bodyPr wrap="square" lIns="0" rIns="0" tIns="0" bIns="0" anchor="t">
            <a:spAutoFit/>
          </a:bodyPr>
          <a:lstStyle/>
          <a:p>
            <a:pPr algn="l">
              <a:lnSpc>
                <a:spcPct val="112000"/>
              </a:lnSpc>
            </a:pPr>
            <a:r>
              <a:rPr sz="1250" b="0" i="0">
                <a:solidFill>
                  <a:srgbClr val="FF8700"/>
                </a:solidFill>
                <a:latin typeface="Barlow"/>
              </a:rPr>
              <a:t>◆  </a:t>
            </a:r>
            <a:r>
              <a:rPr sz="1250" b="0" i="0">
                <a:solidFill>
                  <a:srgbClr val="EAF0F6"/>
                </a:solidFill>
                <a:latin typeface="Barlow"/>
              </a:rPr>
              <a:t>File, line, and the exact method. No bisecting, no guessing, no clicking.</a:t>
            </a:r>
          </a:p>
          <a:p>
            <a:pPr algn="l">
              <a:lnSpc>
                <a:spcPct val="112000"/>
              </a:lnSpc>
              <a:spcBef>
                <a:spcPts val="700"/>
              </a:spcBef>
            </a:pPr>
            <a:r>
              <a:rPr sz="1250" b="0" i="0">
                <a:solidFill>
                  <a:srgbClr val="FF8700"/>
                </a:solidFill>
                <a:latin typeface="Barlow"/>
              </a:rPr>
              <a:t>◆  </a:t>
            </a:r>
            <a:r>
              <a:rPr sz="1250" b="0" i="0">
                <a:solidFill>
                  <a:srgbClr val="EAF0F6"/>
                </a:solidFill>
                <a:latin typeface="Barlow"/>
              </a:rPr>
              <a:t>Six failures, two root causes — the count tells you the size, not just the fact.</a:t>
            </a:r>
          </a:p>
          <a:p>
            <a:pPr algn="l">
              <a:lnSpc>
                <a:spcPct val="112000"/>
              </a:lnSpc>
              <a:spcBef>
                <a:spcPts val="700"/>
              </a:spcBef>
            </a:pPr>
            <a:r>
              <a:rPr sz="1250" b="0" i="0">
                <a:solidFill>
                  <a:srgbClr val="FF8700"/>
                </a:solidFill>
                <a:latin typeface="Barlow"/>
              </a:rPr>
              <a:t>◆  </a:t>
            </a:r>
            <a:r>
              <a:rPr sz="1250" b="0" i="0">
                <a:solidFill>
                  <a:srgbClr val="EAF0F6"/>
                </a:solidFill>
                <a:latin typeface="Barlow"/>
              </a:rPr>
              <a:t>The Extension Scanner has no rule for this method. The suite did not need one.</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65 / 88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143771"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Deprecation on Monday. Fatal error on Tuesday. Same test, same line.</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On 12.4 that suite reported 4 deprecations and passed every assertion. On 13.4 the same suite reports 6 errors. Nothing about the code changed — only the core underneath it.</a:t>
            </a:r>
          </a:p>
        </p:txBody>
      </p:sp>
      <p:sp>
        <p:nvSpPr>
          <p:cNvPr id="6" name="Rectangle 5"/>
          <p:cNvSpPr/>
          <p:nvPr/>
        </p:nvSpPr>
        <p:spPr>
          <a:xfrm>
            <a:off x="566928" y="4572000"/>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This is the whole talk in one command. Your tests are where “today's deprecation is tomorrow's breaking change” stops being a slogan and becomes a line number.</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66 / 88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282313"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852208"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852208" cy="201168"/>
          </a:xfrm>
          <a:prstGeom prst="rect">
            <a:avLst/>
          </a:prstGeom>
          <a:noFill/>
        </p:spPr>
        <p:txBody>
          <a:bodyPr wrap="square" lIns="0" rIns="0" tIns="0" bIns="0" anchor="t">
            <a:spAutoFit/>
          </a:bodyPr>
          <a:lstStyle/>
          <a:p>
            <a:pPr algn="l"/>
            <a:r>
              <a:rPr sz="1100" b="1">
                <a:solidFill>
                  <a:srgbClr val="0B1016"/>
                </a:solidFill>
                <a:latin typeface="Barlow Condensed"/>
              </a:rPr>
              <a:t>PHASE 2 · COVERAGE</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Working the failures</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FF8700"/>
                </a:solidFill>
                <a:latin typeface="Barlow"/>
              </a:rPr>
              <a:t>◆  </a:t>
            </a:r>
            <a:r>
              <a:rPr sz="1600" b="0" i="0">
                <a:solidFill>
                  <a:srgbClr val="EAF0F6"/>
                </a:solidFill>
                <a:latin typeface="Barlow"/>
              </a:rPr>
              <a:t>Errors first: a removed API means the code cannot even run. That is your blocking set.</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Deprecations second: they still work, so they are scheduled work, not emergency work.</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One fix, one run, one commit — so a wrong fix is one revert, not an investigation.</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A failure you cannot explain is a changelog you have not read yet.</a:t>
            </a:r>
          </a:p>
        </p:txBody>
      </p:sp>
      <p:sp>
        <p:nvSpPr>
          <p:cNvPr id="8" name="Rectangle 7"/>
          <p:cNvSpPr/>
          <p:nvPr/>
        </p:nvSpPr>
        <p:spPr>
          <a:xfrm>
            <a:off x="566928" y="3401568"/>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The suite also tells you when to stop. “Green” is a fact. “I think it works now” is not.</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67 / 88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420855"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852208"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852208" cy="201168"/>
          </a:xfrm>
          <a:prstGeom prst="rect">
            <a:avLst/>
          </a:prstGeom>
          <a:noFill/>
        </p:spPr>
        <p:txBody>
          <a:bodyPr wrap="square" lIns="0" rIns="0" tIns="0" bIns="0" anchor="t">
            <a:spAutoFit/>
          </a:bodyPr>
          <a:lstStyle/>
          <a:p>
            <a:pPr algn="l"/>
            <a:r>
              <a:rPr sz="1100" b="1">
                <a:solidFill>
                  <a:srgbClr val="0B1016"/>
                </a:solidFill>
                <a:latin typeface="Barlow Condensed"/>
              </a:rPr>
              <a:t>PHASE 2 · COVERAGE</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Four states of one pipeline</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Every number measured on the workshop project — same 8 tests throughout</a:t>
            </a:r>
          </a:p>
        </p:txBody>
      </p:sp>
      <p:sp>
        <p:nvSpPr>
          <p:cNvPr id="8" name="Rectangle 7"/>
          <p:cNvSpPr/>
          <p:nvPr/>
        </p:nvSpPr>
        <p:spPr>
          <a:xfrm>
            <a:off x="566928" y="1975104"/>
            <a:ext cx="11057839" cy="713232"/>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975104"/>
            <a:ext cx="44450" cy="7132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2075688"/>
            <a:ext cx="5486400" cy="274320"/>
          </a:xfrm>
          <a:prstGeom prst="rect">
            <a:avLst/>
          </a:prstGeom>
          <a:noFill/>
        </p:spPr>
        <p:txBody>
          <a:bodyPr wrap="square" lIns="0" rIns="0" tIns="0" bIns="0" anchor="t">
            <a:spAutoFit/>
          </a:bodyPr>
          <a:lstStyle/>
          <a:p>
            <a:pPr algn="l"/>
            <a:r>
              <a:rPr sz="1600" b="1">
                <a:solidFill>
                  <a:srgbClr val="EAF0F6"/>
                </a:solidFill>
                <a:latin typeface="Barlow Condensed"/>
              </a:rPr>
              <a:t>12.4 — before departure</a:t>
            </a:r>
          </a:p>
        </p:txBody>
      </p:sp>
      <p:sp>
        <p:nvSpPr>
          <p:cNvPr id="11" name="TextBox 10"/>
          <p:cNvSpPr txBox="1"/>
          <p:nvPr/>
        </p:nvSpPr>
        <p:spPr>
          <a:xfrm>
            <a:off x="749808" y="2377440"/>
            <a:ext cx="5852160" cy="256032"/>
          </a:xfrm>
          <a:prstGeom prst="rect">
            <a:avLst/>
          </a:prstGeom>
          <a:noFill/>
        </p:spPr>
        <p:txBody>
          <a:bodyPr wrap="square" lIns="0" rIns="0" tIns="0" bIns="0" anchor="t">
            <a:spAutoFit/>
          </a:bodyPr>
          <a:lstStyle/>
          <a:p>
            <a:pPr algn="l"/>
            <a:r>
              <a:rPr sz="1100" b="0">
                <a:solidFill>
                  <a:srgbClr val="A8B6C6"/>
                </a:solidFill>
                <a:latin typeface="Barlow"/>
              </a:rPr>
              <a:t>Everything passes. The core names four things v13 will change.</a:t>
            </a:r>
          </a:p>
        </p:txBody>
      </p:sp>
      <p:sp>
        <p:nvSpPr>
          <p:cNvPr id="12" name="TextBox 11"/>
          <p:cNvSpPr txBox="1"/>
          <p:nvPr/>
        </p:nvSpPr>
        <p:spPr>
          <a:xfrm>
            <a:off x="6876288" y="2194560"/>
            <a:ext cx="3657600" cy="274320"/>
          </a:xfrm>
          <a:prstGeom prst="rect">
            <a:avLst/>
          </a:prstGeom>
          <a:noFill/>
        </p:spPr>
        <p:txBody>
          <a:bodyPr wrap="square" lIns="0" rIns="0" tIns="0" bIns="0" anchor="t">
            <a:spAutoFit/>
          </a:bodyPr>
          <a:lstStyle/>
          <a:p>
            <a:pPr algn="l"/>
            <a:r>
              <a:rPr sz="1150" b="0">
                <a:solidFill>
                  <a:srgbClr val="FFB020"/>
                </a:solidFill>
                <a:latin typeface="IBM Plex Mono"/>
              </a:rPr>
              <a:t>8 tests · 11 assertions · 4 deprecations</a:t>
            </a:r>
          </a:p>
        </p:txBody>
      </p:sp>
      <p:sp>
        <p:nvSpPr>
          <p:cNvPr id="13" name="TextBox 12"/>
          <p:cNvSpPr txBox="1"/>
          <p:nvPr/>
        </p:nvSpPr>
        <p:spPr>
          <a:xfrm>
            <a:off x="10801807" y="2084832"/>
            <a:ext cx="731520" cy="365760"/>
          </a:xfrm>
          <a:prstGeom prst="rect">
            <a:avLst/>
          </a:prstGeom>
          <a:noFill/>
        </p:spPr>
        <p:txBody>
          <a:bodyPr wrap="square" lIns="0" rIns="0" tIns="0" bIns="0" anchor="t">
            <a:spAutoFit/>
          </a:bodyPr>
          <a:lstStyle/>
          <a:p>
            <a:pPr algn="r"/>
            <a:r>
              <a:rPr sz="2400" b="1">
                <a:solidFill>
                  <a:srgbClr val="FFB020"/>
                </a:solidFill>
                <a:latin typeface="Barlow Condensed"/>
              </a:rPr>
              <a:t>1</a:t>
            </a:r>
          </a:p>
        </p:txBody>
      </p:sp>
      <p:sp>
        <p:nvSpPr>
          <p:cNvPr id="14" name="TextBox 13"/>
          <p:cNvSpPr txBox="1"/>
          <p:nvPr/>
        </p:nvSpPr>
        <p:spPr>
          <a:xfrm>
            <a:off x="10801807" y="2450592"/>
            <a:ext cx="731520" cy="182880"/>
          </a:xfrm>
          <a:prstGeom prst="rect">
            <a:avLst/>
          </a:prstGeom>
          <a:noFill/>
        </p:spPr>
        <p:txBody>
          <a:bodyPr wrap="square" lIns="0" rIns="0" tIns="0" bIns="0" anchor="t">
            <a:spAutoFit/>
          </a:bodyPr>
          <a:lstStyle/>
          <a:p>
            <a:pPr algn="r"/>
            <a:r>
              <a:rPr sz="750" b="0">
                <a:solidFill>
                  <a:srgbClr val="6F8093"/>
                </a:solidFill>
                <a:latin typeface="IBM Plex Mono"/>
              </a:rPr>
              <a:t>EXIT</a:t>
            </a:r>
          </a:p>
        </p:txBody>
      </p:sp>
      <p:sp>
        <p:nvSpPr>
          <p:cNvPr id="15" name="Rectangle 14"/>
          <p:cNvSpPr/>
          <p:nvPr/>
        </p:nvSpPr>
        <p:spPr>
          <a:xfrm>
            <a:off x="566928" y="2798064"/>
            <a:ext cx="11057839" cy="713232"/>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2798064"/>
            <a:ext cx="44450" cy="713232"/>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9808" y="2898648"/>
            <a:ext cx="5486400" cy="274320"/>
          </a:xfrm>
          <a:prstGeom prst="rect">
            <a:avLst/>
          </a:prstGeom>
          <a:noFill/>
        </p:spPr>
        <p:txBody>
          <a:bodyPr wrap="square" lIns="0" rIns="0" tIns="0" bIns="0" anchor="t">
            <a:spAutoFit/>
          </a:bodyPr>
          <a:lstStyle/>
          <a:p>
            <a:pPr algn="l"/>
            <a:r>
              <a:rPr sz="1600" b="1">
                <a:solidFill>
                  <a:srgbClr val="EAF0F6"/>
                </a:solidFill>
                <a:latin typeface="Barlow Condensed"/>
              </a:rPr>
              <a:t>13.4 — straight after the bump</a:t>
            </a:r>
          </a:p>
        </p:txBody>
      </p:sp>
      <p:sp>
        <p:nvSpPr>
          <p:cNvPr id="18" name="TextBox 17"/>
          <p:cNvSpPr txBox="1"/>
          <p:nvPr/>
        </p:nvSpPr>
        <p:spPr>
          <a:xfrm>
            <a:off x="749808" y="3200400"/>
            <a:ext cx="5852160" cy="256032"/>
          </a:xfrm>
          <a:prstGeom prst="rect">
            <a:avLst/>
          </a:prstGeom>
          <a:noFill/>
        </p:spPr>
        <p:txBody>
          <a:bodyPr wrap="square" lIns="0" rIns="0" tIns="0" bIns="0" anchor="t">
            <a:spAutoFit/>
          </a:bodyPr>
          <a:lstStyle/>
          <a:p>
            <a:pPr algn="l"/>
            <a:r>
              <a:rPr sz="1100" b="0">
                <a:solidFill>
                  <a:srgbClr val="A8B6C6"/>
                </a:solidFill>
                <a:latin typeface="Barlow"/>
              </a:rPr>
              <a:t>execute() and FlashMessage::WARNING are gone. Six tests, two root causes.</a:t>
            </a:r>
          </a:p>
        </p:txBody>
      </p:sp>
      <p:sp>
        <p:nvSpPr>
          <p:cNvPr id="19" name="TextBox 18"/>
          <p:cNvSpPr txBox="1"/>
          <p:nvPr/>
        </p:nvSpPr>
        <p:spPr>
          <a:xfrm>
            <a:off x="6876288" y="3017520"/>
            <a:ext cx="3657600" cy="274320"/>
          </a:xfrm>
          <a:prstGeom prst="rect">
            <a:avLst/>
          </a:prstGeom>
          <a:noFill/>
        </p:spPr>
        <p:txBody>
          <a:bodyPr wrap="square" lIns="0" rIns="0" tIns="0" bIns="0" anchor="t">
            <a:spAutoFit/>
          </a:bodyPr>
          <a:lstStyle/>
          <a:p>
            <a:pPr algn="l"/>
            <a:r>
              <a:rPr sz="1150" b="0">
                <a:solidFill>
                  <a:srgbClr val="E5484D"/>
                </a:solidFill>
                <a:latin typeface="IBM Plex Mono"/>
              </a:rPr>
              <a:t>8 tests · 2 assertions · 6 errors</a:t>
            </a:r>
          </a:p>
        </p:txBody>
      </p:sp>
      <p:sp>
        <p:nvSpPr>
          <p:cNvPr id="20" name="TextBox 19"/>
          <p:cNvSpPr txBox="1"/>
          <p:nvPr/>
        </p:nvSpPr>
        <p:spPr>
          <a:xfrm>
            <a:off x="10801807" y="2907792"/>
            <a:ext cx="731520" cy="365760"/>
          </a:xfrm>
          <a:prstGeom prst="rect">
            <a:avLst/>
          </a:prstGeom>
          <a:noFill/>
        </p:spPr>
        <p:txBody>
          <a:bodyPr wrap="square" lIns="0" rIns="0" tIns="0" bIns="0" anchor="t">
            <a:spAutoFit/>
          </a:bodyPr>
          <a:lstStyle/>
          <a:p>
            <a:pPr algn="r"/>
            <a:r>
              <a:rPr sz="2400" b="1">
                <a:solidFill>
                  <a:srgbClr val="E5484D"/>
                </a:solidFill>
                <a:latin typeface="Barlow Condensed"/>
              </a:rPr>
              <a:t>2</a:t>
            </a:r>
          </a:p>
        </p:txBody>
      </p:sp>
      <p:sp>
        <p:nvSpPr>
          <p:cNvPr id="21" name="TextBox 20"/>
          <p:cNvSpPr txBox="1"/>
          <p:nvPr/>
        </p:nvSpPr>
        <p:spPr>
          <a:xfrm>
            <a:off x="10801807" y="3273552"/>
            <a:ext cx="731520" cy="182880"/>
          </a:xfrm>
          <a:prstGeom prst="rect">
            <a:avLst/>
          </a:prstGeom>
          <a:noFill/>
        </p:spPr>
        <p:txBody>
          <a:bodyPr wrap="square" lIns="0" rIns="0" tIns="0" bIns="0" anchor="t">
            <a:spAutoFit/>
          </a:bodyPr>
          <a:lstStyle/>
          <a:p>
            <a:pPr algn="r"/>
            <a:r>
              <a:rPr sz="750" b="0">
                <a:solidFill>
                  <a:srgbClr val="6F8093"/>
                </a:solidFill>
                <a:latin typeface="IBM Plex Mono"/>
              </a:rPr>
              <a:t>EXIT</a:t>
            </a:r>
          </a:p>
        </p:txBody>
      </p:sp>
      <p:sp>
        <p:nvSpPr>
          <p:cNvPr id="22" name="Rectangle 21"/>
          <p:cNvSpPr/>
          <p:nvPr/>
        </p:nvSpPr>
        <p:spPr>
          <a:xfrm>
            <a:off x="566928" y="3621024"/>
            <a:ext cx="11057839" cy="713232"/>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66928" y="3621024"/>
            <a:ext cx="44450" cy="713232"/>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9808" y="3721608"/>
            <a:ext cx="5486400" cy="274320"/>
          </a:xfrm>
          <a:prstGeom prst="rect">
            <a:avLst/>
          </a:prstGeom>
          <a:noFill/>
        </p:spPr>
        <p:txBody>
          <a:bodyPr wrap="square" lIns="0" rIns="0" tIns="0" bIns="0" anchor="t">
            <a:spAutoFit/>
          </a:bodyPr>
          <a:lstStyle/>
          <a:p>
            <a:pPr algn="l"/>
            <a:r>
              <a:rPr sz="1600" b="1">
                <a:solidFill>
                  <a:srgbClr val="EAF0F6"/>
                </a:solidFill>
                <a:latin typeface="Barlow Condensed"/>
              </a:rPr>
              <a:t>13.4 — after Rector and Fractor</a:t>
            </a:r>
          </a:p>
        </p:txBody>
      </p:sp>
      <p:sp>
        <p:nvSpPr>
          <p:cNvPr id="25" name="TextBox 24"/>
          <p:cNvSpPr txBox="1"/>
          <p:nvPr/>
        </p:nvSpPr>
        <p:spPr>
          <a:xfrm>
            <a:off x="749808" y="4023360"/>
            <a:ext cx="5852160" cy="256032"/>
          </a:xfrm>
          <a:prstGeom prst="rect">
            <a:avLst/>
          </a:prstGeom>
          <a:noFill/>
        </p:spPr>
        <p:txBody>
          <a:bodyPr wrap="square" lIns="0" rIns="0" tIns="0" bIns="0" anchor="t">
            <a:spAutoFit/>
          </a:bodyPr>
          <a:lstStyle/>
          <a:p>
            <a:pPr algn="l"/>
            <a:r>
              <a:rPr sz="1100" b="0">
                <a:solidFill>
                  <a:srgbClr val="A8B6C6"/>
                </a:solidFill>
                <a:latin typeface="Barlow"/>
              </a:rPr>
              <a:t>Half cleared — and Rector's own fix broke the plugin. See next slide.</a:t>
            </a:r>
          </a:p>
        </p:txBody>
      </p:sp>
      <p:sp>
        <p:nvSpPr>
          <p:cNvPr id="26" name="TextBox 25"/>
          <p:cNvSpPr txBox="1"/>
          <p:nvPr/>
        </p:nvSpPr>
        <p:spPr>
          <a:xfrm>
            <a:off x="6876288" y="3840480"/>
            <a:ext cx="3657600" cy="274320"/>
          </a:xfrm>
          <a:prstGeom prst="rect">
            <a:avLst/>
          </a:prstGeom>
          <a:noFill/>
        </p:spPr>
        <p:txBody>
          <a:bodyPr wrap="square" lIns="0" rIns="0" tIns="0" bIns="0" anchor="t">
            <a:spAutoFit/>
          </a:bodyPr>
          <a:lstStyle/>
          <a:p>
            <a:pPr algn="l"/>
            <a:r>
              <a:rPr sz="1150" b="0">
                <a:solidFill>
                  <a:srgbClr val="FFB020"/>
                </a:solidFill>
                <a:latin typeface="IBM Plex Mono"/>
              </a:rPr>
              <a:t>8 tests · 6 assertions · 3 errors</a:t>
            </a:r>
          </a:p>
        </p:txBody>
      </p:sp>
      <p:sp>
        <p:nvSpPr>
          <p:cNvPr id="27" name="TextBox 26"/>
          <p:cNvSpPr txBox="1"/>
          <p:nvPr/>
        </p:nvSpPr>
        <p:spPr>
          <a:xfrm>
            <a:off x="10801807" y="3730752"/>
            <a:ext cx="731520" cy="365760"/>
          </a:xfrm>
          <a:prstGeom prst="rect">
            <a:avLst/>
          </a:prstGeom>
          <a:noFill/>
        </p:spPr>
        <p:txBody>
          <a:bodyPr wrap="square" lIns="0" rIns="0" tIns="0" bIns="0" anchor="t">
            <a:spAutoFit/>
          </a:bodyPr>
          <a:lstStyle/>
          <a:p>
            <a:pPr algn="r"/>
            <a:r>
              <a:rPr sz="2400" b="1">
                <a:solidFill>
                  <a:srgbClr val="FFB020"/>
                </a:solidFill>
                <a:latin typeface="Barlow Condensed"/>
              </a:rPr>
              <a:t>2</a:t>
            </a:r>
          </a:p>
        </p:txBody>
      </p:sp>
      <p:sp>
        <p:nvSpPr>
          <p:cNvPr id="28" name="TextBox 27"/>
          <p:cNvSpPr txBox="1"/>
          <p:nvPr/>
        </p:nvSpPr>
        <p:spPr>
          <a:xfrm>
            <a:off x="10801807" y="4096512"/>
            <a:ext cx="731520" cy="182880"/>
          </a:xfrm>
          <a:prstGeom prst="rect">
            <a:avLst/>
          </a:prstGeom>
          <a:noFill/>
        </p:spPr>
        <p:txBody>
          <a:bodyPr wrap="square" lIns="0" rIns="0" tIns="0" bIns="0" anchor="t">
            <a:spAutoFit/>
          </a:bodyPr>
          <a:lstStyle/>
          <a:p>
            <a:pPr algn="r"/>
            <a:r>
              <a:rPr sz="750" b="0">
                <a:solidFill>
                  <a:srgbClr val="6F8093"/>
                </a:solidFill>
                <a:latin typeface="IBM Plex Mono"/>
              </a:rPr>
              <a:t>EXIT</a:t>
            </a:r>
          </a:p>
        </p:txBody>
      </p:sp>
      <p:sp>
        <p:nvSpPr>
          <p:cNvPr id="29" name="Rectangle 28"/>
          <p:cNvSpPr/>
          <p:nvPr/>
        </p:nvSpPr>
        <p:spPr>
          <a:xfrm>
            <a:off x="566928" y="4443984"/>
            <a:ext cx="11057839" cy="713232"/>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66928" y="4443984"/>
            <a:ext cx="44450" cy="7132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9808" y="4544568"/>
            <a:ext cx="5486400" cy="274320"/>
          </a:xfrm>
          <a:prstGeom prst="rect">
            <a:avLst/>
          </a:prstGeom>
          <a:noFill/>
        </p:spPr>
        <p:txBody>
          <a:bodyPr wrap="square" lIns="0" rIns="0" tIns="0" bIns="0" anchor="t">
            <a:spAutoFit/>
          </a:bodyPr>
          <a:lstStyle/>
          <a:p>
            <a:pPr algn="l"/>
            <a:r>
              <a:rPr sz="1600" b="1">
                <a:solidFill>
                  <a:srgbClr val="EAF0F6"/>
                </a:solidFill>
                <a:latin typeface="Barlow Condensed"/>
              </a:rPr>
              <a:t>13.4 — after the hand work</a:t>
            </a:r>
          </a:p>
        </p:txBody>
      </p:sp>
      <p:sp>
        <p:nvSpPr>
          <p:cNvPr id="32" name="TextBox 31"/>
          <p:cNvSpPr txBox="1"/>
          <p:nvPr/>
        </p:nvSpPr>
        <p:spPr>
          <a:xfrm>
            <a:off x="749808" y="4846320"/>
            <a:ext cx="5852160" cy="256032"/>
          </a:xfrm>
          <a:prstGeom prst="rect">
            <a:avLst/>
          </a:prstGeom>
          <a:noFill/>
        </p:spPr>
        <p:txBody>
          <a:bodyPr wrap="square" lIns="0" rIns="0" tIns="0" bIns="0" anchor="t">
            <a:spAutoFit/>
          </a:bodyPr>
          <a:lstStyle/>
          <a:p>
            <a:pPr algn="l"/>
            <a:r>
              <a:rPr sz="1100" b="0">
                <a:solidFill>
                  <a:srgbClr val="A8B6C6"/>
                </a:solidFill>
                <a:latin typeface="Barlow"/>
              </a:rPr>
              <a:t>A removed constant, one TCA rule, and a data migration later.</a:t>
            </a:r>
          </a:p>
        </p:txBody>
      </p:sp>
      <p:sp>
        <p:nvSpPr>
          <p:cNvPr id="33" name="TextBox 32"/>
          <p:cNvSpPr txBox="1"/>
          <p:nvPr/>
        </p:nvSpPr>
        <p:spPr>
          <a:xfrm>
            <a:off x="6876288" y="4663440"/>
            <a:ext cx="3657600" cy="274320"/>
          </a:xfrm>
          <a:prstGeom prst="rect">
            <a:avLst/>
          </a:prstGeom>
          <a:noFill/>
        </p:spPr>
        <p:txBody>
          <a:bodyPr wrap="square" lIns="0" rIns="0" tIns="0" bIns="0" anchor="t">
            <a:spAutoFit/>
          </a:bodyPr>
          <a:lstStyle/>
          <a:p>
            <a:pPr algn="l"/>
            <a:r>
              <a:rPr sz="1150" b="0">
                <a:solidFill>
                  <a:srgbClr val="3FCF8E"/>
                </a:solidFill>
                <a:latin typeface="IBM Plex Mono"/>
              </a:rPr>
              <a:t>OK — 8 tests · 11 assertions</a:t>
            </a:r>
          </a:p>
        </p:txBody>
      </p:sp>
      <p:sp>
        <p:nvSpPr>
          <p:cNvPr id="34" name="TextBox 33"/>
          <p:cNvSpPr txBox="1"/>
          <p:nvPr/>
        </p:nvSpPr>
        <p:spPr>
          <a:xfrm>
            <a:off x="10801807" y="4553712"/>
            <a:ext cx="731520" cy="365760"/>
          </a:xfrm>
          <a:prstGeom prst="rect">
            <a:avLst/>
          </a:prstGeom>
          <a:noFill/>
        </p:spPr>
        <p:txBody>
          <a:bodyPr wrap="square" lIns="0" rIns="0" tIns="0" bIns="0" anchor="t">
            <a:spAutoFit/>
          </a:bodyPr>
          <a:lstStyle/>
          <a:p>
            <a:pPr algn="r"/>
            <a:r>
              <a:rPr sz="2400" b="1">
                <a:solidFill>
                  <a:srgbClr val="3FCF8E"/>
                </a:solidFill>
                <a:latin typeface="Barlow Condensed"/>
              </a:rPr>
              <a:t>0</a:t>
            </a:r>
          </a:p>
        </p:txBody>
      </p:sp>
      <p:sp>
        <p:nvSpPr>
          <p:cNvPr id="35" name="TextBox 34"/>
          <p:cNvSpPr txBox="1"/>
          <p:nvPr/>
        </p:nvSpPr>
        <p:spPr>
          <a:xfrm>
            <a:off x="10801807" y="4919472"/>
            <a:ext cx="731520" cy="182880"/>
          </a:xfrm>
          <a:prstGeom prst="rect">
            <a:avLst/>
          </a:prstGeom>
          <a:noFill/>
        </p:spPr>
        <p:txBody>
          <a:bodyPr wrap="square" lIns="0" rIns="0" tIns="0" bIns="0" anchor="t">
            <a:spAutoFit/>
          </a:bodyPr>
          <a:lstStyle/>
          <a:p>
            <a:pPr algn="r"/>
            <a:r>
              <a:rPr sz="750" b="0">
                <a:solidFill>
                  <a:srgbClr val="6F8093"/>
                </a:solidFill>
                <a:latin typeface="IBM Plex Mono"/>
              </a:rPr>
              <a:t>EXIT</a:t>
            </a:r>
          </a:p>
        </p:txBody>
      </p:sp>
      <p:sp>
        <p:nvSpPr>
          <p:cNvPr id="36" name="Rectangle 35"/>
          <p:cNvSpPr/>
          <p:nvPr/>
        </p:nvSpPr>
        <p:spPr>
          <a:xfrm>
            <a:off x="566928" y="5358384"/>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76656" y="5358384"/>
            <a:ext cx="10948111" cy="457200"/>
          </a:xfrm>
          <a:prstGeom prst="rect">
            <a:avLst/>
          </a:prstGeom>
          <a:noFill/>
        </p:spPr>
        <p:txBody>
          <a:bodyPr wrap="square" lIns="0" rIns="0" tIns="0" bIns="0" anchor="t">
            <a:spAutoFit/>
          </a:bodyPr>
          <a:lstStyle/>
          <a:p>
            <a:pPr algn="l"/>
            <a:r>
              <a:rPr sz="1250" b="0">
                <a:solidFill>
                  <a:srgbClr val="A8B6C6"/>
                </a:solidFill>
                <a:latin typeface="Barlow"/>
              </a:rPr>
              <a:t>You are never guessing how far along you are. That is what coverage buys you on the night of the upgrade.</a:t>
            </a:r>
          </a:p>
        </p:txBody>
      </p:sp>
      <p:sp>
        <p:nvSpPr>
          <p:cNvPr id="38" name="TextBox 3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39" name="TextBox 3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68 / 88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559397"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2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Scan again — same tool, new truth</a:t>
            </a:r>
          </a:p>
        </p:txBody>
      </p:sp>
      <p:sp>
        <p:nvSpPr>
          <p:cNvPr id="7" name="Rectangle 6"/>
          <p:cNvSpPr/>
          <p:nvPr/>
        </p:nvSpPr>
        <p:spPr>
          <a:xfrm>
            <a:off x="566928" y="1591056"/>
            <a:ext cx="6400800" cy="395020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08-v13-scanner-results.png"/>
          <p:cNvPicPr>
            <a:picLocks noChangeAspect="1"/>
          </p:cNvPicPr>
          <p:nvPr/>
        </p:nvPicPr>
        <p:blipFill>
          <a:blip r:embed="rId2"/>
          <a:stretch>
            <a:fillRect/>
          </a:stretch>
        </p:blipFill>
        <p:spPr>
          <a:xfrm>
            <a:off x="1538478" y="1682496"/>
            <a:ext cx="4457700" cy="3566160"/>
          </a:xfrm>
          <a:prstGeom prst="rect">
            <a:avLst/>
          </a:prstGeom>
        </p:spPr>
      </p:pic>
      <p:sp>
        <p:nvSpPr>
          <p:cNvPr id="9" name="TextBox 8"/>
          <p:cNvSpPr txBox="1"/>
          <p:nvPr/>
        </p:nvSpPr>
        <p:spPr>
          <a:xfrm>
            <a:off x="676656" y="5303520"/>
            <a:ext cx="6181344" cy="201168"/>
          </a:xfrm>
          <a:prstGeom prst="rect">
            <a:avLst/>
          </a:prstGeom>
          <a:noFill/>
        </p:spPr>
        <p:txBody>
          <a:bodyPr wrap="square" lIns="0" rIns="0" tIns="0" bIns="0" anchor="t">
            <a:spAutoFit/>
          </a:bodyPr>
          <a:lstStyle/>
          <a:p>
            <a:pPr algn="l"/>
            <a:r>
              <a:rPr sz="800" b="0">
                <a:solidFill>
                  <a:srgbClr val="6F8093"/>
                </a:solidFill>
                <a:latin typeface="IBM Plex Mono"/>
              </a:rPr>
              <a:t>Scan Extension Files — the same extension, now on TYPO3 13.4.34</a:t>
            </a:r>
          </a:p>
        </p:txBody>
      </p:sp>
      <p:sp>
        <p:nvSpPr>
          <p:cNvPr id="10" name="TextBox 9"/>
          <p:cNvSpPr txBox="1"/>
          <p:nvPr/>
        </p:nvSpPr>
        <p:spPr>
          <a:xfrm>
            <a:off x="7333488" y="1819656"/>
            <a:ext cx="4291279" cy="2194560"/>
          </a:xfrm>
          <a:prstGeom prst="rect">
            <a:avLst/>
          </a:prstGeom>
          <a:noFill/>
        </p:spPr>
        <p:txBody>
          <a:bodyPr wrap="square" lIns="0" rIns="0" tIns="0" bIns="0" anchor="t">
            <a:spAutoFit/>
          </a:bodyPr>
          <a:lstStyle/>
          <a:p>
            <a:pPr algn="l">
              <a:lnSpc>
                <a:spcPct val="112000"/>
              </a:lnSpc>
            </a:pPr>
            <a:r>
              <a:rPr sz="1300" b="0" i="0">
                <a:solidFill>
                  <a:srgbClr val="FF8700"/>
                </a:solidFill>
                <a:latin typeface="Barlow"/>
              </a:rPr>
              <a:t>◆  </a:t>
            </a:r>
            <a:r>
              <a:rPr sz="1300" b="0" i="0">
                <a:solidFill>
                  <a:srgbClr val="EAF0F6"/>
                </a:solidFill>
                <a:latin typeface="Barlow"/>
              </a:rPr>
              <a:t>13 findings before, 11 after — Rector cleared three, and the scanner found one that is new.</a:t>
            </a:r>
          </a:p>
          <a:p>
            <a:pPr algn="l">
              <a:lnSpc>
                <a:spcPct val="112000"/>
              </a:lnSpc>
              <a:spcBef>
                <a:spcPts val="1100"/>
              </a:spcBef>
            </a:pPr>
            <a:r>
              <a:rPr sz="1300" b="0" i="0">
                <a:solidFill>
                  <a:srgbClr val="FF8700"/>
                </a:solidFill>
                <a:latin typeface="Barlow"/>
              </a:rPr>
              <a:t>◆  </a:t>
            </a:r>
            <a:r>
              <a:rPr sz="1300" b="0" i="0">
                <a:solidFill>
                  <a:srgbClr val="EAF0F6"/>
                </a:solidFill>
                <a:latin typeface="Barlow"/>
              </a:rPr>
              <a:t>New and strong: TypoScriptFrontendController itself, Deprecation #105230, a v13 entry the v12 scanner could not possibly have known.</a:t>
            </a:r>
          </a:p>
          <a:p>
            <a:pPr algn="l">
              <a:lnSpc>
                <a:spcPct val="112000"/>
              </a:lnSpc>
              <a:spcBef>
                <a:spcPts val="1100"/>
              </a:spcBef>
            </a:pPr>
            <a:r>
              <a:rPr sz="1300" b="0" i="0">
                <a:solidFill>
                  <a:srgbClr val="FF8700"/>
                </a:solidFill>
                <a:latin typeface="Barlow"/>
              </a:rPr>
              <a:t>◆  </a:t>
            </a:r>
            <a:r>
              <a:rPr sz="1300" b="0" i="0">
                <a:solidFill>
                  <a:srgbClr val="EAF0F6"/>
                </a:solidFill>
                <a:latin typeface="Barlow"/>
              </a:rPr>
              <a:t>Same tool, same code, new truth — because the rule set ships with the core.</a:t>
            </a:r>
          </a:p>
        </p:txBody>
      </p:sp>
      <p:sp>
        <p:nvSpPr>
          <p:cNvPr id="11" name="Rectangle 10"/>
          <p:cNvSpPr/>
          <p:nvPr/>
        </p:nvSpPr>
        <p:spPr>
          <a:xfrm>
            <a:off x="7333488" y="4151376"/>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443216" y="4151376"/>
            <a:ext cx="4181551" cy="457200"/>
          </a:xfrm>
          <a:prstGeom prst="rect">
            <a:avLst/>
          </a:prstGeom>
          <a:noFill/>
        </p:spPr>
        <p:txBody>
          <a:bodyPr wrap="square" lIns="0" rIns="0" tIns="0" bIns="0" anchor="t">
            <a:spAutoFit/>
          </a:bodyPr>
          <a:lstStyle/>
          <a:p>
            <a:pPr algn="l"/>
            <a:r>
              <a:rPr sz="1250" b="0">
                <a:solidFill>
                  <a:srgbClr val="A8B6C6"/>
                </a:solidFill>
                <a:latin typeface="Barlow"/>
              </a:rPr>
              <a:t>That new finding is not a phase-2 problem. It is the first line of your phase-3 backlog.</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69 / 88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697939"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2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Upgrade wizards</a:t>
            </a:r>
          </a:p>
        </p:txBody>
      </p:sp>
      <p:sp>
        <p:nvSpPr>
          <p:cNvPr id="7" name="Rectangle 6"/>
          <p:cNvSpPr/>
          <p:nvPr/>
        </p:nvSpPr>
        <p:spPr>
          <a:xfrm>
            <a:off x="566928" y="1591056"/>
            <a:ext cx="6400800" cy="395020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09-v13-upgrade-wizard.png"/>
          <p:cNvPicPr>
            <a:picLocks noChangeAspect="1"/>
          </p:cNvPicPr>
          <p:nvPr/>
        </p:nvPicPr>
        <p:blipFill>
          <a:blip r:embed="rId2"/>
          <a:stretch>
            <a:fillRect/>
          </a:stretch>
        </p:blipFill>
        <p:spPr>
          <a:xfrm>
            <a:off x="1538478" y="1682496"/>
            <a:ext cx="4457700" cy="3566160"/>
          </a:xfrm>
          <a:prstGeom prst="rect">
            <a:avLst/>
          </a:prstGeom>
        </p:spPr>
      </p:pic>
      <p:sp>
        <p:nvSpPr>
          <p:cNvPr id="9" name="TextBox 8"/>
          <p:cNvSpPr txBox="1"/>
          <p:nvPr/>
        </p:nvSpPr>
        <p:spPr>
          <a:xfrm>
            <a:off x="676656" y="5303520"/>
            <a:ext cx="6181344" cy="201168"/>
          </a:xfrm>
          <a:prstGeom prst="rect">
            <a:avLst/>
          </a:prstGeom>
          <a:noFill/>
        </p:spPr>
        <p:txBody>
          <a:bodyPr wrap="square" lIns="0" rIns="0" tIns="0" bIns="0" anchor="t">
            <a:spAutoFit/>
          </a:bodyPr>
          <a:lstStyle/>
          <a:p>
            <a:pPr algn="l"/>
            <a:r>
              <a:rPr sz="800" b="0">
                <a:solidFill>
                  <a:srgbClr val="6F8093"/>
                </a:solidFill>
                <a:latin typeface="IBM Plex Mono"/>
              </a:rPr>
              <a:t>Admin Tools › Upgrade › Upgrade Wizard — TYPO3 13.4.34</a:t>
            </a:r>
          </a:p>
        </p:txBody>
      </p:sp>
      <p:sp>
        <p:nvSpPr>
          <p:cNvPr id="10" name="TextBox 9"/>
          <p:cNvSpPr txBox="1"/>
          <p:nvPr/>
        </p:nvSpPr>
        <p:spPr>
          <a:xfrm>
            <a:off x="7333488" y="1819656"/>
            <a:ext cx="4291279" cy="2194560"/>
          </a:xfrm>
          <a:prstGeom prst="rect">
            <a:avLst/>
          </a:prstGeom>
          <a:noFill/>
        </p:spPr>
        <p:txBody>
          <a:bodyPr wrap="square" lIns="0" rIns="0" tIns="0" bIns="0" anchor="t">
            <a:spAutoFit/>
          </a:bodyPr>
          <a:lstStyle/>
          <a:p>
            <a:pPr algn="l">
              <a:lnSpc>
                <a:spcPct val="112000"/>
              </a:lnSpc>
            </a:pPr>
            <a:r>
              <a:rPr sz="1300" b="0" i="0">
                <a:solidFill>
                  <a:srgbClr val="FF8700"/>
                </a:solidFill>
                <a:latin typeface="Barlow"/>
              </a:rPr>
              <a:t>◆  </a:t>
            </a:r>
            <a:r>
              <a:rPr sz="1300" b="0" i="0">
                <a:solidFill>
                  <a:srgbClr val="EAF0F6"/>
                </a:solidFill>
                <a:latin typeface="Barlow"/>
              </a:rPr>
              <a:t>Wizards migrate DATA and CONFIGURATION — the part no refactoring tool can touch.</a:t>
            </a:r>
          </a:p>
          <a:p>
            <a:pPr algn="l">
              <a:lnSpc>
                <a:spcPct val="112000"/>
              </a:lnSpc>
              <a:spcBef>
                <a:spcPts val="1100"/>
              </a:spcBef>
            </a:pPr>
            <a:r>
              <a:rPr sz="1300" b="0" i="0">
                <a:solidFill>
                  <a:srgbClr val="FF8700"/>
                </a:solidFill>
                <a:latin typeface="Barlow"/>
              </a:rPr>
              <a:t>◆  </a:t>
            </a:r>
            <a:r>
              <a:rPr sz="1300" b="0" i="0">
                <a:solidFill>
                  <a:srgbClr val="EAF0F6"/>
                </a:solidFill>
                <a:latin typeface="Barlow"/>
              </a:rPr>
              <a:t>Schema first: missing tables and fields must exist before any wizard may run.</a:t>
            </a:r>
          </a:p>
          <a:p>
            <a:pPr algn="l">
              <a:lnSpc>
                <a:spcPct val="112000"/>
              </a:lnSpc>
              <a:spcBef>
                <a:spcPts val="1100"/>
              </a:spcBef>
            </a:pPr>
            <a:r>
              <a:rPr sz="1300" b="0" i="0">
                <a:solidFill>
                  <a:srgbClr val="FF8700"/>
                </a:solidFill>
                <a:latin typeface="Barlow"/>
              </a:rPr>
              <a:t>◆  </a:t>
            </a:r>
            <a:r>
              <a:rPr sz="1300" b="0" i="0">
                <a:solidFill>
                  <a:srgbClr val="EAF0F6"/>
                </a:solidFill>
                <a:latin typeface="Barlow"/>
              </a:rPr>
              <a:t>A wizard only appears when it actually has something to migrate — an empty list is an answer.</a:t>
            </a:r>
          </a:p>
          <a:p>
            <a:pPr algn="l">
              <a:lnSpc>
                <a:spcPct val="112000"/>
              </a:lnSpc>
              <a:spcBef>
                <a:spcPts val="1100"/>
              </a:spcBef>
            </a:pPr>
            <a:r>
              <a:rPr sz="1300" b="0" i="0">
                <a:solidFill>
                  <a:srgbClr val="FF8700"/>
                </a:solidFill>
                <a:latin typeface="Barlow"/>
              </a:rPr>
              <a:t>◆  </a:t>
            </a:r>
            <a:r>
              <a:rPr sz="1300" b="0" i="0">
                <a:solidFill>
                  <a:srgbClr val="EAF0F6"/>
                </a:solidFill>
                <a:latin typeface="Barlow"/>
              </a:rPr>
              <a:t>“Mark undone” resets the flag, so a wizard can be re-run on the next environment.</a:t>
            </a:r>
          </a:p>
        </p:txBody>
      </p:sp>
      <p:sp>
        <p:nvSpPr>
          <p:cNvPr id="11" name="Rectangle 10"/>
          <p:cNvSpPr/>
          <p:nvPr/>
        </p:nvSpPr>
        <p:spPr>
          <a:xfrm>
            <a:off x="7333488" y="4297680"/>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443216" y="4297680"/>
            <a:ext cx="4181551" cy="457200"/>
          </a:xfrm>
          <a:prstGeom prst="rect">
            <a:avLst/>
          </a:prstGeom>
          <a:noFill/>
        </p:spPr>
        <p:txBody>
          <a:bodyPr wrap="square" lIns="0" rIns="0" tIns="0" bIns="0" anchor="t">
            <a:spAutoFit/>
          </a:bodyPr>
          <a:lstStyle/>
          <a:p>
            <a:pPr algn="l"/>
            <a:r>
              <a:rPr sz="1250" b="0">
                <a:solidFill>
                  <a:srgbClr val="A8B6C6"/>
                </a:solidFill>
                <a:latin typeface="Barlow"/>
              </a:rPr>
              <a:t>This is also why you rehearse on a copy of production data. On an empty database every wizard looks finished.</a:t>
            </a:r>
          </a:p>
        </p:txBody>
      </p:sp>
      <p:sp>
        <p:nvSpPr>
          <p:cNvPr id="13" name="TextBox 12"/>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4" name="TextBox 13"/>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70 / 88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836481"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2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Make it repeatable</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Anything you do by hand once, you will do wrong the second time</a:t>
            </a:r>
          </a:p>
        </p:txBody>
      </p:sp>
      <p:sp>
        <p:nvSpPr>
          <p:cNvPr id="8" name="Rectangle 7"/>
          <p:cNvSpPr/>
          <p:nvPr/>
        </p:nvSpPr>
        <p:spPr>
          <a:xfrm>
            <a:off x="566928" y="1975104"/>
            <a:ext cx="38100" cy="2020824"/>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03504" y="1975104"/>
            <a:ext cx="11021263" cy="2020824"/>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2084832"/>
            <a:ext cx="10728655" cy="1801368"/>
          </a:xfrm>
          <a:prstGeom prst="rect">
            <a:avLst/>
          </a:prstGeom>
          <a:noFill/>
        </p:spPr>
        <p:txBody>
          <a:bodyPr wrap="square" lIns="0" rIns="0" tIns="0" bIns="0" anchor="t">
            <a:spAutoFit/>
          </a:bodyPr>
          <a:lstStyle/>
          <a:p>
            <a:pPr algn="l">
              <a:lnSpc>
                <a:spcPct val="106000"/>
              </a:lnSpc>
            </a:pPr>
            <a:r>
              <a:rPr sz="950" b="0" i="0">
                <a:solidFill>
                  <a:srgbClr val="6F8093"/>
                </a:solidFill>
                <a:latin typeface="IBM Plex Mono"/>
              </a:rPr>
              <a:t># Schema first: creates and alters, never drops</a:t>
            </a:r>
          </a:p>
          <a:p>
            <a:pPr algn="l">
              <a:lnSpc>
                <a:spcPct val="106000"/>
              </a:lnSpc>
              <a:spcBef>
                <a:spcPts val="0"/>
              </a:spcBef>
            </a:pPr>
            <a:r>
              <a:rPr sz="950" b="0" i="0">
                <a:solidFill>
                  <a:srgbClr val="C9D6E2"/>
                </a:solidFill>
                <a:latin typeface="IBM Plex Mono"/>
              </a:rPr>
              <a:t>./vendor/bin/typo3 extension:setup</a:t>
            </a:r>
          </a:p>
          <a:p>
            <a:pPr algn="l">
              <a:lnSpc>
                <a:spcPct val="106000"/>
              </a:lnSpc>
              <a:spcBef>
                <a:spcPts val="0"/>
              </a:spcBef>
            </a:pPr>
            <a:r>
              <a:rPr sz="950" b="0" i="0">
                <a:solidFill>
                  <a:srgbClr val="C9D6E2"/>
                </a:solidFill>
                <a:latin typeface="IBM Plex Mono"/>
              </a:rPr>
              <a:t>./vendor/bin/typo3 cache:flush</a:t>
            </a:r>
          </a:p>
          <a:p>
            <a:pPr algn="l">
              <a:lnSpc>
                <a:spcPct val="106000"/>
              </a:lnSpc>
              <a:spcBef>
                <a:spcPts val="0"/>
              </a:spcBef>
            </a:pPr>
            <a:r>
              <a:rPr sz="950" b="0" i="0">
                <a:solidFill>
                  <a:srgbClr val="C9D6E2"/>
                </a:solidFill>
                <a:latin typeface="IBM Plex Mono"/>
              </a:rPr>
              <a:t> </a:t>
            </a:r>
          </a:p>
          <a:p>
            <a:pPr algn="l">
              <a:lnSpc>
                <a:spcPct val="106000"/>
              </a:lnSpc>
              <a:spcBef>
                <a:spcPts val="0"/>
              </a:spcBef>
            </a:pPr>
            <a:r>
              <a:rPr sz="950" b="0" i="0">
                <a:solidFill>
                  <a:srgbClr val="6F8093"/>
                </a:solidFill>
                <a:latin typeface="IBM Plex Mono"/>
              </a:rPr>
              <a:t># What is waiting, and what already ran?</a:t>
            </a:r>
          </a:p>
          <a:p>
            <a:pPr algn="l">
              <a:lnSpc>
                <a:spcPct val="106000"/>
              </a:lnSpc>
              <a:spcBef>
                <a:spcPts val="0"/>
              </a:spcBef>
            </a:pPr>
            <a:r>
              <a:rPr sz="950" b="0" i="0">
                <a:solidFill>
                  <a:srgbClr val="C9D6E2"/>
                </a:solidFill>
                <a:latin typeface="IBM Plex Mono"/>
              </a:rPr>
              <a:t>./vendor/bin/typo3 upgrade:list</a:t>
            </a:r>
          </a:p>
          <a:p>
            <a:pPr algn="l">
              <a:lnSpc>
                <a:spcPct val="106000"/>
              </a:lnSpc>
              <a:spcBef>
                <a:spcPts val="0"/>
              </a:spcBef>
            </a:pPr>
            <a:r>
              <a:rPr sz="950" b="0" i="0">
                <a:solidFill>
                  <a:srgbClr val="C9D6E2"/>
                </a:solidFill>
                <a:latin typeface="IBM Plex Mono"/>
              </a:rPr>
              <a:t>./vendor/bin/typo3 upgrade:list --all</a:t>
            </a:r>
          </a:p>
          <a:p>
            <a:pPr algn="l">
              <a:lnSpc>
                <a:spcPct val="106000"/>
              </a:lnSpc>
              <a:spcBef>
                <a:spcPts val="0"/>
              </a:spcBef>
            </a:pPr>
            <a:r>
              <a:rPr sz="950" b="0" i="0">
                <a:solidFill>
                  <a:srgbClr val="C9D6E2"/>
                </a:solidFill>
                <a:latin typeface="IBM Plex Mono"/>
              </a:rPr>
              <a:t> </a:t>
            </a:r>
          </a:p>
          <a:p>
            <a:pPr algn="l">
              <a:lnSpc>
                <a:spcPct val="106000"/>
              </a:lnSpc>
              <a:spcBef>
                <a:spcPts val="0"/>
              </a:spcBef>
            </a:pPr>
            <a:r>
              <a:rPr sz="950" b="0" i="0">
                <a:solidFill>
                  <a:srgbClr val="6F8093"/>
                </a:solidFill>
                <a:latin typeface="IBM Plex Mono"/>
              </a:rPr>
              <a:t># Run one, or run them all - scriptable, repeatable, reviewable</a:t>
            </a:r>
          </a:p>
          <a:p>
            <a:pPr algn="l">
              <a:lnSpc>
                <a:spcPct val="106000"/>
              </a:lnSpc>
              <a:spcBef>
                <a:spcPts val="0"/>
              </a:spcBef>
            </a:pPr>
            <a:r>
              <a:rPr sz="950" b="0" i="0">
                <a:solidFill>
                  <a:srgbClr val="C9D6E2"/>
                </a:solidFill>
                <a:latin typeface="IBM Plex Mono"/>
              </a:rPr>
              <a:t>./vendor/bin/typo3 upgrade:run pagesRecyclerDoktypeMigration</a:t>
            </a:r>
          </a:p>
          <a:p>
            <a:pPr algn="l">
              <a:lnSpc>
                <a:spcPct val="106000"/>
              </a:lnSpc>
              <a:spcBef>
                <a:spcPts val="0"/>
              </a:spcBef>
            </a:pPr>
            <a:r>
              <a:rPr sz="950" b="0" i="0">
                <a:solidFill>
                  <a:srgbClr val="C9D6E2"/>
                </a:solidFill>
                <a:latin typeface="IBM Plex Mono"/>
              </a:rPr>
              <a:t>./vendor/bin/typo3 upgrade:run</a:t>
            </a:r>
          </a:p>
        </p:txBody>
      </p:sp>
      <p:sp>
        <p:nvSpPr>
          <p:cNvPr id="11" name="TextBox 10"/>
          <p:cNvSpPr txBox="1"/>
          <p:nvPr/>
        </p:nvSpPr>
        <p:spPr>
          <a:xfrm>
            <a:off x="566928" y="4142232"/>
            <a:ext cx="11057839" cy="914400"/>
          </a:xfrm>
          <a:prstGeom prst="rect">
            <a:avLst/>
          </a:prstGeom>
          <a:noFill/>
        </p:spPr>
        <p:txBody>
          <a:bodyPr wrap="square" lIns="0" rIns="0" tIns="0" bIns="0" anchor="t">
            <a:spAutoFit/>
          </a:bodyPr>
          <a:lstStyle/>
          <a:p>
            <a:pPr algn="l">
              <a:lnSpc>
                <a:spcPct val="112000"/>
              </a:lnSpc>
            </a:pPr>
            <a:r>
              <a:rPr sz="1250" b="0" i="0">
                <a:solidFill>
                  <a:srgbClr val="FF8700"/>
                </a:solidFill>
                <a:latin typeface="Barlow"/>
              </a:rPr>
              <a:t>◆  </a:t>
            </a:r>
            <a:r>
              <a:rPr sz="1250" b="0" i="0">
                <a:solidFill>
                  <a:srgbClr val="EAF0F6"/>
                </a:solidFill>
                <a:latin typeface="Barlow"/>
              </a:rPr>
              <a:t>The same script runs on your machine, on staging, and in production.</a:t>
            </a:r>
          </a:p>
          <a:p>
            <a:pPr algn="l">
              <a:lnSpc>
                <a:spcPct val="112000"/>
              </a:lnSpc>
              <a:spcBef>
                <a:spcPts val="700"/>
              </a:spcBef>
            </a:pPr>
            <a:r>
              <a:rPr sz="1250" b="0" i="0">
                <a:solidFill>
                  <a:srgbClr val="FF8700"/>
                </a:solidFill>
                <a:latin typeface="Barlow"/>
              </a:rPr>
              <a:t>◆  </a:t>
            </a:r>
            <a:r>
              <a:rPr sz="1250" b="0" i="0">
                <a:solidFill>
                  <a:srgbClr val="EAF0F6"/>
                </a:solidFill>
                <a:latin typeface="Barlow"/>
              </a:rPr>
              <a:t>That is how the production run stops being the first run.</a:t>
            </a:r>
          </a:p>
          <a:p>
            <a:pPr algn="l">
              <a:lnSpc>
                <a:spcPct val="112000"/>
              </a:lnSpc>
              <a:spcBef>
                <a:spcPts val="700"/>
              </a:spcBef>
            </a:pPr>
            <a:r>
              <a:rPr sz="1250" b="0" i="0">
                <a:solidFill>
                  <a:srgbClr val="FF8700"/>
                </a:solidFill>
                <a:latin typeface="Barlow"/>
              </a:rPr>
              <a:t>◆  </a:t>
            </a:r>
            <a:r>
              <a:rPr sz="1250" b="0" i="0">
                <a:solidFill>
                  <a:srgbClr val="EAF0F6"/>
                </a:solidFill>
                <a:latin typeface="Barlow"/>
              </a:rPr>
              <a:t>database:updateschema is TYPO3 Console, not core. Drops and renames: Analyze Database Structure.</a:t>
            </a:r>
          </a:p>
        </p:txBody>
      </p:sp>
      <p:sp>
        <p:nvSpPr>
          <p:cNvPr id="12" name="TextBox 11"/>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3" name="TextBox 12"/>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71 / 88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975023"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2</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When it breaks: Aviate · Navigate · Communicate</a:t>
            </a:r>
          </a:p>
        </p:txBody>
      </p:sp>
      <p:sp>
        <p:nvSpPr>
          <p:cNvPr id="7" name="Rectangle 6"/>
          <p:cNvSpPr/>
          <p:nvPr/>
        </p:nvSpPr>
        <p:spPr>
          <a:xfrm>
            <a:off x="566928" y="1499616"/>
            <a:ext cx="3533546" cy="219456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499616"/>
            <a:ext cx="3533546" cy="4064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1700784"/>
            <a:ext cx="3533546" cy="228600"/>
          </a:xfrm>
          <a:prstGeom prst="rect">
            <a:avLst/>
          </a:prstGeom>
          <a:noFill/>
        </p:spPr>
        <p:txBody>
          <a:bodyPr wrap="square" lIns="0" rIns="0" tIns="0" bIns="0" anchor="t">
            <a:spAutoFit/>
          </a:bodyPr>
          <a:lstStyle/>
          <a:p>
            <a:pPr algn="l"/>
            <a:r>
              <a:rPr sz="1000" b="0">
                <a:solidFill>
                  <a:srgbClr val="6F8093"/>
                </a:solidFill>
                <a:latin typeface="Barlow Condensed"/>
              </a:rPr>
              <a:t>STEP 1</a:t>
            </a:r>
          </a:p>
        </p:txBody>
      </p:sp>
      <p:sp>
        <p:nvSpPr>
          <p:cNvPr id="10" name="TextBox 9"/>
          <p:cNvSpPr txBox="1"/>
          <p:nvPr/>
        </p:nvSpPr>
        <p:spPr>
          <a:xfrm>
            <a:off x="768096" y="1975104"/>
            <a:ext cx="3259226" cy="411480"/>
          </a:xfrm>
          <a:prstGeom prst="rect">
            <a:avLst/>
          </a:prstGeom>
          <a:noFill/>
        </p:spPr>
        <p:txBody>
          <a:bodyPr wrap="square" lIns="0" rIns="0" tIns="0" bIns="0" anchor="t">
            <a:spAutoFit/>
          </a:bodyPr>
          <a:lstStyle/>
          <a:p>
            <a:pPr algn="l"/>
            <a:r>
              <a:rPr sz="2600" b="1">
                <a:solidFill>
                  <a:srgbClr val="FF8700"/>
                </a:solidFill>
                <a:latin typeface="Barlow Condensed"/>
              </a:rPr>
              <a:t>Aviate</a:t>
            </a:r>
          </a:p>
        </p:txBody>
      </p:sp>
      <p:sp>
        <p:nvSpPr>
          <p:cNvPr id="11" name="TextBox 10"/>
          <p:cNvSpPr txBox="1"/>
          <p:nvPr/>
        </p:nvSpPr>
        <p:spPr>
          <a:xfrm>
            <a:off x="768096" y="2505456"/>
            <a:ext cx="3213506" cy="1005840"/>
          </a:xfrm>
          <a:prstGeom prst="rect">
            <a:avLst/>
          </a:prstGeom>
          <a:noFill/>
        </p:spPr>
        <p:txBody>
          <a:bodyPr wrap="square" lIns="0" rIns="0" tIns="0" bIns="0" anchor="t">
            <a:spAutoFit/>
          </a:bodyPr>
          <a:lstStyle/>
          <a:p>
            <a:pPr algn="l"/>
            <a:r>
              <a:rPr sz="1150" b="0">
                <a:solidFill>
                  <a:srgbClr val="A8B6C6"/>
                </a:solidFill>
                <a:latin typeface="Barlow"/>
              </a:rPr>
              <a:t>Keep the system in a known state. Stop changing things. Do not panic-edit production. The aircraft is still flying.</a:t>
            </a:r>
          </a:p>
        </p:txBody>
      </p:sp>
      <p:sp>
        <p:nvSpPr>
          <p:cNvPr id="12" name="Rectangle 11"/>
          <p:cNvSpPr/>
          <p:nvPr/>
        </p:nvSpPr>
        <p:spPr>
          <a:xfrm>
            <a:off x="4329074" y="1499616"/>
            <a:ext cx="3533546" cy="219456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29074" y="1499616"/>
            <a:ext cx="3533546" cy="4064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30242" y="1700784"/>
            <a:ext cx="3533546" cy="228600"/>
          </a:xfrm>
          <a:prstGeom prst="rect">
            <a:avLst/>
          </a:prstGeom>
          <a:noFill/>
        </p:spPr>
        <p:txBody>
          <a:bodyPr wrap="square" lIns="0" rIns="0" tIns="0" bIns="0" anchor="t">
            <a:spAutoFit/>
          </a:bodyPr>
          <a:lstStyle/>
          <a:p>
            <a:pPr algn="l"/>
            <a:r>
              <a:rPr sz="1000" b="0">
                <a:solidFill>
                  <a:srgbClr val="6F8093"/>
                </a:solidFill>
                <a:latin typeface="Barlow Condensed"/>
              </a:rPr>
              <a:t>STEP 2</a:t>
            </a:r>
          </a:p>
        </p:txBody>
      </p:sp>
      <p:sp>
        <p:nvSpPr>
          <p:cNvPr id="15" name="TextBox 14"/>
          <p:cNvSpPr txBox="1"/>
          <p:nvPr/>
        </p:nvSpPr>
        <p:spPr>
          <a:xfrm>
            <a:off x="4530242" y="1975104"/>
            <a:ext cx="3259226" cy="411480"/>
          </a:xfrm>
          <a:prstGeom prst="rect">
            <a:avLst/>
          </a:prstGeom>
          <a:noFill/>
        </p:spPr>
        <p:txBody>
          <a:bodyPr wrap="square" lIns="0" rIns="0" tIns="0" bIns="0" anchor="t">
            <a:spAutoFit/>
          </a:bodyPr>
          <a:lstStyle/>
          <a:p>
            <a:pPr algn="l"/>
            <a:r>
              <a:rPr sz="2600" b="1">
                <a:solidFill>
                  <a:srgbClr val="FF8700"/>
                </a:solidFill>
                <a:latin typeface="Barlow Condensed"/>
              </a:rPr>
              <a:t>Navigate</a:t>
            </a:r>
          </a:p>
        </p:txBody>
      </p:sp>
      <p:sp>
        <p:nvSpPr>
          <p:cNvPr id="16" name="TextBox 15"/>
          <p:cNvSpPr txBox="1"/>
          <p:nvPr/>
        </p:nvSpPr>
        <p:spPr>
          <a:xfrm>
            <a:off x="4530242" y="2505456"/>
            <a:ext cx="3213506" cy="1005840"/>
          </a:xfrm>
          <a:prstGeom prst="rect">
            <a:avLst/>
          </a:prstGeom>
          <a:noFill/>
        </p:spPr>
        <p:txBody>
          <a:bodyPr wrap="square" lIns="0" rIns="0" tIns="0" bIns="0" anchor="t">
            <a:spAutoFit/>
          </a:bodyPr>
          <a:lstStyle/>
          <a:p>
            <a:pPr algn="l"/>
            <a:r>
              <a:rPr sz="1150" b="0">
                <a:solidFill>
                  <a:srgbClr val="A8B6C6"/>
                </a:solidFill>
                <a:latin typeface="Barlow"/>
              </a:rPr>
              <a:t>Find out where you actually are. Which step? What does the log say? Is this in your QRH? Read the actual error, not the summary.</a:t>
            </a:r>
          </a:p>
        </p:txBody>
      </p:sp>
      <p:sp>
        <p:nvSpPr>
          <p:cNvPr id="17" name="Rectangle 16"/>
          <p:cNvSpPr/>
          <p:nvPr/>
        </p:nvSpPr>
        <p:spPr>
          <a:xfrm>
            <a:off x="8091220" y="1499616"/>
            <a:ext cx="3533546" cy="219456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91220" y="1499616"/>
            <a:ext cx="3533546" cy="4064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92388" y="1700784"/>
            <a:ext cx="3533546" cy="228600"/>
          </a:xfrm>
          <a:prstGeom prst="rect">
            <a:avLst/>
          </a:prstGeom>
          <a:noFill/>
        </p:spPr>
        <p:txBody>
          <a:bodyPr wrap="square" lIns="0" rIns="0" tIns="0" bIns="0" anchor="t">
            <a:spAutoFit/>
          </a:bodyPr>
          <a:lstStyle/>
          <a:p>
            <a:pPr algn="l"/>
            <a:r>
              <a:rPr sz="1000" b="0">
                <a:solidFill>
                  <a:srgbClr val="6F8093"/>
                </a:solidFill>
                <a:latin typeface="Barlow Condensed"/>
              </a:rPr>
              <a:t>STEP 3</a:t>
            </a:r>
          </a:p>
        </p:txBody>
      </p:sp>
      <p:sp>
        <p:nvSpPr>
          <p:cNvPr id="20" name="TextBox 19"/>
          <p:cNvSpPr txBox="1"/>
          <p:nvPr/>
        </p:nvSpPr>
        <p:spPr>
          <a:xfrm>
            <a:off x="8292388" y="1975104"/>
            <a:ext cx="3259226" cy="411480"/>
          </a:xfrm>
          <a:prstGeom prst="rect">
            <a:avLst/>
          </a:prstGeom>
          <a:noFill/>
        </p:spPr>
        <p:txBody>
          <a:bodyPr wrap="square" lIns="0" rIns="0" tIns="0" bIns="0" anchor="t">
            <a:spAutoFit/>
          </a:bodyPr>
          <a:lstStyle/>
          <a:p>
            <a:pPr algn="l"/>
            <a:r>
              <a:rPr sz="2600" b="1">
                <a:solidFill>
                  <a:srgbClr val="FF8700"/>
                </a:solidFill>
                <a:latin typeface="Barlow Condensed"/>
              </a:rPr>
              <a:t>Communicate</a:t>
            </a:r>
          </a:p>
        </p:txBody>
      </p:sp>
      <p:sp>
        <p:nvSpPr>
          <p:cNvPr id="21" name="TextBox 20"/>
          <p:cNvSpPr txBox="1"/>
          <p:nvPr/>
        </p:nvSpPr>
        <p:spPr>
          <a:xfrm>
            <a:off x="8292388" y="2505456"/>
            <a:ext cx="3213506" cy="1005840"/>
          </a:xfrm>
          <a:prstGeom prst="rect">
            <a:avLst/>
          </a:prstGeom>
          <a:noFill/>
        </p:spPr>
        <p:txBody>
          <a:bodyPr wrap="square" lIns="0" rIns="0" tIns="0" bIns="0" anchor="t">
            <a:spAutoFit/>
          </a:bodyPr>
          <a:lstStyle/>
          <a:p>
            <a:pPr algn="l"/>
            <a:r>
              <a:rPr sz="1150" b="0">
                <a:solidFill>
                  <a:srgbClr val="A8B6C6"/>
                </a:solidFill>
                <a:latin typeface="Barlow"/>
              </a:rPr>
              <a:t>Team, community, Slack, documentation, the changelog. Asking for help early is a procedure, not a confession.</a:t>
            </a:r>
          </a:p>
        </p:txBody>
      </p:sp>
      <p:sp>
        <p:nvSpPr>
          <p:cNvPr id="22" name="Rectangle 21"/>
          <p:cNvSpPr/>
          <p:nvPr/>
        </p:nvSpPr>
        <p:spPr>
          <a:xfrm>
            <a:off x="566928" y="3877056"/>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6656" y="3877056"/>
            <a:ext cx="10948111" cy="457200"/>
          </a:xfrm>
          <a:prstGeom prst="rect">
            <a:avLst/>
          </a:prstGeom>
          <a:noFill/>
        </p:spPr>
        <p:txBody>
          <a:bodyPr wrap="square" lIns="0" rIns="0" tIns="0" bIns="0" anchor="t">
            <a:spAutoFit/>
          </a:bodyPr>
          <a:lstStyle/>
          <a:p>
            <a:pPr algn="l"/>
            <a:r>
              <a:rPr sz="1250" b="0">
                <a:solidFill>
                  <a:srgbClr val="A8B6C6"/>
                </a:solidFill>
                <a:latin typeface="Barlow"/>
              </a:rPr>
              <a:t>The order matters. People who communicate before they aviate crash while typing.</a:t>
            </a:r>
          </a:p>
        </p:txBody>
      </p:sp>
      <p:sp>
        <p:nvSpPr>
          <p:cNvPr id="24" name="TextBox 23"/>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5" name="TextBox 24"/>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72 / 88</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113565"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2</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Two kinds of error</a:t>
            </a:r>
          </a:p>
        </p:txBody>
      </p:sp>
      <p:sp>
        <p:nvSpPr>
          <p:cNvPr id="7" name="Rectangle 6"/>
          <p:cNvSpPr/>
          <p:nvPr/>
        </p:nvSpPr>
        <p:spPr>
          <a:xfrm>
            <a:off x="566928" y="159105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91056"/>
            <a:ext cx="5346039"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8" y="184708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You predicted this one</a:t>
            </a:r>
          </a:p>
        </p:txBody>
      </p:sp>
      <p:sp>
        <p:nvSpPr>
          <p:cNvPr id="10" name="TextBox 9"/>
          <p:cNvSpPr txBox="1"/>
          <p:nvPr/>
        </p:nvSpPr>
        <p:spPr>
          <a:xfrm>
            <a:off x="795528" y="2304288"/>
            <a:ext cx="4888839" cy="1463040"/>
          </a:xfrm>
          <a:prstGeom prst="rect">
            <a:avLst/>
          </a:prstGeom>
          <a:noFill/>
        </p:spPr>
        <p:txBody>
          <a:bodyPr wrap="square" lIns="0" rIns="0" tIns="0" bIns="0" anchor="t">
            <a:spAutoFit/>
          </a:bodyPr>
          <a:lstStyle/>
          <a:p>
            <a:pPr algn="l">
              <a:lnSpc>
                <a:spcPct val="112000"/>
              </a:lnSpc>
            </a:pPr>
            <a:r>
              <a:rPr sz="1300" b="0" i="0">
                <a:solidFill>
                  <a:srgbClr val="3FCF8E"/>
                </a:solidFill>
                <a:latin typeface="Barlow"/>
              </a:rPr>
              <a:t>◆  </a:t>
            </a:r>
            <a:r>
              <a:rPr sz="1300" b="0" i="0">
                <a:solidFill>
                  <a:srgbClr val="EAF0F6"/>
                </a:solidFill>
                <a:latin typeface="Barlow"/>
              </a:rPr>
              <a:t>It is in your QRH with a prepared response</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The changelog entry is already open in a tab</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You apply the migration and continue</a:t>
            </a:r>
          </a:p>
          <a:p>
            <a:pPr algn="l">
              <a:lnSpc>
                <a:spcPct val="112000"/>
              </a:lnSpc>
              <a:spcBef>
                <a:spcPts val="800"/>
              </a:spcBef>
            </a:pPr>
            <a:r>
              <a:rPr sz="1300" b="0" i="0">
                <a:solidFill>
                  <a:srgbClr val="3FCF8E"/>
                </a:solidFill>
                <a:latin typeface="Barlow"/>
              </a:rPr>
              <a:t>◆  </a:t>
            </a:r>
            <a:r>
              <a:rPr sz="1300" b="0" i="0">
                <a:solidFill>
                  <a:srgbClr val="EAF0F6"/>
                </a:solidFill>
                <a:latin typeface="Barlow"/>
              </a:rPr>
              <a:t>Elapsed time: minutes. Stress: low.</a:t>
            </a:r>
          </a:p>
        </p:txBody>
      </p:sp>
      <p:sp>
        <p:nvSpPr>
          <p:cNvPr id="11" name="Rectangle 10"/>
          <p:cNvSpPr/>
          <p:nvPr/>
        </p:nvSpPr>
        <p:spPr>
          <a:xfrm>
            <a:off x="6278727" y="159105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8727" y="1591056"/>
            <a:ext cx="5346039" cy="406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07327" y="184708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You did not</a:t>
            </a:r>
          </a:p>
        </p:txBody>
      </p:sp>
      <p:sp>
        <p:nvSpPr>
          <p:cNvPr id="14" name="TextBox 13"/>
          <p:cNvSpPr txBox="1"/>
          <p:nvPr/>
        </p:nvSpPr>
        <p:spPr>
          <a:xfrm>
            <a:off x="6507327" y="2304288"/>
            <a:ext cx="4888839" cy="1463040"/>
          </a:xfrm>
          <a:prstGeom prst="rect">
            <a:avLst/>
          </a:prstGeom>
          <a:noFill/>
        </p:spPr>
        <p:txBody>
          <a:bodyPr wrap="square" lIns="0" rIns="0" tIns="0" bIns="0" anchor="t">
            <a:spAutoFit/>
          </a:bodyPr>
          <a:lstStyle/>
          <a:p>
            <a:pPr algn="l">
              <a:lnSpc>
                <a:spcPct val="112000"/>
              </a:lnSpc>
            </a:pPr>
            <a:r>
              <a:rPr sz="1300" b="0" i="0">
                <a:solidFill>
                  <a:srgbClr val="E5484D"/>
                </a:solidFill>
                <a:latin typeface="Barlow"/>
              </a:rPr>
              <a:t>◆  </a:t>
            </a:r>
            <a:r>
              <a:rPr sz="1300" b="0" i="0">
                <a:solidFill>
                  <a:srgbClr val="EAF0F6"/>
                </a:solidFill>
                <a:latin typeface="Barlow"/>
              </a:rPr>
              <a:t>Stay calm — this is normal, not a failure</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Re-read the changelogs; you probably skipped one</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Check the extension's own upgrade instructions</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Ask. Then write it into the QRH for next time.</a:t>
            </a:r>
          </a:p>
        </p:txBody>
      </p:sp>
      <p:sp>
        <p:nvSpPr>
          <p:cNvPr id="15" name="Rectangle 14"/>
          <p:cNvSpPr/>
          <p:nvPr/>
        </p:nvSpPr>
        <p:spPr>
          <a:xfrm>
            <a:off x="566928" y="4105656"/>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76656" y="4105656"/>
            <a:ext cx="10948111" cy="457200"/>
          </a:xfrm>
          <a:prstGeom prst="rect">
            <a:avLst/>
          </a:prstGeom>
          <a:noFill/>
        </p:spPr>
        <p:txBody>
          <a:bodyPr wrap="square" lIns="0" rIns="0" tIns="0" bIns="0" anchor="t">
            <a:spAutoFit/>
          </a:bodyPr>
          <a:lstStyle/>
          <a:p>
            <a:pPr algn="l"/>
            <a:r>
              <a:rPr sz="1250" b="0">
                <a:solidFill>
                  <a:srgbClr val="A8B6C6"/>
                </a:solidFill>
                <a:latin typeface="Barlow"/>
              </a:rPr>
              <a:t>Preparation does not remove surprises. It shrinks the set of them, and it buys you the calm to handle what is left.</a:t>
            </a:r>
          </a:p>
        </p:txBody>
      </p:sp>
      <p:sp>
        <p:nvSpPr>
          <p:cNvPr id="17" name="TextBox 1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8" name="TextBox 1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73 / 88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252107" cy="3810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2</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go-around</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FF8700"/>
                </a:solidFill>
                <a:latin typeface="Barlow"/>
              </a:rPr>
              <a:t>◆  </a:t>
            </a:r>
            <a:r>
              <a:rPr sz="1600" b="0" i="0">
                <a:solidFill>
                  <a:srgbClr val="EAF0F6"/>
                </a:solidFill>
                <a:latin typeface="Barlow"/>
              </a:rPr>
              <a:t>If the approach is not stable, you go around. Every time. It is not a failure — it is a manoeuvre.</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Pilots practise go-arounds. The decision is pre-briefed, so it costs nothing to make.</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Your rollback criteria were written in phase 1, when you were calm and nobody was watching.</a:t>
            </a:r>
          </a:p>
          <a:p>
            <a:pPr algn="l">
              <a:lnSpc>
                <a:spcPct val="112000"/>
              </a:lnSpc>
              <a:spcBef>
                <a:spcPts val="1200"/>
              </a:spcBef>
            </a:pPr>
            <a:r>
              <a:rPr sz="1600" b="0" i="0">
                <a:solidFill>
                  <a:srgbClr val="FF8700"/>
                </a:solidFill>
                <a:latin typeface="Barlow"/>
              </a:rPr>
              <a:t>◆  </a:t>
            </a:r>
            <a:r>
              <a:rPr sz="1600" b="0" i="0">
                <a:solidFill>
                  <a:srgbClr val="EAF0F6"/>
                </a:solidFill>
                <a:latin typeface="Barlow"/>
              </a:rPr>
              <a:t>Execute them without ego. “We are already three hours in” is not a rollback criterion.</a:t>
            </a:r>
          </a:p>
        </p:txBody>
      </p:sp>
      <p:sp>
        <p:nvSpPr>
          <p:cNvPr id="8" name="Rectangle 7"/>
          <p:cNvSpPr/>
          <p:nvPr/>
        </p:nvSpPr>
        <p:spPr>
          <a:xfrm>
            <a:off x="566928" y="3401568"/>
            <a:ext cx="31750" cy="384048"/>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The reason to define abort criteria before departure is that you are the worst possible judge of them at 02:00 with a broken site.</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74 / 88</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D141C"/>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390649"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920240"/>
            <a:ext cx="1463040" cy="1463040"/>
          </a:xfrm>
          <a:prstGeom prst="rect">
            <a:avLst/>
          </a:prstGeom>
          <a:noFill/>
        </p:spPr>
        <p:txBody>
          <a:bodyPr wrap="square" lIns="0" rIns="0" tIns="0" bIns="0" anchor="t">
            <a:spAutoFit/>
          </a:bodyPr>
          <a:lstStyle/>
          <a:p>
            <a:pPr algn="ctr"/>
            <a:r>
              <a:rPr sz="9600" b="1">
                <a:solidFill>
                  <a:srgbClr val="3FCF8E"/>
                </a:solidFill>
                <a:latin typeface="Barlow Condensed"/>
              </a:rPr>
              <a:t>3</a:t>
            </a:r>
          </a:p>
        </p:txBody>
      </p:sp>
      <p:sp>
        <p:nvSpPr>
          <p:cNvPr id="5" name="TextBox 4"/>
          <p:cNvSpPr txBox="1"/>
          <p:nvPr/>
        </p:nvSpPr>
        <p:spPr>
          <a:xfrm>
            <a:off x="2167128" y="2148840"/>
            <a:ext cx="9457639" cy="274320"/>
          </a:xfrm>
          <a:prstGeom prst="rect">
            <a:avLst/>
          </a:prstGeom>
          <a:noFill/>
        </p:spPr>
        <p:txBody>
          <a:bodyPr wrap="square" lIns="0" rIns="0" tIns="0" bIns="0" anchor="t">
            <a:spAutoFit/>
          </a:bodyPr>
          <a:lstStyle/>
          <a:p>
            <a:pPr algn="l"/>
            <a:r>
              <a:rPr sz="1250" b="1">
                <a:solidFill>
                  <a:srgbClr val="3FCF8E"/>
                </a:solidFill>
                <a:latin typeface="Barlow Condensed"/>
              </a:rPr>
              <a:t>THE PHASE EVERYBODY SKIPS</a:t>
            </a:r>
          </a:p>
        </p:txBody>
      </p:sp>
      <p:sp>
        <p:nvSpPr>
          <p:cNvPr id="6" name="TextBox 5"/>
          <p:cNvSpPr txBox="1"/>
          <p:nvPr/>
        </p:nvSpPr>
        <p:spPr>
          <a:xfrm>
            <a:off x="2167128" y="2514600"/>
            <a:ext cx="9457639" cy="822960"/>
          </a:xfrm>
          <a:prstGeom prst="rect">
            <a:avLst/>
          </a:prstGeom>
          <a:noFill/>
        </p:spPr>
        <p:txBody>
          <a:bodyPr wrap="square" lIns="0" rIns="0" tIns="0" bIns="0" anchor="t">
            <a:spAutoFit/>
          </a:bodyPr>
          <a:lstStyle/>
          <a:p>
            <a:pPr algn="l"/>
            <a:r>
              <a:rPr sz="4800" b="1">
                <a:solidFill>
                  <a:srgbClr val="EAF0F6"/>
                </a:solidFill>
                <a:latin typeface="Barlow Condensed"/>
              </a:rPr>
              <a:t>Approach, Landing &amp; Debrief</a:t>
            </a:r>
          </a:p>
        </p:txBody>
      </p:sp>
      <p:sp>
        <p:nvSpPr>
          <p:cNvPr id="7" name="TextBox 6"/>
          <p:cNvSpPr txBox="1"/>
          <p:nvPr/>
        </p:nvSpPr>
        <p:spPr>
          <a:xfrm>
            <a:off x="2167128" y="3520440"/>
            <a:ext cx="8771839" cy="640080"/>
          </a:xfrm>
          <a:prstGeom prst="rect">
            <a:avLst/>
          </a:prstGeom>
          <a:noFill/>
        </p:spPr>
        <p:txBody>
          <a:bodyPr wrap="square" lIns="0" rIns="0" tIns="0" bIns="0" anchor="t">
            <a:spAutoFit/>
          </a:bodyPr>
          <a:lstStyle/>
          <a:p>
            <a:pPr algn="l"/>
            <a:r>
              <a:rPr sz="1500" b="0">
                <a:solidFill>
                  <a:srgbClr val="A8B6C6"/>
                </a:solidFill>
                <a:latin typeface="Barlow"/>
              </a:rPr>
              <a:t>The flight does not end at touchdown. It ends at the gate, with the paperwork done.</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75 / 88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529191"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3</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Post-Flight checklist</a:t>
            </a:r>
          </a:p>
        </p:txBody>
      </p:sp>
      <p:sp>
        <p:nvSpPr>
          <p:cNvPr id="7" name="TextBox 6"/>
          <p:cNvSpPr txBox="1"/>
          <p:nvPr/>
        </p:nvSpPr>
        <p:spPr>
          <a:xfrm>
            <a:off x="566928" y="1499616"/>
            <a:ext cx="11057839" cy="292608"/>
          </a:xfrm>
          <a:prstGeom prst="rect">
            <a:avLst/>
          </a:prstGeom>
          <a:noFill/>
        </p:spPr>
        <p:txBody>
          <a:bodyPr wrap="square" lIns="0" rIns="0" tIns="0" bIns="0" anchor="t">
            <a:spAutoFit/>
          </a:bodyPr>
          <a:lstStyle/>
          <a:p>
            <a:pPr algn="l"/>
            <a:r>
              <a:rPr sz="1350" b="0">
                <a:solidFill>
                  <a:srgbClr val="A8B6C6"/>
                </a:solidFill>
                <a:latin typeface="Barlow"/>
              </a:rPr>
              <a:t>Challenge — Response</a:t>
            </a:r>
          </a:p>
        </p:txBody>
      </p:sp>
      <p:sp>
        <p:nvSpPr>
          <p:cNvPr id="8" name="TextBox 7"/>
          <p:cNvSpPr txBox="1"/>
          <p:nvPr/>
        </p:nvSpPr>
        <p:spPr>
          <a:xfrm>
            <a:off x="566928" y="197510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FRONTEND</a:t>
            </a:r>
          </a:p>
        </p:txBody>
      </p:sp>
      <p:sp>
        <p:nvSpPr>
          <p:cNvPr id="9" name="TextBox 8"/>
          <p:cNvSpPr txBox="1"/>
          <p:nvPr/>
        </p:nvSpPr>
        <p:spPr>
          <a:xfrm>
            <a:off x="3431811" y="2002536"/>
            <a:ext cx="2343995" cy="237744"/>
          </a:xfrm>
          <a:prstGeom prst="rect">
            <a:avLst/>
          </a:prstGeom>
          <a:noFill/>
        </p:spPr>
        <p:txBody>
          <a:bodyPr wrap="square" lIns="0" rIns="0" tIns="0" bIns="0" anchor="t">
            <a:spAutoFit/>
          </a:bodyPr>
          <a:lstStyle/>
          <a:p>
            <a:pPr algn="r"/>
            <a:r>
              <a:rPr sz="900" b="0">
                <a:solidFill>
                  <a:srgbClr val="3FCF8E"/>
                </a:solidFill>
                <a:latin typeface="IBM Plex Mono"/>
              </a:rPr>
              <a:t>▸ smoke-tested by a human</a:t>
            </a:r>
          </a:p>
        </p:txBody>
      </p:sp>
      <p:sp>
        <p:nvSpPr>
          <p:cNvPr id="10" name="Rectangle 9"/>
          <p:cNvSpPr/>
          <p:nvPr/>
        </p:nvSpPr>
        <p:spPr>
          <a:xfrm>
            <a:off x="566928" y="220370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66928" y="2313432"/>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SCHEDULER</a:t>
            </a:r>
          </a:p>
        </p:txBody>
      </p:sp>
      <p:sp>
        <p:nvSpPr>
          <p:cNvPr id="12" name="TextBox 11"/>
          <p:cNvSpPr txBox="1"/>
          <p:nvPr/>
        </p:nvSpPr>
        <p:spPr>
          <a:xfrm>
            <a:off x="3431811" y="2340864"/>
            <a:ext cx="2343995" cy="237744"/>
          </a:xfrm>
          <a:prstGeom prst="rect">
            <a:avLst/>
          </a:prstGeom>
          <a:noFill/>
        </p:spPr>
        <p:txBody>
          <a:bodyPr wrap="square" lIns="0" rIns="0" tIns="0" bIns="0" anchor="t">
            <a:spAutoFit/>
          </a:bodyPr>
          <a:lstStyle/>
          <a:p>
            <a:pPr algn="r"/>
            <a:r>
              <a:rPr sz="900" b="0">
                <a:solidFill>
                  <a:srgbClr val="3FCF8E"/>
                </a:solidFill>
                <a:latin typeface="IBM Plex Mono"/>
              </a:rPr>
              <a:t>▸ tasks registered and running</a:t>
            </a:r>
          </a:p>
        </p:txBody>
      </p:sp>
      <p:sp>
        <p:nvSpPr>
          <p:cNvPr id="13" name="Rectangle 12"/>
          <p:cNvSpPr/>
          <p:nvPr/>
        </p:nvSpPr>
        <p:spPr>
          <a:xfrm>
            <a:off x="566928" y="2542032"/>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6928" y="2651760"/>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EXTENSION SCAN</a:t>
            </a:r>
          </a:p>
        </p:txBody>
      </p:sp>
      <p:sp>
        <p:nvSpPr>
          <p:cNvPr id="15" name="TextBox 14"/>
          <p:cNvSpPr txBox="1"/>
          <p:nvPr/>
        </p:nvSpPr>
        <p:spPr>
          <a:xfrm>
            <a:off x="3431811" y="2679192"/>
            <a:ext cx="2343995" cy="237744"/>
          </a:xfrm>
          <a:prstGeom prst="rect">
            <a:avLst/>
          </a:prstGeom>
          <a:noFill/>
        </p:spPr>
        <p:txBody>
          <a:bodyPr wrap="square" lIns="0" rIns="0" tIns="0" bIns="0" anchor="t">
            <a:spAutoFit/>
          </a:bodyPr>
          <a:lstStyle/>
          <a:p>
            <a:pPr algn="r"/>
            <a:r>
              <a:rPr sz="900" b="0">
                <a:solidFill>
                  <a:srgbClr val="3FCF8E"/>
                </a:solidFill>
                <a:latin typeface="IBM Plex Mono"/>
              </a:rPr>
              <a:t>▸ re-run — new deprecations recorded</a:t>
            </a:r>
          </a:p>
        </p:txBody>
      </p:sp>
      <p:sp>
        <p:nvSpPr>
          <p:cNvPr id="16" name="Rectangle 15"/>
          <p:cNvSpPr/>
          <p:nvPr/>
        </p:nvSpPr>
        <p:spPr>
          <a:xfrm>
            <a:off x="566928" y="2880360"/>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6928" y="2990088"/>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FERRY EQUIPMENT</a:t>
            </a:r>
          </a:p>
        </p:txBody>
      </p:sp>
      <p:sp>
        <p:nvSpPr>
          <p:cNvPr id="18" name="TextBox 17"/>
          <p:cNvSpPr txBox="1"/>
          <p:nvPr/>
        </p:nvSpPr>
        <p:spPr>
          <a:xfrm>
            <a:off x="3431811" y="3017520"/>
            <a:ext cx="2343995" cy="237744"/>
          </a:xfrm>
          <a:prstGeom prst="rect">
            <a:avLst/>
          </a:prstGeom>
          <a:noFill/>
        </p:spPr>
        <p:txBody>
          <a:bodyPr wrap="square" lIns="0" rIns="0" tIns="0" bIns="0" anchor="t">
            <a:spAutoFit/>
          </a:bodyPr>
          <a:lstStyle/>
          <a:p>
            <a:pPr algn="r"/>
            <a:r>
              <a:rPr sz="900" b="0">
                <a:solidFill>
                  <a:srgbClr val="3FCF8E"/>
                </a:solidFill>
                <a:latin typeface="IBM Plex Mono"/>
              </a:rPr>
              <a:t>▸ shims and upgrade-only packages removed</a:t>
            </a:r>
          </a:p>
        </p:txBody>
      </p:sp>
      <p:sp>
        <p:nvSpPr>
          <p:cNvPr id="19" name="Rectangle 18"/>
          <p:cNvSpPr/>
          <p:nvPr/>
        </p:nvSpPr>
        <p:spPr>
          <a:xfrm>
            <a:off x="566928" y="3218688"/>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6928" y="3328416"/>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DOCUMENTATION</a:t>
            </a:r>
          </a:p>
        </p:txBody>
      </p:sp>
      <p:sp>
        <p:nvSpPr>
          <p:cNvPr id="21" name="TextBox 20"/>
          <p:cNvSpPr txBox="1"/>
          <p:nvPr/>
        </p:nvSpPr>
        <p:spPr>
          <a:xfrm>
            <a:off x="3431811" y="3355848"/>
            <a:ext cx="2343995" cy="237744"/>
          </a:xfrm>
          <a:prstGeom prst="rect">
            <a:avLst/>
          </a:prstGeom>
          <a:noFill/>
        </p:spPr>
        <p:txBody>
          <a:bodyPr wrap="square" lIns="0" rIns="0" tIns="0" bIns="0" anchor="t">
            <a:spAutoFit/>
          </a:bodyPr>
          <a:lstStyle/>
          <a:p>
            <a:pPr algn="r"/>
            <a:r>
              <a:rPr sz="900" b="0">
                <a:solidFill>
                  <a:srgbClr val="3FCF8E"/>
                </a:solidFill>
                <a:latin typeface="IBM Plex Mono"/>
              </a:rPr>
              <a:t>▸ updated while you still remember</a:t>
            </a:r>
          </a:p>
        </p:txBody>
      </p:sp>
      <p:sp>
        <p:nvSpPr>
          <p:cNvPr id="22" name="Rectangle 21"/>
          <p:cNvSpPr/>
          <p:nvPr/>
        </p:nvSpPr>
        <p:spPr>
          <a:xfrm>
            <a:off x="566928" y="3557016"/>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66928" y="366674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NEXT FLIGHT</a:t>
            </a:r>
          </a:p>
        </p:txBody>
      </p:sp>
      <p:sp>
        <p:nvSpPr>
          <p:cNvPr id="24" name="TextBox 23"/>
          <p:cNvSpPr txBox="1"/>
          <p:nvPr/>
        </p:nvSpPr>
        <p:spPr>
          <a:xfrm>
            <a:off x="3431811" y="3694176"/>
            <a:ext cx="2343995" cy="237744"/>
          </a:xfrm>
          <a:prstGeom prst="rect">
            <a:avLst/>
          </a:prstGeom>
          <a:noFill/>
        </p:spPr>
        <p:txBody>
          <a:bodyPr wrap="square" lIns="0" rIns="0" tIns="0" bIns="0" anchor="t">
            <a:spAutoFit/>
          </a:bodyPr>
          <a:lstStyle/>
          <a:p>
            <a:pPr algn="r"/>
            <a:r>
              <a:rPr sz="900" b="0">
                <a:solidFill>
                  <a:srgbClr val="3FCF8E"/>
                </a:solidFill>
                <a:latin typeface="IBM Plex Mono"/>
              </a:rPr>
              <a:t>▸ planned from what you just learned</a:t>
            </a:r>
          </a:p>
        </p:txBody>
      </p:sp>
      <p:sp>
        <p:nvSpPr>
          <p:cNvPr id="25" name="Rectangle 24"/>
          <p:cNvSpPr/>
          <p:nvPr/>
        </p:nvSpPr>
        <p:spPr>
          <a:xfrm>
            <a:off x="566928" y="389534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15887" y="1975104"/>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BACKEND</a:t>
            </a:r>
          </a:p>
        </p:txBody>
      </p:sp>
      <p:sp>
        <p:nvSpPr>
          <p:cNvPr id="27" name="TextBox 26"/>
          <p:cNvSpPr txBox="1"/>
          <p:nvPr/>
        </p:nvSpPr>
        <p:spPr>
          <a:xfrm>
            <a:off x="9280771" y="2002536"/>
            <a:ext cx="2343995" cy="237744"/>
          </a:xfrm>
          <a:prstGeom prst="rect">
            <a:avLst/>
          </a:prstGeom>
          <a:noFill/>
        </p:spPr>
        <p:txBody>
          <a:bodyPr wrap="square" lIns="0" rIns="0" tIns="0" bIns="0" anchor="t">
            <a:spAutoFit/>
          </a:bodyPr>
          <a:lstStyle/>
          <a:p>
            <a:pPr algn="r"/>
            <a:r>
              <a:rPr sz="900" b="0">
                <a:solidFill>
                  <a:srgbClr val="3FCF8E"/>
                </a:solidFill>
                <a:latin typeface="IBM Plex Mono"/>
              </a:rPr>
              <a:t>▸ editors can do their actual daily work</a:t>
            </a:r>
          </a:p>
        </p:txBody>
      </p:sp>
      <p:sp>
        <p:nvSpPr>
          <p:cNvPr id="28" name="Rectangle 27"/>
          <p:cNvSpPr/>
          <p:nvPr/>
        </p:nvSpPr>
        <p:spPr>
          <a:xfrm>
            <a:off x="6415887" y="2203704"/>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15887" y="2313432"/>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DEPRECATION LOG</a:t>
            </a:r>
          </a:p>
        </p:txBody>
      </p:sp>
      <p:sp>
        <p:nvSpPr>
          <p:cNvPr id="30" name="TextBox 29"/>
          <p:cNvSpPr txBox="1"/>
          <p:nvPr/>
        </p:nvSpPr>
        <p:spPr>
          <a:xfrm>
            <a:off x="9280771" y="2340864"/>
            <a:ext cx="2343995" cy="237744"/>
          </a:xfrm>
          <a:prstGeom prst="rect">
            <a:avLst/>
          </a:prstGeom>
          <a:noFill/>
        </p:spPr>
        <p:txBody>
          <a:bodyPr wrap="square" lIns="0" rIns="0" tIns="0" bIns="0" anchor="t">
            <a:spAutoFit/>
          </a:bodyPr>
          <a:lstStyle/>
          <a:p>
            <a:pPr algn="r"/>
            <a:r>
              <a:rPr sz="900" b="0">
                <a:solidFill>
                  <a:srgbClr val="3FCF8E"/>
                </a:solidFill>
                <a:latin typeface="IBM Plex Mono"/>
              </a:rPr>
              <a:t>▸ enabled and read</a:t>
            </a:r>
          </a:p>
        </p:txBody>
      </p:sp>
      <p:sp>
        <p:nvSpPr>
          <p:cNvPr id="31" name="Rectangle 30"/>
          <p:cNvSpPr/>
          <p:nvPr/>
        </p:nvSpPr>
        <p:spPr>
          <a:xfrm>
            <a:off x="6415887" y="2542032"/>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15887" y="2651760"/>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TCA MIGRATIONS</a:t>
            </a:r>
          </a:p>
        </p:txBody>
      </p:sp>
      <p:sp>
        <p:nvSpPr>
          <p:cNvPr id="33" name="TextBox 32"/>
          <p:cNvSpPr txBox="1"/>
          <p:nvPr/>
        </p:nvSpPr>
        <p:spPr>
          <a:xfrm>
            <a:off x="9280771" y="2679192"/>
            <a:ext cx="2343995" cy="237744"/>
          </a:xfrm>
          <a:prstGeom prst="rect">
            <a:avLst/>
          </a:prstGeom>
          <a:noFill/>
        </p:spPr>
        <p:txBody>
          <a:bodyPr wrap="square" lIns="0" rIns="0" tIns="0" bIns="0" anchor="t">
            <a:spAutoFit/>
          </a:bodyPr>
          <a:lstStyle/>
          <a:p>
            <a:pPr algn="r"/>
            <a:r>
              <a:rPr sz="900" b="0">
                <a:solidFill>
                  <a:srgbClr val="3FCF8E"/>
                </a:solidFill>
                <a:latin typeface="IBM Plex Mono"/>
              </a:rPr>
              <a:t>▸ cleared, or in the backlog</a:t>
            </a:r>
          </a:p>
        </p:txBody>
      </p:sp>
      <p:sp>
        <p:nvSpPr>
          <p:cNvPr id="34" name="Rectangle 33"/>
          <p:cNvSpPr/>
          <p:nvPr/>
        </p:nvSpPr>
        <p:spPr>
          <a:xfrm>
            <a:off x="6415887" y="2880360"/>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15887" y="2990088"/>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CONSTRAINTS</a:t>
            </a:r>
          </a:p>
        </p:txBody>
      </p:sp>
      <p:sp>
        <p:nvSpPr>
          <p:cNvPr id="36" name="TextBox 35"/>
          <p:cNvSpPr txBox="1"/>
          <p:nvPr/>
        </p:nvSpPr>
        <p:spPr>
          <a:xfrm>
            <a:off x="9280771" y="3017520"/>
            <a:ext cx="2343995" cy="237744"/>
          </a:xfrm>
          <a:prstGeom prst="rect">
            <a:avLst/>
          </a:prstGeom>
          <a:noFill/>
        </p:spPr>
        <p:txBody>
          <a:bodyPr wrap="square" lIns="0" rIns="0" tIns="0" bIns="0" anchor="t">
            <a:spAutoFit/>
          </a:bodyPr>
          <a:lstStyle/>
          <a:p>
            <a:pPr algn="r"/>
            <a:r>
              <a:rPr sz="900" b="0">
                <a:solidFill>
                  <a:srgbClr val="3FCF8E"/>
                </a:solidFill>
                <a:latin typeface="IBM Plex Mono"/>
              </a:rPr>
              <a:t>▸ re-pinned to the new reality</a:t>
            </a:r>
          </a:p>
        </p:txBody>
      </p:sp>
      <p:sp>
        <p:nvSpPr>
          <p:cNvPr id="37" name="Rectangle 36"/>
          <p:cNvSpPr/>
          <p:nvPr/>
        </p:nvSpPr>
        <p:spPr>
          <a:xfrm>
            <a:off x="6415887" y="3218688"/>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15887" y="3328416"/>
            <a:ext cx="2812794" cy="237744"/>
          </a:xfrm>
          <a:prstGeom prst="rect">
            <a:avLst/>
          </a:prstGeom>
          <a:noFill/>
        </p:spPr>
        <p:txBody>
          <a:bodyPr wrap="square" lIns="0" rIns="0" tIns="0" bIns="0" anchor="t">
            <a:spAutoFit/>
          </a:bodyPr>
          <a:lstStyle/>
          <a:p>
            <a:pPr algn="l"/>
            <a:r>
              <a:rPr sz="1250" b="1">
                <a:solidFill>
                  <a:srgbClr val="EAF0F6"/>
                </a:solidFill>
                <a:latin typeface="Barlow Condensed"/>
              </a:rPr>
              <a:t>DEBRIEF</a:t>
            </a:r>
          </a:p>
        </p:txBody>
      </p:sp>
      <p:sp>
        <p:nvSpPr>
          <p:cNvPr id="39" name="TextBox 38"/>
          <p:cNvSpPr txBox="1"/>
          <p:nvPr/>
        </p:nvSpPr>
        <p:spPr>
          <a:xfrm>
            <a:off x="9280771" y="3355848"/>
            <a:ext cx="2343995" cy="237744"/>
          </a:xfrm>
          <a:prstGeom prst="rect">
            <a:avLst/>
          </a:prstGeom>
          <a:noFill/>
        </p:spPr>
        <p:txBody>
          <a:bodyPr wrap="square" lIns="0" rIns="0" tIns="0" bIns="0" anchor="t">
            <a:spAutoFit/>
          </a:bodyPr>
          <a:lstStyle/>
          <a:p>
            <a:pPr algn="r"/>
            <a:r>
              <a:rPr sz="900" b="0">
                <a:solidFill>
                  <a:srgbClr val="3FCF8E"/>
                </a:solidFill>
                <a:latin typeface="IBM Plex Mono"/>
              </a:rPr>
              <a:t>▸ held — predicted vs actual</a:t>
            </a:r>
          </a:p>
        </p:txBody>
      </p:sp>
      <p:sp>
        <p:nvSpPr>
          <p:cNvPr id="40" name="Rectangle 39"/>
          <p:cNvSpPr/>
          <p:nvPr/>
        </p:nvSpPr>
        <p:spPr>
          <a:xfrm>
            <a:off x="6415887" y="3557016"/>
            <a:ext cx="520887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42" name="TextBox 41"/>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76 / 88</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667733"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Green again is not the end of the work. It is the end of the guessing.</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A green pipeline on the new version means every path your tests cover behaves. It says nothing about the paths they do not cover — so the smoke test still happens, by a human, on purpose.</a:t>
            </a:r>
          </a:p>
        </p:txBody>
      </p:sp>
      <p:sp>
        <p:nvSpPr>
          <p:cNvPr id="6" name="Rectangle 5"/>
          <p:cNvSpPr/>
          <p:nvPr/>
        </p:nvSpPr>
        <p:spPr>
          <a:xfrm>
            <a:off x="566928" y="4572000"/>
            <a:ext cx="31750"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And the honest measurement for next time: which failures did your tests catch, and which did a person find afterwards? That gap is your coverage backlog.</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77 / 88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806275"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3</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Smoke-test the whole aircraft</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3FCF8E"/>
                </a:solidFill>
                <a:latin typeface="Barlow"/>
              </a:rPr>
              <a:t>◆  </a:t>
            </a:r>
            <a:r>
              <a:rPr sz="1600" b="0" i="0">
                <a:solidFill>
                  <a:srgbClr val="EAF0F6"/>
                </a:solidFill>
                <a:latin typeface="Barlow"/>
              </a:rPr>
              <a:t>Frontend: every page type, every plugin, every language, images, forms, search.</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Backend: the tasks your editors actually perform — not the ones you find interesting.</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The boring infrastructure: mail, redirects, scheduler, indexing, caches, CDN.</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Have a person who did not do the upgrade click through it. They see what you cannot.</a:t>
            </a:r>
          </a:p>
        </p:txBody>
      </p:sp>
      <p:sp>
        <p:nvSpPr>
          <p:cNvPr id="8" name="Rectangle 7"/>
          <p:cNvSpPr/>
          <p:nvPr/>
        </p:nvSpPr>
        <p:spPr>
          <a:xfrm>
            <a:off x="566928" y="3401568"/>
            <a:ext cx="31750"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Your test suite proves the code runs. A human proves the site works.</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78 / 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0944817"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3</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First look after landing</a:t>
            </a:r>
          </a:p>
        </p:txBody>
      </p:sp>
      <p:sp>
        <p:nvSpPr>
          <p:cNvPr id="7" name="Rectangle 6"/>
          <p:cNvSpPr/>
          <p:nvPr/>
        </p:nvSpPr>
        <p:spPr>
          <a:xfrm>
            <a:off x="566928" y="1591056"/>
            <a:ext cx="6400800" cy="3504438"/>
          </a:xfrm>
          <a:prstGeom prst="rect">
            <a:avLst/>
          </a:prstGeom>
          <a:solidFill>
            <a:srgbClr val="0A0F15"/>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Picture 7" descr="07-v13-upgrade-module.png"/>
          <p:cNvPicPr>
            <a:picLocks noChangeAspect="1"/>
          </p:cNvPicPr>
          <p:nvPr/>
        </p:nvPicPr>
        <p:blipFill>
          <a:blip r:embed="rId2"/>
          <a:stretch>
            <a:fillRect/>
          </a:stretch>
        </p:blipFill>
        <p:spPr>
          <a:xfrm>
            <a:off x="566928" y="1682496"/>
            <a:ext cx="6400800" cy="3120390"/>
          </a:xfrm>
          <a:prstGeom prst="rect">
            <a:avLst/>
          </a:prstGeom>
        </p:spPr>
      </p:pic>
      <p:sp>
        <p:nvSpPr>
          <p:cNvPr id="9" name="TextBox 8"/>
          <p:cNvSpPr txBox="1"/>
          <p:nvPr/>
        </p:nvSpPr>
        <p:spPr>
          <a:xfrm>
            <a:off x="676656" y="4857750"/>
            <a:ext cx="6181344" cy="201168"/>
          </a:xfrm>
          <a:prstGeom prst="rect">
            <a:avLst/>
          </a:prstGeom>
          <a:noFill/>
        </p:spPr>
        <p:txBody>
          <a:bodyPr wrap="square" lIns="0" rIns="0" tIns="0" bIns="0" anchor="t">
            <a:spAutoFit/>
          </a:bodyPr>
          <a:lstStyle/>
          <a:p>
            <a:pPr algn="l"/>
            <a:r>
              <a:rPr sz="800" b="0">
                <a:solidFill>
                  <a:srgbClr val="6F8093"/>
                </a:solidFill>
                <a:latin typeface="IBM Plex Mono"/>
              </a:rPr>
              <a:t>The same instance, now TYPO3 13.4.34 — the demo for this talk, upgraded live</a:t>
            </a:r>
          </a:p>
        </p:txBody>
      </p:sp>
      <p:sp>
        <p:nvSpPr>
          <p:cNvPr id="10" name="TextBox 9"/>
          <p:cNvSpPr txBox="1"/>
          <p:nvPr/>
        </p:nvSpPr>
        <p:spPr>
          <a:xfrm>
            <a:off x="7333488" y="1819656"/>
            <a:ext cx="4291279" cy="2194560"/>
          </a:xfrm>
          <a:prstGeom prst="rect">
            <a:avLst/>
          </a:prstGeom>
          <a:noFill/>
        </p:spPr>
        <p:txBody>
          <a:bodyPr wrap="square" lIns="0" rIns="0" tIns="0" bIns="0" anchor="t">
            <a:spAutoFit/>
          </a:bodyPr>
          <a:lstStyle/>
          <a:p>
            <a:pPr algn="l">
              <a:lnSpc>
                <a:spcPct val="112000"/>
              </a:lnSpc>
            </a:pPr>
            <a:r>
              <a:rPr sz="1300" b="0" i="0">
                <a:solidFill>
                  <a:srgbClr val="3FCF8E"/>
                </a:solidFill>
                <a:latin typeface="Barlow"/>
              </a:rPr>
              <a:t>◆  </a:t>
            </a:r>
            <a:r>
              <a:rPr sz="1300" b="0" i="0">
                <a:solidFill>
                  <a:srgbClr val="EAF0F6"/>
                </a:solidFill>
                <a:latin typeface="Barlow"/>
              </a:rPr>
              <a:t>The version in the header is the only part of the upgrade that was ever guaranteed.</a:t>
            </a:r>
          </a:p>
          <a:p>
            <a:pPr algn="l">
              <a:lnSpc>
                <a:spcPct val="112000"/>
              </a:lnSpc>
              <a:spcBef>
                <a:spcPts val="1100"/>
              </a:spcBef>
            </a:pPr>
            <a:r>
              <a:rPr sz="1300" b="0" i="0">
                <a:solidFill>
                  <a:srgbClr val="3FCF8E"/>
                </a:solidFill>
                <a:latin typeface="Barlow"/>
              </a:rPr>
              <a:t>◆  </a:t>
            </a:r>
            <a:r>
              <a:rPr sz="1300" b="0" i="0">
                <a:solidFill>
                  <a:srgbClr val="EAF0F6"/>
                </a:solidFill>
                <a:latin typeface="Barlow"/>
              </a:rPr>
              <a:t>Everything else on this checklist is what makes it true for your editors too.</a:t>
            </a:r>
          </a:p>
        </p:txBody>
      </p:sp>
      <p:sp>
        <p:nvSpPr>
          <p:cNvPr id="11" name="TextBox 10"/>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2" name="TextBox 11"/>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79 / 88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083359"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3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TCA after landing</a:t>
            </a:r>
          </a:p>
        </p:txBody>
      </p:sp>
      <p:sp>
        <p:nvSpPr>
          <p:cNvPr id="7" name="Rectangle 6"/>
          <p:cNvSpPr/>
          <p:nvPr/>
        </p:nvSpPr>
        <p:spPr>
          <a:xfrm>
            <a:off x="566928" y="159105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91056"/>
            <a:ext cx="5346039" cy="40640"/>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8" y="184708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New migrations arrived</a:t>
            </a:r>
          </a:p>
        </p:txBody>
      </p:sp>
      <p:sp>
        <p:nvSpPr>
          <p:cNvPr id="10" name="TextBox 9"/>
          <p:cNvSpPr txBox="1"/>
          <p:nvPr/>
        </p:nvSpPr>
        <p:spPr>
          <a:xfrm>
            <a:off x="795528" y="2304288"/>
            <a:ext cx="4888839" cy="1463040"/>
          </a:xfrm>
          <a:prstGeom prst="rect">
            <a:avLst/>
          </a:prstGeom>
          <a:noFill/>
        </p:spPr>
        <p:txBody>
          <a:bodyPr wrap="square" lIns="0" rIns="0" tIns="0" bIns="0" anchor="t">
            <a:spAutoFit/>
          </a:bodyPr>
          <a:lstStyle/>
          <a:p>
            <a:pPr algn="l">
              <a:lnSpc>
                <a:spcPct val="112000"/>
              </a:lnSpc>
            </a:pPr>
            <a:r>
              <a:rPr sz="1300" b="0" i="0">
                <a:solidFill>
                  <a:srgbClr val="FFB020"/>
                </a:solidFill>
                <a:latin typeface="Barlow"/>
              </a:rPr>
              <a:t>◆  </a:t>
            </a:r>
            <a:r>
              <a:rPr sz="1300" b="0" i="0">
                <a:solidFill>
                  <a:srgbClr val="EAF0F6"/>
                </a:solidFill>
                <a:latin typeface="Barlow"/>
              </a:rPr>
              <a:t>The new core added migrations your old core never had</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Run Check TCA Migrations again — the list is not the one you cleared</a:t>
            </a:r>
          </a:p>
          <a:p>
            <a:pPr algn="l">
              <a:lnSpc>
                <a:spcPct val="112000"/>
              </a:lnSpc>
              <a:spcBef>
                <a:spcPts val="800"/>
              </a:spcBef>
            </a:pPr>
            <a:r>
              <a:rPr sz="1300" b="0" i="0">
                <a:solidFill>
                  <a:srgbClr val="FFB020"/>
                </a:solidFill>
                <a:latin typeface="Barlow"/>
              </a:rPr>
              <a:t>◆  </a:t>
            </a:r>
            <a:r>
              <a:rPr sz="1300" b="0" i="0">
                <a:solidFill>
                  <a:srgbClr val="EAF0F6"/>
                </a:solidFill>
                <a:latin typeface="Barlow"/>
              </a:rPr>
              <a:t>Every new entry is a fresh deprecation you just inherited</a:t>
            </a:r>
          </a:p>
        </p:txBody>
      </p:sp>
      <p:sp>
        <p:nvSpPr>
          <p:cNvPr id="11" name="Rectangle 10"/>
          <p:cNvSpPr/>
          <p:nvPr/>
        </p:nvSpPr>
        <p:spPr>
          <a:xfrm>
            <a:off x="6278727" y="1591056"/>
            <a:ext cx="5346039" cy="228600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78727" y="1591056"/>
            <a:ext cx="5346039" cy="406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07327" y="1847088"/>
            <a:ext cx="4888839" cy="320040"/>
          </a:xfrm>
          <a:prstGeom prst="rect">
            <a:avLst/>
          </a:prstGeom>
          <a:noFill/>
        </p:spPr>
        <p:txBody>
          <a:bodyPr wrap="square" lIns="0" rIns="0" tIns="0" bIns="0" anchor="t">
            <a:spAutoFit/>
          </a:bodyPr>
          <a:lstStyle/>
          <a:p>
            <a:pPr algn="l"/>
            <a:r>
              <a:rPr sz="1800" b="1">
                <a:solidFill>
                  <a:srgbClr val="EAF0F6"/>
                </a:solidFill>
                <a:latin typeface="Barlow Condensed"/>
              </a:rPr>
              <a:t>Old migrations left</a:t>
            </a:r>
          </a:p>
        </p:txBody>
      </p:sp>
      <p:sp>
        <p:nvSpPr>
          <p:cNvPr id="14" name="TextBox 13"/>
          <p:cNvSpPr txBox="1"/>
          <p:nvPr/>
        </p:nvSpPr>
        <p:spPr>
          <a:xfrm>
            <a:off x="6507327" y="2304288"/>
            <a:ext cx="4888839" cy="1463040"/>
          </a:xfrm>
          <a:prstGeom prst="rect">
            <a:avLst/>
          </a:prstGeom>
          <a:noFill/>
        </p:spPr>
        <p:txBody>
          <a:bodyPr wrap="square" lIns="0" rIns="0" tIns="0" bIns="0" anchor="t">
            <a:spAutoFit/>
          </a:bodyPr>
          <a:lstStyle/>
          <a:p>
            <a:pPr algn="l">
              <a:lnSpc>
                <a:spcPct val="112000"/>
              </a:lnSpc>
            </a:pPr>
            <a:r>
              <a:rPr sz="1300" b="0" i="0">
                <a:solidFill>
                  <a:srgbClr val="E5484D"/>
                </a:solidFill>
                <a:latin typeface="Barlow"/>
              </a:rPr>
              <a:t>◆  </a:t>
            </a:r>
            <a:r>
              <a:rPr sz="1300" b="0" i="0">
                <a:solidFill>
                  <a:srgbClr val="EAF0F6"/>
                </a:solidFill>
                <a:latin typeface="Barlow"/>
              </a:rPr>
              <a:t>A migration you were silently relying on may be gone</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Then it is not a deprecation any more — the config is simply ignored</a:t>
            </a:r>
          </a:p>
          <a:p>
            <a:pPr algn="l">
              <a:lnSpc>
                <a:spcPct val="112000"/>
              </a:lnSpc>
              <a:spcBef>
                <a:spcPts val="800"/>
              </a:spcBef>
            </a:pPr>
            <a:r>
              <a:rPr sz="1300" b="0" i="0">
                <a:solidFill>
                  <a:srgbClr val="E5484D"/>
                </a:solidFill>
                <a:latin typeface="Barlow"/>
              </a:rPr>
              <a:t>◆  </a:t>
            </a:r>
            <a:r>
              <a:rPr sz="1300" b="0" i="0">
                <a:solidFill>
                  <a:srgbClr val="EAF0F6"/>
                </a:solidFill>
                <a:latin typeface="Barlow"/>
              </a:rPr>
              <a:t>Nothing errors. The field just renders wrong, or not at all</a:t>
            </a:r>
          </a:p>
        </p:txBody>
      </p:sp>
      <p:sp>
        <p:nvSpPr>
          <p:cNvPr id="15" name="Rectangle 14"/>
          <p:cNvSpPr/>
          <p:nvPr/>
        </p:nvSpPr>
        <p:spPr>
          <a:xfrm>
            <a:off x="566928" y="4105656"/>
            <a:ext cx="31750"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76656" y="4105656"/>
            <a:ext cx="10948111" cy="457200"/>
          </a:xfrm>
          <a:prstGeom prst="rect">
            <a:avLst/>
          </a:prstGeom>
          <a:noFill/>
        </p:spPr>
        <p:txBody>
          <a:bodyPr wrap="square" lIns="0" rIns="0" tIns="0" bIns="0" anchor="t">
            <a:spAutoFit/>
          </a:bodyPr>
          <a:lstStyle/>
          <a:p>
            <a:pPr algn="l"/>
            <a:r>
              <a:rPr sz="1250" b="0">
                <a:solidFill>
                  <a:srgbClr val="A8B6C6"/>
                </a:solidFill>
                <a:latin typeface="Barlow"/>
              </a:rPr>
              <a:t>This is the half that bites without a stack trace: the autopilot was removed, and the aircraft is quietly out of trim. Only the checklist catches it.</a:t>
            </a:r>
          </a:p>
        </p:txBody>
      </p:sp>
      <p:sp>
        <p:nvSpPr>
          <p:cNvPr id="17" name="TextBox 1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8" name="TextBox 1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80 / 88</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221901"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1761500" cy="2560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1761500" cy="201168"/>
          </a:xfrm>
          <a:prstGeom prst="rect">
            <a:avLst/>
          </a:prstGeom>
          <a:noFill/>
        </p:spPr>
        <p:txBody>
          <a:bodyPr wrap="square" lIns="0" rIns="0" tIns="0" bIns="0" anchor="t">
            <a:spAutoFit/>
          </a:bodyPr>
          <a:lstStyle/>
          <a:p>
            <a:pPr algn="l"/>
            <a:r>
              <a:rPr sz="1100" b="1">
                <a:solidFill>
                  <a:srgbClr val="0B1016"/>
                </a:solidFill>
                <a:latin typeface="Barlow Condensed"/>
              </a:rPr>
              <a:t>PHASE 3 · TOOLING</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2800" b="1">
                <a:solidFill>
                  <a:srgbClr val="EAF0F6"/>
                </a:solidFill>
                <a:latin typeface="Barlow Condensed"/>
              </a:rPr>
              <a:t>The deprecation log is your tech log</a:t>
            </a:r>
          </a:p>
        </p:txBody>
      </p:sp>
      <p:sp>
        <p:nvSpPr>
          <p:cNvPr id="7" name="TextBox 6"/>
          <p:cNvSpPr txBox="1"/>
          <p:nvPr/>
        </p:nvSpPr>
        <p:spPr>
          <a:xfrm>
            <a:off x="566928" y="1408176"/>
            <a:ext cx="11057839" cy="292608"/>
          </a:xfrm>
          <a:prstGeom prst="rect">
            <a:avLst/>
          </a:prstGeom>
          <a:noFill/>
        </p:spPr>
        <p:txBody>
          <a:bodyPr wrap="square" lIns="0" rIns="0" tIns="0" bIns="0" anchor="t">
            <a:spAutoFit/>
          </a:bodyPr>
          <a:lstStyle/>
          <a:p>
            <a:pPr algn="l"/>
            <a:r>
              <a:rPr sz="1350" b="0">
                <a:solidFill>
                  <a:srgbClr val="A8B6C6"/>
                </a:solidFill>
                <a:latin typeface="Barlow"/>
              </a:rPr>
              <a:t>Pilots write up every defect after the flight, even the small ones</a:t>
            </a:r>
          </a:p>
        </p:txBody>
      </p:sp>
      <p:sp>
        <p:nvSpPr>
          <p:cNvPr id="8" name="Rectangle 7"/>
          <p:cNvSpPr/>
          <p:nvPr/>
        </p:nvSpPr>
        <p:spPr>
          <a:xfrm>
            <a:off x="566928" y="1883664"/>
            <a:ext cx="38100" cy="2020824"/>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03504" y="1883664"/>
            <a:ext cx="11021263" cy="2020824"/>
          </a:xfrm>
          <a:prstGeom prst="rect">
            <a:avLst/>
          </a:prstGeom>
          <a:solidFill>
            <a:srgbClr val="080C1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1993392"/>
            <a:ext cx="10728655" cy="1801368"/>
          </a:xfrm>
          <a:prstGeom prst="rect">
            <a:avLst/>
          </a:prstGeom>
          <a:noFill/>
        </p:spPr>
        <p:txBody>
          <a:bodyPr wrap="square" lIns="0" rIns="0" tIns="0" bIns="0" anchor="t">
            <a:spAutoFit/>
          </a:bodyPr>
          <a:lstStyle/>
          <a:p>
            <a:pPr algn="l">
              <a:lnSpc>
                <a:spcPct val="106000"/>
              </a:lnSpc>
            </a:pPr>
            <a:r>
              <a:rPr sz="950" b="0" i="0">
                <a:solidFill>
                  <a:srgbClr val="6F8093"/>
                </a:solidFill>
                <a:latin typeface="IBM Plex Mono"/>
              </a:rPr>
              <a:t># config/system/additional.php - switch it on, then actually read it</a:t>
            </a:r>
          </a:p>
          <a:p>
            <a:pPr algn="l">
              <a:lnSpc>
                <a:spcPct val="106000"/>
              </a:lnSpc>
              <a:spcBef>
                <a:spcPts val="0"/>
              </a:spcBef>
            </a:pPr>
            <a:r>
              <a:rPr sz="950" b="0" i="0">
                <a:solidFill>
                  <a:srgbClr val="C9D6E2"/>
                </a:solidFill>
                <a:latin typeface="IBM Plex Mono"/>
              </a:rPr>
              <a:t>$GLOBALS['TYPO3_CONF_VARS']['LOG']['TYPO3']['CMS']['deprecations']['writerConfiguration'] = [</a:t>
            </a:r>
          </a:p>
          <a:p>
            <a:pPr algn="l">
              <a:lnSpc>
                <a:spcPct val="106000"/>
              </a:lnSpc>
              <a:spcBef>
                <a:spcPts val="0"/>
              </a:spcBef>
            </a:pPr>
            <a:r>
              <a:rPr sz="950" b="0" i="0">
                <a:solidFill>
                  <a:srgbClr val="C9D6E2"/>
                </a:solidFill>
                <a:latin typeface="IBM Plex Mono"/>
              </a:rPr>
              <a:t>    \Psr\Log\LogLevel::NOTICE =&gt; [</a:t>
            </a:r>
          </a:p>
          <a:p>
            <a:pPr algn="l">
              <a:lnSpc>
                <a:spcPct val="106000"/>
              </a:lnSpc>
              <a:spcBef>
                <a:spcPts val="0"/>
              </a:spcBef>
            </a:pPr>
            <a:r>
              <a:rPr sz="950" b="0" i="0">
                <a:solidFill>
                  <a:srgbClr val="C9D6E2"/>
                </a:solidFill>
                <a:latin typeface="IBM Plex Mono"/>
              </a:rPr>
              <a:t>        \TYPO3\CMS\Core\Log\Writer\FileWriter::class =&gt; [</a:t>
            </a:r>
          </a:p>
          <a:p>
            <a:pPr algn="l">
              <a:lnSpc>
                <a:spcPct val="106000"/>
              </a:lnSpc>
              <a:spcBef>
                <a:spcPts val="0"/>
              </a:spcBef>
            </a:pPr>
            <a:r>
              <a:rPr sz="950" b="0" i="0">
                <a:solidFill>
                  <a:srgbClr val="C9D6E2"/>
                </a:solidFill>
                <a:latin typeface="IBM Plex Mono"/>
              </a:rPr>
              <a:t>            'disabled' =&gt; false,</a:t>
            </a:r>
          </a:p>
          <a:p>
            <a:pPr algn="l">
              <a:lnSpc>
                <a:spcPct val="106000"/>
              </a:lnSpc>
              <a:spcBef>
                <a:spcPts val="0"/>
              </a:spcBef>
            </a:pPr>
            <a:r>
              <a:rPr sz="950" b="0" i="0">
                <a:solidFill>
                  <a:srgbClr val="C9D6E2"/>
                </a:solidFill>
                <a:latin typeface="IBM Plex Mono"/>
              </a:rPr>
              <a:t>        ],</a:t>
            </a:r>
          </a:p>
          <a:p>
            <a:pPr algn="l">
              <a:lnSpc>
                <a:spcPct val="106000"/>
              </a:lnSpc>
              <a:spcBef>
                <a:spcPts val="0"/>
              </a:spcBef>
            </a:pPr>
            <a:r>
              <a:rPr sz="950" b="0" i="0">
                <a:solidFill>
                  <a:srgbClr val="C9D6E2"/>
                </a:solidFill>
                <a:latin typeface="IBM Plex Mono"/>
              </a:rPr>
              <a:t>    ],</a:t>
            </a:r>
          </a:p>
          <a:p>
            <a:pPr algn="l">
              <a:lnSpc>
                <a:spcPct val="106000"/>
              </a:lnSpc>
              <a:spcBef>
                <a:spcPts val="0"/>
              </a:spcBef>
            </a:pPr>
            <a:r>
              <a:rPr sz="950" b="0" i="0">
                <a:solidFill>
                  <a:srgbClr val="C9D6E2"/>
                </a:solidFill>
                <a:latin typeface="IBM Plex Mono"/>
              </a:rPr>
              <a:t>];</a:t>
            </a:r>
          </a:p>
          <a:p>
            <a:pPr algn="l">
              <a:lnSpc>
                <a:spcPct val="106000"/>
              </a:lnSpc>
              <a:spcBef>
                <a:spcPts val="0"/>
              </a:spcBef>
            </a:pPr>
            <a:r>
              <a:rPr sz="950" b="0" i="0">
                <a:solidFill>
                  <a:srgbClr val="C9D6E2"/>
                </a:solidFill>
                <a:latin typeface="IBM Plex Mono"/>
              </a:rPr>
              <a:t> </a:t>
            </a:r>
          </a:p>
          <a:p>
            <a:pPr algn="l">
              <a:lnSpc>
                <a:spcPct val="106000"/>
              </a:lnSpc>
              <a:spcBef>
                <a:spcPts val="0"/>
              </a:spcBef>
            </a:pPr>
            <a:r>
              <a:rPr sz="950" b="0" i="0">
                <a:solidFill>
                  <a:srgbClr val="6F8093"/>
                </a:solidFill>
                <a:latin typeface="IBM Plex Mono"/>
              </a:rPr>
              <a:t># then, after a day of real traffic and real editing:</a:t>
            </a:r>
          </a:p>
          <a:p>
            <a:pPr algn="l">
              <a:lnSpc>
                <a:spcPct val="106000"/>
              </a:lnSpc>
              <a:spcBef>
                <a:spcPts val="0"/>
              </a:spcBef>
            </a:pPr>
            <a:r>
              <a:rPr sz="950" b="0" i="0">
                <a:solidFill>
                  <a:srgbClr val="C9D6E2"/>
                </a:solidFill>
                <a:latin typeface="IBM Plex Mono"/>
              </a:rPr>
              <a:t>tail -f var/log/typo3_deprecations_*.log</a:t>
            </a:r>
          </a:p>
        </p:txBody>
      </p:sp>
      <p:sp>
        <p:nvSpPr>
          <p:cNvPr id="11" name="TextBox 10"/>
          <p:cNvSpPr txBox="1"/>
          <p:nvPr/>
        </p:nvSpPr>
        <p:spPr>
          <a:xfrm>
            <a:off x="566928" y="4050792"/>
            <a:ext cx="11057839" cy="914400"/>
          </a:xfrm>
          <a:prstGeom prst="rect">
            <a:avLst/>
          </a:prstGeom>
          <a:noFill/>
        </p:spPr>
        <p:txBody>
          <a:bodyPr wrap="square" lIns="0" rIns="0" tIns="0" bIns="0" anchor="t">
            <a:spAutoFit/>
          </a:bodyPr>
          <a:lstStyle/>
          <a:p>
            <a:pPr algn="l">
              <a:lnSpc>
                <a:spcPct val="112000"/>
              </a:lnSpc>
            </a:pPr>
            <a:r>
              <a:rPr sz="1250" b="0" i="0">
                <a:solidFill>
                  <a:srgbClr val="3FCF8E"/>
                </a:solidFill>
                <a:latin typeface="Barlow"/>
              </a:rPr>
              <a:t>◆  </a:t>
            </a:r>
            <a:r>
              <a:rPr sz="1250" b="0" i="0">
                <a:solidFill>
                  <a:srgbClr val="EAF0F6"/>
                </a:solidFill>
                <a:latin typeface="Barlow"/>
              </a:rPr>
              <a:t>Static analysis reads code paths. The deprecation log reports the ones actually taken.</a:t>
            </a:r>
          </a:p>
          <a:p>
            <a:pPr algn="l">
              <a:lnSpc>
                <a:spcPct val="112000"/>
              </a:lnSpc>
              <a:spcBef>
                <a:spcPts val="700"/>
              </a:spcBef>
            </a:pPr>
            <a:r>
              <a:rPr sz="1250" b="0" i="0">
                <a:solidFill>
                  <a:srgbClr val="3FCF8E"/>
                </a:solidFill>
                <a:latin typeface="Barlow"/>
              </a:rPr>
              <a:t>◆  </a:t>
            </a:r>
            <a:r>
              <a:rPr sz="1250" b="0" i="0">
                <a:solidFill>
                  <a:srgbClr val="EAF0F6"/>
                </a:solidFill>
                <a:latin typeface="Barlow"/>
              </a:rPr>
              <a:t>It catches the dynamic calls the Extension Scanner structurally cannot see.</a:t>
            </a:r>
          </a:p>
          <a:p>
            <a:pPr algn="l">
              <a:lnSpc>
                <a:spcPct val="112000"/>
              </a:lnSpc>
              <a:spcBef>
                <a:spcPts val="700"/>
              </a:spcBef>
            </a:pPr>
            <a:r>
              <a:rPr sz="1250" b="0" i="0">
                <a:solidFill>
                  <a:srgbClr val="3FCF8E"/>
                </a:solidFill>
                <a:latin typeface="Barlow"/>
              </a:rPr>
              <a:t>◆  </a:t>
            </a:r>
            <a:r>
              <a:rPr sz="1250" b="0" i="0">
                <a:solidFill>
                  <a:srgbClr val="EAF0F6"/>
                </a:solidFill>
                <a:latin typeface="Barlow"/>
              </a:rPr>
              <a:t>Let it run under real editor traffic for a few days. That is where the rest hides.</a:t>
            </a:r>
          </a:p>
        </p:txBody>
      </p:sp>
      <p:sp>
        <p:nvSpPr>
          <p:cNvPr id="12" name="TextBox 11"/>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3" name="TextBox 12"/>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81 / 88</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360443"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828800"/>
            <a:ext cx="8778240" cy="1737360"/>
          </a:xfrm>
          <a:prstGeom prst="rect">
            <a:avLst/>
          </a:prstGeom>
          <a:noFill/>
        </p:spPr>
        <p:txBody>
          <a:bodyPr wrap="square" lIns="0" rIns="0" tIns="0" bIns="0" anchor="t">
            <a:spAutoFit/>
          </a:bodyPr>
          <a:lstStyle/>
          <a:p>
            <a:pPr algn="l">
              <a:lnSpc>
                <a:spcPct val="102000"/>
              </a:lnSpc>
            </a:pPr>
            <a:r>
              <a:rPr sz="4000" b="1">
                <a:solidFill>
                  <a:srgbClr val="EAF0F6"/>
                </a:solidFill>
                <a:latin typeface="Barlow Condensed"/>
              </a:rPr>
              <a:t>Scan again. You are not finished — you are at the start of the next one.</a:t>
            </a:r>
          </a:p>
        </p:txBody>
      </p:sp>
      <p:sp>
        <p:nvSpPr>
          <p:cNvPr id="5" name="TextBox 4"/>
          <p:cNvSpPr txBox="1"/>
          <p:nvPr/>
        </p:nvSpPr>
        <p:spPr>
          <a:xfrm>
            <a:off x="566928" y="3703320"/>
            <a:ext cx="8046720" cy="822960"/>
          </a:xfrm>
          <a:prstGeom prst="rect">
            <a:avLst/>
          </a:prstGeom>
          <a:noFill/>
        </p:spPr>
        <p:txBody>
          <a:bodyPr wrap="square" lIns="0" rIns="0" tIns="0" bIns="0" anchor="t">
            <a:spAutoFit/>
          </a:bodyPr>
          <a:lstStyle/>
          <a:p>
            <a:pPr algn="l"/>
            <a:r>
              <a:rPr sz="1600" b="0">
                <a:solidFill>
                  <a:srgbClr val="A8B6C6"/>
                </a:solidFill>
                <a:latin typeface="Barlow"/>
              </a:rPr>
              <a:t>The version you just landed on deprecates things too. That list is not a leftover. It is the flight plan for the next upgrade, handed to you for free.</a:t>
            </a:r>
          </a:p>
        </p:txBody>
      </p:sp>
      <p:sp>
        <p:nvSpPr>
          <p:cNvPr id="6" name="Rectangle 5"/>
          <p:cNvSpPr/>
          <p:nvPr/>
        </p:nvSpPr>
        <p:spPr>
          <a:xfrm>
            <a:off x="566928" y="4572000"/>
            <a:ext cx="31750"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76656" y="4572000"/>
            <a:ext cx="8485632" cy="457200"/>
          </a:xfrm>
          <a:prstGeom prst="rect">
            <a:avLst/>
          </a:prstGeom>
          <a:noFill/>
        </p:spPr>
        <p:txBody>
          <a:bodyPr wrap="square" lIns="0" rIns="0" tIns="0" bIns="0" anchor="t">
            <a:spAutoFit/>
          </a:bodyPr>
          <a:lstStyle/>
          <a:p>
            <a:pPr algn="l"/>
            <a:r>
              <a:rPr sz="1250" b="0">
                <a:solidFill>
                  <a:srgbClr val="A8B6C6"/>
                </a:solidFill>
                <a:latin typeface="Barlow"/>
              </a:rPr>
              <a:t>Run it now, while the context is still in your head, and put the findings in the backlog with the changelog links attached.</a:t>
            </a:r>
          </a:p>
        </p:txBody>
      </p:sp>
      <p:sp>
        <p:nvSpPr>
          <p:cNvPr id="8" name="TextBox 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9" name="TextBox 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82 / 88</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498985"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3</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Remove the ferry equipment</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3FCF8E"/>
                </a:solidFill>
                <a:latin typeface="Barlow"/>
              </a:rPr>
              <a:t>◆  </a:t>
            </a:r>
            <a:r>
              <a:rPr sz="1600" b="0" i="0">
                <a:solidFill>
                  <a:srgbClr val="EAF0F6"/>
                </a:solidFill>
                <a:latin typeface="Barlow"/>
              </a:rPr>
              <a:t>Compatibility shims and polyfills you added “just for the migration”.</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Upgrade-only dev packages — or move them into an isolated tools/ install.</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The @todo v13 comments you actually resolved. Delete them; do not let them rot.</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Version constraints still pointing at the old world in your own extensions.</a:t>
            </a:r>
          </a:p>
        </p:txBody>
      </p:sp>
      <p:sp>
        <p:nvSpPr>
          <p:cNvPr id="8" name="Rectangle 7"/>
          <p:cNvSpPr/>
          <p:nvPr/>
        </p:nvSpPr>
        <p:spPr>
          <a:xfrm>
            <a:off x="566928" y="3401568"/>
            <a:ext cx="31750"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An aircraft flies home with the ferry tank still fitted exactly once. After that it is just weight you pay for on every leg.</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83 / 88</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637527"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3</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The debrief</a:t>
            </a:r>
          </a:p>
        </p:txBody>
      </p:sp>
      <p:sp>
        <p:nvSpPr>
          <p:cNvPr id="7" name="TextBox 6"/>
          <p:cNvSpPr txBox="1"/>
          <p:nvPr/>
        </p:nvSpPr>
        <p:spPr>
          <a:xfrm>
            <a:off x="566928" y="1728216"/>
            <a:ext cx="11057839" cy="2377440"/>
          </a:xfrm>
          <a:prstGeom prst="rect">
            <a:avLst/>
          </a:prstGeom>
          <a:noFill/>
        </p:spPr>
        <p:txBody>
          <a:bodyPr wrap="square" lIns="0" rIns="0" tIns="0" bIns="0" anchor="t">
            <a:spAutoFit/>
          </a:bodyPr>
          <a:lstStyle/>
          <a:p>
            <a:pPr algn="l">
              <a:lnSpc>
                <a:spcPct val="112000"/>
              </a:lnSpc>
            </a:pPr>
            <a:r>
              <a:rPr sz="1600" b="0" i="0">
                <a:solidFill>
                  <a:srgbClr val="3FCF8E"/>
                </a:solidFill>
                <a:latin typeface="Barlow"/>
              </a:rPr>
              <a:t>◆  </a:t>
            </a:r>
            <a:r>
              <a:rPr sz="1600" b="0" i="0">
                <a:solidFill>
                  <a:srgbClr val="EAF0F6"/>
                </a:solidFill>
                <a:latin typeface="Barlow"/>
              </a:rPr>
              <a:t>What did we predict correctly? Keep it in the checklist — it earned its place.</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What surprised us? That is a new QRH entry, written now, not “soon”.</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What took longest? That is where next time's preparation goes.</a:t>
            </a:r>
          </a:p>
          <a:p>
            <a:pPr algn="l">
              <a:lnSpc>
                <a:spcPct val="112000"/>
              </a:lnSpc>
              <a:spcBef>
                <a:spcPts val="1200"/>
              </a:spcBef>
            </a:pPr>
            <a:r>
              <a:rPr sz="1600" b="0" i="0">
                <a:solidFill>
                  <a:srgbClr val="3FCF8E"/>
                </a:solidFill>
                <a:latin typeface="Barlow"/>
              </a:rPr>
              <a:t>◆  </a:t>
            </a:r>
            <a:r>
              <a:rPr sz="1600" b="0" i="0">
                <a:solidFill>
                  <a:srgbClr val="EAF0F6"/>
                </a:solidFill>
                <a:latin typeface="Barlow"/>
              </a:rPr>
              <a:t>What did we not need? Delete it. Checklists that grow forever stop being read.</a:t>
            </a:r>
          </a:p>
        </p:txBody>
      </p:sp>
      <p:sp>
        <p:nvSpPr>
          <p:cNvPr id="8" name="Rectangle 7"/>
          <p:cNvSpPr/>
          <p:nvPr/>
        </p:nvSpPr>
        <p:spPr>
          <a:xfrm>
            <a:off x="566928" y="3401568"/>
            <a:ext cx="31750"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3401568"/>
            <a:ext cx="10948111" cy="457200"/>
          </a:xfrm>
          <a:prstGeom prst="rect">
            <a:avLst/>
          </a:prstGeom>
          <a:noFill/>
        </p:spPr>
        <p:txBody>
          <a:bodyPr wrap="square" lIns="0" rIns="0" tIns="0" bIns="0" anchor="t">
            <a:spAutoFit/>
          </a:bodyPr>
          <a:lstStyle/>
          <a:p>
            <a:pPr algn="l"/>
            <a:r>
              <a:rPr sz="1250" b="0">
                <a:solidFill>
                  <a:srgbClr val="A8B6C6"/>
                </a:solidFill>
                <a:latin typeface="Barlow"/>
              </a:rPr>
              <a:t>Aviation improves because every incident is written down and shared, not because the next crew is more careful.</a:t>
            </a:r>
          </a:p>
        </p:txBody>
      </p:sp>
      <p:sp>
        <p:nvSpPr>
          <p:cNvPr id="10" name="TextBox 9"/>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11" name="TextBox 10"/>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84 / 88</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776069" cy="3810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PHASE 3</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It is a cycle, not a project</a:t>
            </a:r>
          </a:p>
        </p:txBody>
      </p:sp>
      <p:sp>
        <p:nvSpPr>
          <p:cNvPr id="7" name="Rectangle 6"/>
          <p:cNvSpPr/>
          <p:nvPr/>
        </p:nvSpPr>
        <p:spPr>
          <a:xfrm>
            <a:off x="1024128" y="1591056"/>
            <a:ext cx="2926080" cy="16916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024128" y="1591056"/>
            <a:ext cx="2926080" cy="40640"/>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225296" y="1819656"/>
            <a:ext cx="2651760" cy="320040"/>
          </a:xfrm>
          <a:prstGeom prst="rect">
            <a:avLst/>
          </a:prstGeom>
          <a:noFill/>
        </p:spPr>
        <p:txBody>
          <a:bodyPr wrap="square" lIns="0" rIns="0" tIns="0" bIns="0" anchor="t">
            <a:spAutoFit/>
          </a:bodyPr>
          <a:lstStyle/>
          <a:p>
            <a:pPr algn="l"/>
            <a:r>
              <a:rPr sz="1900" b="1">
                <a:solidFill>
                  <a:srgbClr val="3FCF8E"/>
                </a:solidFill>
                <a:latin typeface="Barlow Condensed"/>
              </a:rPr>
              <a:t>Post-Flight</a:t>
            </a:r>
          </a:p>
        </p:txBody>
      </p:sp>
      <p:sp>
        <p:nvSpPr>
          <p:cNvPr id="10" name="TextBox 9"/>
          <p:cNvSpPr txBox="1"/>
          <p:nvPr/>
        </p:nvSpPr>
        <p:spPr>
          <a:xfrm>
            <a:off x="1225296" y="2276856"/>
            <a:ext cx="2606040" cy="822960"/>
          </a:xfrm>
          <a:prstGeom prst="rect">
            <a:avLst/>
          </a:prstGeom>
          <a:noFill/>
        </p:spPr>
        <p:txBody>
          <a:bodyPr wrap="square" lIns="0" rIns="0" tIns="0" bIns="0" anchor="t">
            <a:spAutoFit/>
          </a:bodyPr>
          <a:lstStyle/>
          <a:p>
            <a:pPr algn="l"/>
            <a:r>
              <a:rPr sz="1200" b="0">
                <a:solidFill>
                  <a:srgbClr val="A8B6C6"/>
                </a:solidFill>
                <a:latin typeface="Barlow"/>
              </a:rPr>
              <a:t>New deprecations recorded, debrief written</a:t>
            </a:r>
          </a:p>
        </p:txBody>
      </p:sp>
      <p:sp>
        <p:nvSpPr>
          <p:cNvPr id="11" name="TextBox 10"/>
          <p:cNvSpPr txBox="1"/>
          <p:nvPr/>
        </p:nvSpPr>
        <p:spPr>
          <a:xfrm>
            <a:off x="3950208" y="2231136"/>
            <a:ext cx="566928" cy="365760"/>
          </a:xfrm>
          <a:prstGeom prst="rect">
            <a:avLst/>
          </a:prstGeom>
          <a:noFill/>
        </p:spPr>
        <p:txBody>
          <a:bodyPr wrap="square" lIns="0" rIns="0" tIns="0" bIns="0" anchor="t">
            <a:spAutoFit/>
          </a:bodyPr>
          <a:lstStyle/>
          <a:p>
            <a:pPr algn="ctr"/>
            <a:r>
              <a:rPr sz="2200" b="0">
                <a:solidFill>
                  <a:srgbClr val="6F8093"/>
                </a:solidFill>
                <a:latin typeface="Barlow"/>
              </a:rPr>
              <a:t>→</a:t>
            </a:r>
          </a:p>
        </p:txBody>
      </p:sp>
      <p:sp>
        <p:nvSpPr>
          <p:cNvPr id="12" name="Rectangle 11"/>
          <p:cNvSpPr/>
          <p:nvPr/>
        </p:nvSpPr>
        <p:spPr>
          <a:xfrm>
            <a:off x="4517136" y="1591056"/>
            <a:ext cx="2926080" cy="16916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517136" y="1591056"/>
            <a:ext cx="2926080" cy="40640"/>
          </a:xfrm>
          <a:prstGeom prst="rect">
            <a:avLst/>
          </a:prstGeom>
          <a:solidFill>
            <a:srgbClr val="4EC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718304" y="1819656"/>
            <a:ext cx="2651760" cy="320040"/>
          </a:xfrm>
          <a:prstGeom prst="rect">
            <a:avLst/>
          </a:prstGeom>
          <a:noFill/>
        </p:spPr>
        <p:txBody>
          <a:bodyPr wrap="square" lIns="0" rIns="0" tIns="0" bIns="0" anchor="t">
            <a:spAutoFit/>
          </a:bodyPr>
          <a:lstStyle/>
          <a:p>
            <a:pPr algn="l"/>
            <a:r>
              <a:rPr sz="1900" b="1">
                <a:solidFill>
                  <a:srgbClr val="4EC3E0"/>
                </a:solidFill>
                <a:latin typeface="Barlow Condensed"/>
              </a:rPr>
              <a:t>Pre-Flight</a:t>
            </a:r>
          </a:p>
        </p:txBody>
      </p:sp>
      <p:sp>
        <p:nvSpPr>
          <p:cNvPr id="15" name="TextBox 14"/>
          <p:cNvSpPr txBox="1"/>
          <p:nvPr/>
        </p:nvSpPr>
        <p:spPr>
          <a:xfrm>
            <a:off x="4718304" y="2276856"/>
            <a:ext cx="2606040" cy="822960"/>
          </a:xfrm>
          <a:prstGeom prst="rect">
            <a:avLst/>
          </a:prstGeom>
          <a:noFill/>
        </p:spPr>
        <p:txBody>
          <a:bodyPr wrap="square" lIns="0" rIns="0" tIns="0" bIns="0" anchor="t">
            <a:spAutoFit/>
          </a:bodyPr>
          <a:lstStyle/>
          <a:p>
            <a:pPr algn="l"/>
            <a:r>
              <a:rPr sz="1200" b="0">
                <a:solidFill>
                  <a:srgbClr val="A8B6C6"/>
                </a:solidFill>
                <a:latin typeface="Barlow"/>
              </a:rPr>
              <a:t>…which IS the preparation for the next version</a:t>
            </a:r>
          </a:p>
        </p:txBody>
      </p:sp>
      <p:sp>
        <p:nvSpPr>
          <p:cNvPr id="16" name="TextBox 15"/>
          <p:cNvSpPr txBox="1"/>
          <p:nvPr/>
        </p:nvSpPr>
        <p:spPr>
          <a:xfrm>
            <a:off x="7443216" y="2231136"/>
            <a:ext cx="566928" cy="365760"/>
          </a:xfrm>
          <a:prstGeom prst="rect">
            <a:avLst/>
          </a:prstGeom>
          <a:noFill/>
        </p:spPr>
        <p:txBody>
          <a:bodyPr wrap="square" lIns="0" rIns="0" tIns="0" bIns="0" anchor="t">
            <a:spAutoFit/>
          </a:bodyPr>
          <a:lstStyle/>
          <a:p>
            <a:pPr algn="ctr"/>
            <a:r>
              <a:rPr sz="2200" b="0">
                <a:solidFill>
                  <a:srgbClr val="6F8093"/>
                </a:solidFill>
                <a:latin typeface="Barlow"/>
              </a:rPr>
              <a:t>→</a:t>
            </a:r>
          </a:p>
        </p:txBody>
      </p:sp>
      <p:sp>
        <p:nvSpPr>
          <p:cNvPr id="17" name="Rectangle 16"/>
          <p:cNvSpPr/>
          <p:nvPr/>
        </p:nvSpPr>
        <p:spPr>
          <a:xfrm>
            <a:off x="8010144" y="1591056"/>
            <a:ext cx="2926080" cy="1691640"/>
          </a:xfrm>
          <a:prstGeom prst="rect">
            <a:avLst/>
          </a:prstGeom>
          <a:solidFill>
            <a:srgbClr val="1B2531"/>
          </a:solidFill>
          <a:ln w="9525">
            <a:solidFill>
              <a:srgbClr val="2530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0144" y="1591056"/>
            <a:ext cx="2926080" cy="40640"/>
          </a:xfrm>
          <a:prstGeom prst="rect">
            <a:avLst/>
          </a:prstGeom>
          <a:solidFill>
            <a:srgbClr val="FF8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11312" y="1819656"/>
            <a:ext cx="2651760" cy="320040"/>
          </a:xfrm>
          <a:prstGeom prst="rect">
            <a:avLst/>
          </a:prstGeom>
          <a:noFill/>
        </p:spPr>
        <p:txBody>
          <a:bodyPr wrap="square" lIns="0" rIns="0" tIns="0" bIns="0" anchor="t">
            <a:spAutoFit/>
          </a:bodyPr>
          <a:lstStyle/>
          <a:p>
            <a:pPr algn="l"/>
            <a:r>
              <a:rPr sz="1900" b="1">
                <a:solidFill>
                  <a:srgbClr val="FF8700"/>
                </a:solidFill>
                <a:latin typeface="Barlow Condensed"/>
              </a:rPr>
              <a:t>Flight</a:t>
            </a:r>
          </a:p>
        </p:txBody>
      </p:sp>
      <p:sp>
        <p:nvSpPr>
          <p:cNvPr id="20" name="TextBox 19"/>
          <p:cNvSpPr txBox="1"/>
          <p:nvPr/>
        </p:nvSpPr>
        <p:spPr>
          <a:xfrm>
            <a:off x="8211312" y="2276856"/>
            <a:ext cx="2606040" cy="822960"/>
          </a:xfrm>
          <a:prstGeom prst="rect">
            <a:avLst/>
          </a:prstGeom>
          <a:noFill/>
        </p:spPr>
        <p:txBody>
          <a:bodyPr wrap="square" lIns="0" rIns="0" tIns="0" bIns="0" anchor="t">
            <a:spAutoFit/>
          </a:bodyPr>
          <a:lstStyle/>
          <a:p>
            <a:pPr algn="l"/>
            <a:r>
              <a:rPr sz="1200" b="0">
                <a:solidFill>
                  <a:srgbClr val="A8B6C6"/>
                </a:solidFill>
                <a:latin typeface="Barlow"/>
              </a:rPr>
              <a:t>…which is shorter, because you started early</a:t>
            </a:r>
          </a:p>
        </p:txBody>
      </p:sp>
      <p:sp>
        <p:nvSpPr>
          <p:cNvPr id="21" name="TextBox 20"/>
          <p:cNvSpPr txBox="1"/>
          <p:nvPr/>
        </p:nvSpPr>
        <p:spPr>
          <a:xfrm>
            <a:off x="10936224" y="2231136"/>
            <a:ext cx="566928" cy="365760"/>
          </a:xfrm>
          <a:prstGeom prst="rect">
            <a:avLst/>
          </a:prstGeom>
          <a:noFill/>
        </p:spPr>
        <p:txBody>
          <a:bodyPr wrap="square" lIns="0" rIns="0" tIns="0" bIns="0" anchor="t">
            <a:spAutoFit/>
          </a:bodyPr>
          <a:lstStyle/>
          <a:p>
            <a:pPr algn="ctr"/>
            <a:r>
              <a:rPr sz="2200" b="0">
                <a:solidFill>
                  <a:srgbClr val="6F8093"/>
                </a:solidFill>
                <a:latin typeface="Barlow"/>
              </a:rPr>
              <a:t>↻</a:t>
            </a:r>
          </a:p>
        </p:txBody>
      </p:sp>
      <p:sp>
        <p:nvSpPr>
          <p:cNvPr id="22" name="Rectangle 21"/>
          <p:cNvSpPr/>
          <p:nvPr/>
        </p:nvSpPr>
        <p:spPr>
          <a:xfrm>
            <a:off x="566928" y="3511296"/>
            <a:ext cx="31750" cy="384048"/>
          </a:xfrm>
          <a:prstGeom prst="rect">
            <a:avLst/>
          </a:prstGeom>
          <a:solidFill>
            <a:srgbClr val="3FCF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6656" y="3511296"/>
            <a:ext cx="10948111" cy="457200"/>
          </a:xfrm>
          <a:prstGeom prst="rect">
            <a:avLst/>
          </a:prstGeom>
          <a:noFill/>
        </p:spPr>
        <p:txBody>
          <a:bodyPr wrap="square" lIns="0" rIns="0" tIns="0" bIns="0" anchor="t">
            <a:spAutoFit/>
          </a:bodyPr>
          <a:lstStyle/>
          <a:p>
            <a:pPr algn="l"/>
            <a:r>
              <a:rPr sz="1250" b="0">
                <a:solidFill>
                  <a:srgbClr val="A8B6C6"/>
                </a:solidFill>
                <a:latin typeface="Barlow"/>
              </a:rPr>
              <a:t>Teams for whom upgrades are painless are not luckier. They never left phase 3.</a:t>
            </a:r>
          </a:p>
        </p:txBody>
      </p:sp>
      <p:sp>
        <p:nvSpPr>
          <p:cNvPr id="24" name="TextBox 23"/>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5" name="TextBox 24"/>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85 / 88</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914611"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DEBRIEF</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Takeaways</a:t>
            </a:r>
          </a:p>
        </p:txBody>
      </p:sp>
      <p:sp>
        <p:nvSpPr>
          <p:cNvPr id="7" name="TextBox 6"/>
          <p:cNvSpPr txBox="1"/>
          <p:nvPr/>
        </p:nvSpPr>
        <p:spPr>
          <a:xfrm>
            <a:off x="566928" y="1591056"/>
            <a:ext cx="365760" cy="320040"/>
          </a:xfrm>
          <a:prstGeom prst="rect">
            <a:avLst/>
          </a:prstGeom>
          <a:noFill/>
        </p:spPr>
        <p:txBody>
          <a:bodyPr wrap="square" lIns="0" rIns="0" tIns="0" bIns="0" anchor="t">
            <a:spAutoFit/>
          </a:bodyPr>
          <a:lstStyle/>
          <a:p>
            <a:pPr algn="l"/>
            <a:r>
              <a:rPr sz="2000" b="1">
                <a:solidFill>
                  <a:srgbClr val="FF8700"/>
                </a:solidFill>
                <a:latin typeface="Barlow Condensed"/>
              </a:rPr>
              <a:t>1</a:t>
            </a:r>
          </a:p>
        </p:txBody>
      </p:sp>
      <p:sp>
        <p:nvSpPr>
          <p:cNvPr id="8" name="TextBox 7"/>
          <p:cNvSpPr txBox="1"/>
          <p:nvPr/>
        </p:nvSpPr>
        <p:spPr>
          <a:xfrm>
            <a:off x="950976" y="1591056"/>
            <a:ext cx="4797399" cy="274320"/>
          </a:xfrm>
          <a:prstGeom prst="rect">
            <a:avLst/>
          </a:prstGeom>
          <a:noFill/>
        </p:spPr>
        <p:txBody>
          <a:bodyPr wrap="square" lIns="0" rIns="0" tIns="0" bIns="0" anchor="t">
            <a:spAutoFit/>
          </a:bodyPr>
          <a:lstStyle/>
          <a:p>
            <a:pPr algn="l"/>
            <a:r>
              <a:rPr sz="1400" b="1">
                <a:solidFill>
                  <a:srgbClr val="EAF0F6"/>
                </a:solidFill>
                <a:latin typeface="Barlow Condensed"/>
              </a:rPr>
              <a:t>Expect work</a:t>
            </a:r>
          </a:p>
        </p:txBody>
      </p:sp>
      <p:sp>
        <p:nvSpPr>
          <p:cNvPr id="9" name="TextBox 8"/>
          <p:cNvSpPr txBox="1"/>
          <p:nvPr/>
        </p:nvSpPr>
        <p:spPr>
          <a:xfrm>
            <a:off x="950976" y="1847088"/>
            <a:ext cx="4797399" cy="457200"/>
          </a:xfrm>
          <a:prstGeom prst="rect">
            <a:avLst/>
          </a:prstGeom>
          <a:noFill/>
        </p:spPr>
        <p:txBody>
          <a:bodyPr wrap="square" lIns="0" rIns="0" tIns="0" bIns="0" anchor="t">
            <a:spAutoFit/>
          </a:bodyPr>
          <a:lstStyle/>
          <a:p>
            <a:pPr algn="l"/>
            <a:r>
              <a:rPr sz="1100" b="0">
                <a:solidFill>
                  <a:srgbClr val="A8B6C6"/>
                </a:solidFill>
                <a:latin typeface="Barlow"/>
              </a:rPr>
              <a:t>An upgrade is a project with phases, not a ticket with an estimate.</a:t>
            </a:r>
          </a:p>
        </p:txBody>
      </p:sp>
      <p:sp>
        <p:nvSpPr>
          <p:cNvPr id="10" name="TextBox 9"/>
          <p:cNvSpPr txBox="1"/>
          <p:nvPr/>
        </p:nvSpPr>
        <p:spPr>
          <a:xfrm>
            <a:off x="6370167" y="1591056"/>
            <a:ext cx="365760" cy="320040"/>
          </a:xfrm>
          <a:prstGeom prst="rect">
            <a:avLst/>
          </a:prstGeom>
          <a:noFill/>
        </p:spPr>
        <p:txBody>
          <a:bodyPr wrap="square" lIns="0" rIns="0" tIns="0" bIns="0" anchor="t">
            <a:spAutoFit/>
          </a:bodyPr>
          <a:lstStyle/>
          <a:p>
            <a:pPr algn="l"/>
            <a:r>
              <a:rPr sz="2000" b="1">
                <a:solidFill>
                  <a:srgbClr val="FF8700"/>
                </a:solidFill>
                <a:latin typeface="Barlow Condensed"/>
              </a:rPr>
              <a:t>2</a:t>
            </a:r>
          </a:p>
        </p:txBody>
      </p:sp>
      <p:sp>
        <p:nvSpPr>
          <p:cNvPr id="11" name="TextBox 10"/>
          <p:cNvSpPr txBox="1"/>
          <p:nvPr/>
        </p:nvSpPr>
        <p:spPr>
          <a:xfrm>
            <a:off x="6754215" y="1591056"/>
            <a:ext cx="4797399" cy="274320"/>
          </a:xfrm>
          <a:prstGeom prst="rect">
            <a:avLst/>
          </a:prstGeom>
          <a:noFill/>
        </p:spPr>
        <p:txBody>
          <a:bodyPr wrap="square" lIns="0" rIns="0" tIns="0" bIns="0" anchor="t">
            <a:spAutoFit/>
          </a:bodyPr>
          <a:lstStyle/>
          <a:p>
            <a:pPr algn="l"/>
            <a:r>
              <a:rPr sz="1400" b="1">
                <a:solidFill>
                  <a:srgbClr val="EAF0F6"/>
                </a:solidFill>
                <a:latin typeface="Barlow Condensed"/>
              </a:rPr>
              <a:t>Expect errors — and prepare for them</a:t>
            </a:r>
          </a:p>
        </p:txBody>
      </p:sp>
      <p:sp>
        <p:nvSpPr>
          <p:cNvPr id="12" name="TextBox 11"/>
          <p:cNvSpPr txBox="1"/>
          <p:nvPr/>
        </p:nvSpPr>
        <p:spPr>
          <a:xfrm>
            <a:off x="6754215" y="1847088"/>
            <a:ext cx="4797399" cy="457200"/>
          </a:xfrm>
          <a:prstGeom prst="rect">
            <a:avLst/>
          </a:prstGeom>
          <a:noFill/>
        </p:spPr>
        <p:txBody>
          <a:bodyPr wrap="square" lIns="0" rIns="0" tIns="0" bIns="0" anchor="t">
            <a:spAutoFit/>
          </a:bodyPr>
          <a:lstStyle/>
          <a:p>
            <a:pPr algn="l"/>
            <a:r>
              <a:rPr sz="1100" b="0">
                <a:solidFill>
                  <a:srgbClr val="A8B6C6"/>
                </a:solidFill>
                <a:latin typeface="Barlow"/>
              </a:rPr>
              <a:t>You cannot prevent all of them. You can decide in advance how you will react.</a:t>
            </a:r>
          </a:p>
        </p:txBody>
      </p:sp>
      <p:sp>
        <p:nvSpPr>
          <p:cNvPr id="13" name="TextBox 12"/>
          <p:cNvSpPr txBox="1"/>
          <p:nvPr/>
        </p:nvSpPr>
        <p:spPr>
          <a:xfrm>
            <a:off x="566928" y="2432304"/>
            <a:ext cx="365760" cy="320040"/>
          </a:xfrm>
          <a:prstGeom prst="rect">
            <a:avLst/>
          </a:prstGeom>
          <a:noFill/>
        </p:spPr>
        <p:txBody>
          <a:bodyPr wrap="square" lIns="0" rIns="0" tIns="0" bIns="0" anchor="t">
            <a:spAutoFit/>
          </a:bodyPr>
          <a:lstStyle/>
          <a:p>
            <a:pPr algn="l"/>
            <a:r>
              <a:rPr sz="2000" b="1">
                <a:solidFill>
                  <a:srgbClr val="FF8700"/>
                </a:solidFill>
                <a:latin typeface="Barlow Condensed"/>
              </a:rPr>
              <a:t>3</a:t>
            </a:r>
          </a:p>
        </p:txBody>
      </p:sp>
      <p:sp>
        <p:nvSpPr>
          <p:cNvPr id="14" name="TextBox 13"/>
          <p:cNvSpPr txBox="1"/>
          <p:nvPr/>
        </p:nvSpPr>
        <p:spPr>
          <a:xfrm>
            <a:off x="950976" y="2432304"/>
            <a:ext cx="4797399" cy="274320"/>
          </a:xfrm>
          <a:prstGeom prst="rect">
            <a:avLst/>
          </a:prstGeom>
          <a:noFill/>
        </p:spPr>
        <p:txBody>
          <a:bodyPr wrap="square" lIns="0" rIns="0" tIns="0" bIns="0" anchor="t">
            <a:spAutoFit/>
          </a:bodyPr>
          <a:lstStyle/>
          <a:p>
            <a:pPr algn="l"/>
            <a:r>
              <a:rPr sz="1400" b="1">
                <a:solidFill>
                  <a:srgbClr val="EAF0F6"/>
                </a:solidFill>
                <a:latin typeface="Barlow Condensed"/>
              </a:rPr>
              <a:t>Read the changelogs</a:t>
            </a:r>
          </a:p>
        </p:txBody>
      </p:sp>
      <p:sp>
        <p:nvSpPr>
          <p:cNvPr id="15" name="TextBox 14"/>
          <p:cNvSpPr txBox="1"/>
          <p:nvPr/>
        </p:nvSpPr>
        <p:spPr>
          <a:xfrm>
            <a:off x="950976" y="2688336"/>
            <a:ext cx="4797399" cy="457200"/>
          </a:xfrm>
          <a:prstGeom prst="rect">
            <a:avLst/>
          </a:prstGeom>
          <a:noFill/>
        </p:spPr>
        <p:txBody>
          <a:bodyPr wrap="square" lIns="0" rIns="0" tIns="0" bIns="0" anchor="t">
            <a:spAutoFit/>
          </a:bodyPr>
          <a:lstStyle/>
          <a:p>
            <a:pPr algn="l"/>
            <a:r>
              <a:rPr sz="1100" b="0">
                <a:solidFill>
                  <a:srgbClr val="A8B6C6"/>
                </a:solidFill>
                <a:latin typeface="Barlow"/>
              </a:rPr>
              <a:t>They are your NOTAMs, and every entry already contains its own migration.</a:t>
            </a:r>
          </a:p>
        </p:txBody>
      </p:sp>
      <p:sp>
        <p:nvSpPr>
          <p:cNvPr id="16" name="TextBox 15"/>
          <p:cNvSpPr txBox="1"/>
          <p:nvPr/>
        </p:nvSpPr>
        <p:spPr>
          <a:xfrm>
            <a:off x="6370167" y="2432304"/>
            <a:ext cx="365760" cy="320040"/>
          </a:xfrm>
          <a:prstGeom prst="rect">
            <a:avLst/>
          </a:prstGeom>
          <a:noFill/>
        </p:spPr>
        <p:txBody>
          <a:bodyPr wrap="square" lIns="0" rIns="0" tIns="0" bIns="0" anchor="t">
            <a:spAutoFit/>
          </a:bodyPr>
          <a:lstStyle/>
          <a:p>
            <a:pPr algn="l"/>
            <a:r>
              <a:rPr sz="2000" b="1">
                <a:solidFill>
                  <a:srgbClr val="FF8700"/>
                </a:solidFill>
                <a:latin typeface="Barlow Condensed"/>
              </a:rPr>
              <a:t>4</a:t>
            </a:r>
          </a:p>
        </p:txBody>
      </p:sp>
      <p:sp>
        <p:nvSpPr>
          <p:cNvPr id="17" name="TextBox 16"/>
          <p:cNvSpPr txBox="1"/>
          <p:nvPr/>
        </p:nvSpPr>
        <p:spPr>
          <a:xfrm>
            <a:off x="6754215" y="2432304"/>
            <a:ext cx="4797399" cy="274320"/>
          </a:xfrm>
          <a:prstGeom prst="rect">
            <a:avLst/>
          </a:prstGeom>
          <a:noFill/>
        </p:spPr>
        <p:txBody>
          <a:bodyPr wrap="square" lIns="0" rIns="0" tIns="0" bIns="0" anchor="t">
            <a:spAutoFit/>
          </a:bodyPr>
          <a:lstStyle/>
          <a:p>
            <a:pPr algn="l"/>
            <a:r>
              <a:rPr sz="1400" b="1">
                <a:solidFill>
                  <a:srgbClr val="EAF0F6"/>
                </a:solidFill>
                <a:latin typeface="Barlow Condensed"/>
              </a:rPr>
              <a:t>Check deprecations in all three phases</a:t>
            </a:r>
          </a:p>
        </p:txBody>
      </p:sp>
      <p:sp>
        <p:nvSpPr>
          <p:cNvPr id="18" name="TextBox 17"/>
          <p:cNvSpPr txBox="1"/>
          <p:nvPr/>
        </p:nvSpPr>
        <p:spPr>
          <a:xfrm>
            <a:off x="6754215" y="2688336"/>
            <a:ext cx="4797399" cy="457200"/>
          </a:xfrm>
          <a:prstGeom prst="rect">
            <a:avLst/>
          </a:prstGeom>
          <a:noFill/>
        </p:spPr>
        <p:txBody>
          <a:bodyPr wrap="square" lIns="0" rIns="0" tIns="0" bIns="0" anchor="t">
            <a:spAutoFit/>
          </a:bodyPr>
          <a:lstStyle/>
          <a:p>
            <a:pPr algn="l"/>
            <a:r>
              <a:rPr sz="1100" b="0">
                <a:solidFill>
                  <a:srgbClr val="A8B6C6"/>
                </a:solidFill>
                <a:latin typeface="Barlow"/>
              </a:rPr>
              <a:t>Today's deprecation is tomorrow's breaking change. Always.</a:t>
            </a:r>
          </a:p>
        </p:txBody>
      </p:sp>
      <p:sp>
        <p:nvSpPr>
          <p:cNvPr id="19" name="TextBox 18"/>
          <p:cNvSpPr txBox="1"/>
          <p:nvPr/>
        </p:nvSpPr>
        <p:spPr>
          <a:xfrm>
            <a:off x="566928" y="3273552"/>
            <a:ext cx="365760" cy="320040"/>
          </a:xfrm>
          <a:prstGeom prst="rect">
            <a:avLst/>
          </a:prstGeom>
          <a:noFill/>
        </p:spPr>
        <p:txBody>
          <a:bodyPr wrap="square" lIns="0" rIns="0" tIns="0" bIns="0" anchor="t">
            <a:spAutoFit/>
          </a:bodyPr>
          <a:lstStyle/>
          <a:p>
            <a:pPr algn="l"/>
            <a:r>
              <a:rPr sz="2000" b="1">
                <a:solidFill>
                  <a:srgbClr val="FF8700"/>
                </a:solidFill>
                <a:latin typeface="Barlow Condensed"/>
              </a:rPr>
              <a:t>5</a:t>
            </a:r>
          </a:p>
        </p:txBody>
      </p:sp>
      <p:sp>
        <p:nvSpPr>
          <p:cNvPr id="20" name="TextBox 19"/>
          <p:cNvSpPr txBox="1"/>
          <p:nvPr/>
        </p:nvSpPr>
        <p:spPr>
          <a:xfrm>
            <a:off x="950976" y="3273552"/>
            <a:ext cx="4797399" cy="274320"/>
          </a:xfrm>
          <a:prstGeom prst="rect">
            <a:avLst/>
          </a:prstGeom>
          <a:noFill/>
        </p:spPr>
        <p:txBody>
          <a:bodyPr wrap="square" lIns="0" rIns="0" tIns="0" bIns="0" anchor="t">
            <a:spAutoFit/>
          </a:bodyPr>
          <a:lstStyle/>
          <a:p>
            <a:pPr algn="l"/>
            <a:r>
              <a:rPr sz="1400" b="1">
                <a:solidFill>
                  <a:srgbClr val="EAF0F6"/>
                </a:solidFill>
                <a:latin typeface="Barlow Condensed"/>
              </a:rPr>
              <a:t>Layer your tools</a:t>
            </a:r>
          </a:p>
        </p:txBody>
      </p:sp>
      <p:sp>
        <p:nvSpPr>
          <p:cNvPr id="21" name="TextBox 20"/>
          <p:cNvSpPr txBox="1"/>
          <p:nvPr/>
        </p:nvSpPr>
        <p:spPr>
          <a:xfrm>
            <a:off x="950976" y="3529584"/>
            <a:ext cx="4797399" cy="457200"/>
          </a:xfrm>
          <a:prstGeom prst="rect">
            <a:avLst/>
          </a:prstGeom>
          <a:noFill/>
        </p:spPr>
        <p:txBody>
          <a:bodyPr wrap="square" lIns="0" rIns="0" tIns="0" bIns="0" anchor="t">
            <a:spAutoFit/>
          </a:bodyPr>
          <a:lstStyle/>
          <a:p>
            <a:pPr algn="l"/>
            <a:r>
              <a:rPr sz="1100" b="0">
                <a:solidFill>
                  <a:srgbClr val="A8B6C6"/>
                </a:solidFill>
                <a:latin typeface="Barlow"/>
              </a:rPr>
              <a:t>Scanner, Rector, Fractor, the TCA migration check, tests, the deprecation log. Every one has a blind spot the next one covers.</a:t>
            </a:r>
          </a:p>
        </p:txBody>
      </p:sp>
      <p:sp>
        <p:nvSpPr>
          <p:cNvPr id="22" name="TextBox 21"/>
          <p:cNvSpPr txBox="1"/>
          <p:nvPr/>
        </p:nvSpPr>
        <p:spPr>
          <a:xfrm>
            <a:off x="6370167" y="3273552"/>
            <a:ext cx="365760" cy="320040"/>
          </a:xfrm>
          <a:prstGeom prst="rect">
            <a:avLst/>
          </a:prstGeom>
          <a:noFill/>
        </p:spPr>
        <p:txBody>
          <a:bodyPr wrap="square" lIns="0" rIns="0" tIns="0" bIns="0" anchor="t">
            <a:spAutoFit/>
          </a:bodyPr>
          <a:lstStyle/>
          <a:p>
            <a:pPr algn="l"/>
            <a:r>
              <a:rPr sz="2000" b="1">
                <a:solidFill>
                  <a:srgbClr val="FF8700"/>
                </a:solidFill>
                <a:latin typeface="Barlow Condensed"/>
              </a:rPr>
              <a:t>6</a:t>
            </a:r>
          </a:p>
        </p:txBody>
      </p:sp>
      <p:sp>
        <p:nvSpPr>
          <p:cNvPr id="23" name="TextBox 22"/>
          <p:cNvSpPr txBox="1"/>
          <p:nvPr/>
        </p:nvSpPr>
        <p:spPr>
          <a:xfrm>
            <a:off x="6754215" y="3273552"/>
            <a:ext cx="4797399" cy="274320"/>
          </a:xfrm>
          <a:prstGeom prst="rect">
            <a:avLst/>
          </a:prstGeom>
          <a:noFill/>
        </p:spPr>
        <p:txBody>
          <a:bodyPr wrap="square" lIns="0" rIns="0" tIns="0" bIns="0" anchor="t">
            <a:spAutoFit/>
          </a:bodyPr>
          <a:lstStyle/>
          <a:p>
            <a:pPr algn="l"/>
            <a:r>
              <a:rPr sz="1400" b="1">
                <a:solidFill>
                  <a:srgbClr val="EAF0F6"/>
                </a:solidFill>
                <a:latin typeface="Barlow Condensed"/>
              </a:rPr>
              <a:t>Write it down and share it</a:t>
            </a:r>
          </a:p>
        </p:txBody>
      </p:sp>
      <p:sp>
        <p:nvSpPr>
          <p:cNvPr id="24" name="TextBox 23"/>
          <p:cNvSpPr txBox="1"/>
          <p:nvPr/>
        </p:nvSpPr>
        <p:spPr>
          <a:xfrm>
            <a:off x="6754215" y="3529584"/>
            <a:ext cx="4797399" cy="457200"/>
          </a:xfrm>
          <a:prstGeom prst="rect">
            <a:avLst/>
          </a:prstGeom>
          <a:noFill/>
        </p:spPr>
        <p:txBody>
          <a:bodyPr wrap="square" lIns="0" rIns="0" tIns="0" bIns="0" anchor="t">
            <a:spAutoFit/>
          </a:bodyPr>
          <a:lstStyle/>
          <a:p>
            <a:pPr algn="l"/>
            <a:r>
              <a:rPr sz="1100" b="0">
                <a:solidFill>
                  <a:srgbClr val="A8B6C6"/>
                </a:solidFill>
                <a:latin typeface="Barlow"/>
              </a:rPr>
              <a:t>A plan in one person's head is not a plan. It is a single point of failure.</a:t>
            </a:r>
          </a:p>
        </p:txBody>
      </p:sp>
      <p:sp>
        <p:nvSpPr>
          <p:cNvPr id="25" name="TextBox 24"/>
          <p:cNvSpPr txBox="1"/>
          <p:nvPr/>
        </p:nvSpPr>
        <p:spPr>
          <a:xfrm>
            <a:off x="566928" y="4114800"/>
            <a:ext cx="365760" cy="320040"/>
          </a:xfrm>
          <a:prstGeom prst="rect">
            <a:avLst/>
          </a:prstGeom>
          <a:noFill/>
        </p:spPr>
        <p:txBody>
          <a:bodyPr wrap="square" lIns="0" rIns="0" tIns="0" bIns="0" anchor="t">
            <a:spAutoFit/>
          </a:bodyPr>
          <a:lstStyle/>
          <a:p>
            <a:pPr algn="l"/>
            <a:r>
              <a:rPr sz="2000" b="1">
                <a:solidFill>
                  <a:srgbClr val="FF8700"/>
                </a:solidFill>
                <a:latin typeface="Barlow Condensed"/>
              </a:rPr>
              <a:t>7</a:t>
            </a:r>
          </a:p>
        </p:txBody>
      </p:sp>
      <p:sp>
        <p:nvSpPr>
          <p:cNvPr id="26" name="TextBox 25"/>
          <p:cNvSpPr txBox="1"/>
          <p:nvPr/>
        </p:nvSpPr>
        <p:spPr>
          <a:xfrm>
            <a:off x="950976" y="4114800"/>
            <a:ext cx="4797399" cy="274320"/>
          </a:xfrm>
          <a:prstGeom prst="rect">
            <a:avLst/>
          </a:prstGeom>
          <a:noFill/>
        </p:spPr>
        <p:txBody>
          <a:bodyPr wrap="square" lIns="0" rIns="0" tIns="0" bIns="0" anchor="t">
            <a:spAutoFit/>
          </a:bodyPr>
          <a:lstStyle/>
          <a:p>
            <a:pPr algn="l"/>
            <a:r>
              <a:rPr sz="1400" b="1">
                <a:solidFill>
                  <a:srgbClr val="EAF0F6"/>
                </a:solidFill>
                <a:latin typeface="Barlow Condensed"/>
              </a:rPr>
              <a:t>Stay calm</a:t>
            </a:r>
          </a:p>
        </p:txBody>
      </p:sp>
      <p:sp>
        <p:nvSpPr>
          <p:cNvPr id="27" name="TextBox 26"/>
          <p:cNvSpPr txBox="1"/>
          <p:nvPr/>
        </p:nvSpPr>
        <p:spPr>
          <a:xfrm>
            <a:off x="950976" y="4370832"/>
            <a:ext cx="4797399" cy="457200"/>
          </a:xfrm>
          <a:prstGeom prst="rect">
            <a:avLst/>
          </a:prstGeom>
          <a:noFill/>
        </p:spPr>
        <p:txBody>
          <a:bodyPr wrap="square" lIns="0" rIns="0" tIns="0" bIns="0" anchor="t">
            <a:spAutoFit/>
          </a:bodyPr>
          <a:lstStyle/>
          <a:p>
            <a:pPr algn="l"/>
            <a:r>
              <a:rPr sz="1100" b="0">
                <a:solidFill>
                  <a:srgbClr val="A8B6C6"/>
                </a:solidFill>
                <a:latin typeface="Barlow"/>
              </a:rPr>
              <a:t>Aviate, navigate, communicate — in that order.</a:t>
            </a:r>
          </a:p>
        </p:txBody>
      </p:sp>
      <p:sp>
        <p:nvSpPr>
          <p:cNvPr id="28" name="TextBox 27"/>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29" name="TextBox 28"/>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86 / 88</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41C26"/>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053153"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66928" y="457200"/>
            <a:ext cx="854415" cy="256032"/>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498348"/>
            <a:ext cx="854415" cy="201168"/>
          </a:xfrm>
          <a:prstGeom prst="rect">
            <a:avLst/>
          </a:prstGeom>
          <a:noFill/>
        </p:spPr>
        <p:txBody>
          <a:bodyPr wrap="square" lIns="0" rIns="0" tIns="0" bIns="0" anchor="t">
            <a:spAutoFit/>
          </a:bodyPr>
          <a:lstStyle/>
          <a:p>
            <a:pPr algn="l"/>
            <a:r>
              <a:rPr sz="1100" b="1">
                <a:solidFill>
                  <a:srgbClr val="0B1016"/>
                </a:solidFill>
                <a:latin typeface="Barlow Condensed"/>
              </a:rPr>
              <a:t>DEBRIEF</a:t>
            </a:r>
          </a:p>
        </p:txBody>
      </p:sp>
      <p:sp>
        <p:nvSpPr>
          <p:cNvPr id="6" name="TextBox 5"/>
          <p:cNvSpPr txBox="1"/>
          <p:nvPr/>
        </p:nvSpPr>
        <p:spPr>
          <a:xfrm>
            <a:off x="566928" y="841248"/>
            <a:ext cx="11057839" cy="731520"/>
          </a:xfrm>
          <a:prstGeom prst="rect">
            <a:avLst/>
          </a:prstGeom>
          <a:noFill/>
        </p:spPr>
        <p:txBody>
          <a:bodyPr wrap="square" lIns="0" rIns="0" tIns="0" bIns="0" anchor="t">
            <a:spAutoFit/>
          </a:bodyPr>
          <a:lstStyle/>
          <a:p>
            <a:pPr algn="l"/>
            <a:r>
              <a:rPr sz="3400" b="1">
                <a:solidFill>
                  <a:srgbClr val="EAF0F6"/>
                </a:solidFill>
                <a:latin typeface="Barlow Condensed"/>
              </a:rPr>
              <a:t>Resources</a:t>
            </a:r>
          </a:p>
        </p:txBody>
      </p:sp>
      <p:sp>
        <p:nvSpPr>
          <p:cNvPr id="7" name="TextBox 6"/>
          <p:cNvSpPr txBox="1"/>
          <p:nvPr/>
        </p:nvSpPr>
        <p:spPr>
          <a:xfrm>
            <a:off x="566928" y="1591056"/>
            <a:ext cx="5163159" cy="274320"/>
          </a:xfrm>
          <a:prstGeom prst="rect">
            <a:avLst/>
          </a:prstGeom>
          <a:noFill/>
        </p:spPr>
        <p:txBody>
          <a:bodyPr wrap="square" lIns="0" rIns="0" tIns="0" bIns="0" anchor="t">
            <a:spAutoFit/>
          </a:bodyPr>
          <a:lstStyle/>
          <a:p>
            <a:pPr algn="l"/>
            <a:r>
              <a:rPr sz="1600" b="1">
                <a:solidFill>
                  <a:srgbClr val="FF8700"/>
                </a:solidFill>
                <a:latin typeface="Barlow Condensed"/>
              </a:rPr>
              <a:t>CHANGELOGS</a:t>
            </a:r>
          </a:p>
        </p:txBody>
      </p:sp>
      <p:sp>
        <p:nvSpPr>
          <p:cNvPr id="8" name="TextBox 7"/>
          <p:cNvSpPr txBox="1"/>
          <p:nvPr/>
        </p:nvSpPr>
        <p:spPr>
          <a:xfrm>
            <a:off x="566928" y="2002536"/>
            <a:ext cx="5163159" cy="237744"/>
          </a:xfrm>
          <a:prstGeom prst="rect">
            <a:avLst/>
          </a:prstGeom>
          <a:noFill/>
        </p:spPr>
        <p:txBody>
          <a:bodyPr wrap="square" lIns="0" rIns="0" tIns="0" bIns="0" anchor="t">
            <a:spAutoFit/>
          </a:bodyPr>
          <a:lstStyle/>
          <a:p>
            <a:pPr algn="l"/>
            <a:r>
              <a:rPr sz="1200" b="0">
                <a:solidFill>
                  <a:srgbClr val="EAF0F6"/>
                </a:solidFill>
                <a:latin typeface="Barlow"/>
              </a:rPr>
              <a:t>TYPO3 Core Changelog</a:t>
            </a:r>
          </a:p>
        </p:txBody>
      </p:sp>
      <p:sp>
        <p:nvSpPr>
          <p:cNvPr id="9" name="TextBox 8"/>
          <p:cNvSpPr txBox="1"/>
          <p:nvPr/>
        </p:nvSpPr>
        <p:spPr>
          <a:xfrm>
            <a:off x="566928" y="2203704"/>
            <a:ext cx="5163159" cy="219456"/>
          </a:xfrm>
          <a:prstGeom prst="rect">
            <a:avLst/>
          </a:prstGeom>
          <a:noFill/>
        </p:spPr>
        <p:txBody>
          <a:bodyPr wrap="square" lIns="0" rIns="0" tIns="0" bIns="0" anchor="t">
            <a:spAutoFit/>
          </a:bodyPr>
          <a:lstStyle/>
          <a:p>
            <a:pPr algn="l"/>
            <a:r>
              <a:rPr sz="850" b="0">
                <a:solidFill>
                  <a:srgbClr val="6F8093"/>
                </a:solidFill>
                <a:latin typeface="IBM Plex Mono"/>
              </a:rPr>
              <a:t>docs.typo3.org/c/typo3/cms-core/main/en-us/Index.html</a:t>
            </a:r>
          </a:p>
        </p:txBody>
      </p:sp>
      <p:sp>
        <p:nvSpPr>
          <p:cNvPr id="10" name="Rectangle 9"/>
          <p:cNvSpPr/>
          <p:nvPr/>
        </p:nvSpPr>
        <p:spPr>
          <a:xfrm>
            <a:off x="566928" y="2423160"/>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66928" y="2514600"/>
            <a:ext cx="5163159" cy="237744"/>
          </a:xfrm>
          <a:prstGeom prst="rect">
            <a:avLst/>
          </a:prstGeom>
          <a:noFill/>
        </p:spPr>
        <p:txBody>
          <a:bodyPr wrap="square" lIns="0" rIns="0" tIns="0" bIns="0" anchor="t">
            <a:spAutoFit/>
          </a:bodyPr>
          <a:lstStyle/>
          <a:p>
            <a:pPr algn="l"/>
            <a:r>
              <a:rPr sz="1200" b="0">
                <a:solidFill>
                  <a:srgbClr val="EAF0F6"/>
                </a:solidFill>
                <a:latin typeface="Barlow"/>
              </a:rPr>
              <a:t>Shipped with your core</a:t>
            </a:r>
          </a:p>
        </p:txBody>
      </p:sp>
      <p:sp>
        <p:nvSpPr>
          <p:cNvPr id="12" name="TextBox 11"/>
          <p:cNvSpPr txBox="1"/>
          <p:nvPr/>
        </p:nvSpPr>
        <p:spPr>
          <a:xfrm>
            <a:off x="566928" y="2715768"/>
            <a:ext cx="5163159" cy="219456"/>
          </a:xfrm>
          <a:prstGeom prst="rect">
            <a:avLst/>
          </a:prstGeom>
          <a:noFill/>
        </p:spPr>
        <p:txBody>
          <a:bodyPr wrap="square" lIns="0" rIns="0" tIns="0" bIns="0" anchor="t">
            <a:spAutoFit/>
          </a:bodyPr>
          <a:lstStyle/>
          <a:p>
            <a:pPr algn="l"/>
            <a:r>
              <a:rPr sz="850" b="0">
                <a:solidFill>
                  <a:srgbClr val="6F8093"/>
                </a:solidFill>
                <a:latin typeface="IBM Plex Mono"/>
              </a:rPr>
              <a:t>vendor/typo3/cms-core/Documentation/Changelog/</a:t>
            </a:r>
          </a:p>
        </p:txBody>
      </p:sp>
      <p:sp>
        <p:nvSpPr>
          <p:cNvPr id="13" name="Rectangle 12"/>
          <p:cNvSpPr/>
          <p:nvPr/>
        </p:nvSpPr>
        <p:spPr>
          <a:xfrm>
            <a:off x="566928" y="2935224"/>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6928" y="3026664"/>
            <a:ext cx="5163159" cy="237744"/>
          </a:xfrm>
          <a:prstGeom prst="rect">
            <a:avLst/>
          </a:prstGeom>
          <a:noFill/>
        </p:spPr>
        <p:txBody>
          <a:bodyPr wrap="square" lIns="0" rIns="0" tIns="0" bIns="0" anchor="t">
            <a:spAutoFit/>
          </a:bodyPr>
          <a:lstStyle/>
          <a:p>
            <a:pPr algn="l"/>
            <a:r>
              <a:rPr sz="1200" b="0">
                <a:solidFill>
                  <a:srgbClr val="EAF0F6"/>
                </a:solidFill>
                <a:latin typeface="Barlow"/>
              </a:rPr>
              <a:t>Version support &amp; ELTS</a:t>
            </a:r>
          </a:p>
        </p:txBody>
      </p:sp>
      <p:sp>
        <p:nvSpPr>
          <p:cNvPr id="15" name="TextBox 14"/>
          <p:cNvSpPr txBox="1"/>
          <p:nvPr/>
        </p:nvSpPr>
        <p:spPr>
          <a:xfrm>
            <a:off x="566928" y="3227832"/>
            <a:ext cx="5163159" cy="219456"/>
          </a:xfrm>
          <a:prstGeom prst="rect">
            <a:avLst/>
          </a:prstGeom>
          <a:noFill/>
        </p:spPr>
        <p:txBody>
          <a:bodyPr wrap="square" lIns="0" rIns="0" tIns="0" bIns="0" anchor="t">
            <a:spAutoFit/>
          </a:bodyPr>
          <a:lstStyle/>
          <a:p>
            <a:pPr algn="l"/>
            <a:r>
              <a:rPr sz="850" b="0">
                <a:solidFill>
                  <a:srgbClr val="6F8093"/>
                </a:solidFill>
                <a:latin typeface="IBM Plex Mono"/>
              </a:rPr>
              <a:t>get.typo3.org — and the ELTS pages on typo3.com</a:t>
            </a:r>
          </a:p>
        </p:txBody>
      </p:sp>
      <p:sp>
        <p:nvSpPr>
          <p:cNvPr id="16" name="Rectangle 15"/>
          <p:cNvSpPr/>
          <p:nvPr/>
        </p:nvSpPr>
        <p:spPr>
          <a:xfrm>
            <a:off x="566928" y="3447288"/>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61607" y="1591056"/>
            <a:ext cx="5163159" cy="274320"/>
          </a:xfrm>
          <a:prstGeom prst="rect">
            <a:avLst/>
          </a:prstGeom>
          <a:noFill/>
        </p:spPr>
        <p:txBody>
          <a:bodyPr wrap="square" lIns="0" rIns="0" tIns="0" bIns="0" anchor="t">
            <a:spAutoFit/>
          </a:bodyPr>
          <a:lstStyle/>
          <a:p>
            <a:pPr algn="l"/>
            <a:r>
              <a:rPr sz="1600" b="1">
                <a:solidFill>
                  <a:srgbClr val="FF8700"/>
                </a:solidFill>
                <a:latin typeface="Barlow Condensed"/>
              </a:rPr>
              <a:t>TOOLS</a:t>
            </a:r>
          </a:p>
        </p:txBody>
      </p:sp>
      <p:sp>
        <p:nvSpPr>
          <p:cNvPr id="18" name="TextBox 17"/>
          <p:cNvSpPr txBox="1"/>
          <p:nvPr/>
        </p:nvSpPr>
        <p:spPr>
          <a:xfrm>
            <a:off x="6461607" y="2002536"/>
            <a:ext cx="5163159" cy="237744"/>
          </a:xfrm>
          <a:prstGeom prst="rect">
            <a:avLst/>
          </a:prstGeom>
          <a:noFill/>
        </p:spPr>
        <p:txBody>
          <a:bodyPr wrap="square" lIns="0" rIns="0" tIns="0" bIns="0" anchor="t">
            <a:spAutoFit/>
          </a:bodyPr>
          <a:lstStyle/>
          <a:p>
            <a:pPr algn="l"/>
            <a:r>
              <a:rPr sz="1200" b="0">
                <a:solidFill>
                  <a:srgbClr val="EAF0F6"/>
                </a:solidFill>
                <a:latin typeface="Barlow"/>
              </a:rPr>
              <a:t>Extension Scanner</a:t>
            </a:r>
          </a:p>
        </p:txBody>
      </p:sp>
      <p:sp>
        <p:nvSpPr>
          <p:cNvPr id="19" name="TextBox 18"/>
          <p:cNvSpPr txBox="1"/>
          <p:nvPr/>
        </p:nvSpPr>
        <p:spPr>
          <a:xfrm>
            <a:off x="6461607" y="2203704"/>
            <a:ext cx="5163159" cy="219456"/>
          </a:xfrm>
          <a:prstGeom prst="rect">
            <a:avLst/>
          </a:prstGeom>
          <a:noFill/>
        </p:spPr>
        <p:txBody>
          <a:bodyPr wrap="square" lIns="0" rIns="0" tIns="0" bIns="0" anchor="t">
            <a:spAutoFit/>
          </a:bodyPr>
          <a:lstStyle/>
          <a:p>
            <a:pPr algn="l"/>
            <a:r>
              <a:rPr sz="850" b="0">
                <a:solidFill>
                  <a:srgbClr val="6F8093"/>
                </a:solidFill>
                <a:latin typeface="IBM Plex Mono"/>
              </a:rPr>
              <a:t>Admin Tools › Upgrade › Scan Extension Files</a:t>
            </a:r>
          </a:p>
        </p:txBody>
      </p:sp>
      <p:sp>
        <p:nvSpPr>
          <p:cNvPr id="20" name="Rectangle 19"/>
          <p:cNvSpPr/>
          <p:nvPr/>
        </p:nvSpPr>
        <p:spPr>
          <a:xfrm>
            <a:off x="6461607" y="2423160"/>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61607" y="2514600"/>
            <a:ext cx="5163159" cy="237744"/>
          </a:xfrm>
          <a:prstGeom prst="rect">
            <a:avLst/>
          </a:prstGeom>
          <a:noFill/>
        </p:spPr>
        <p:txBody>
          <a:bodyPr wrap="square" lIns="0" rIns="0" tIns="0" bIns="0" anchor="t">
            <a:spAutoFit/>
          </a:bodyPr>
          <a:lstStyle/>
          <a:p>
            <a:pPr algn="l"/>
            <a:r>
              <a:rPr sz="1200" b="0">
                <a:solidFill>
                  <a:srgbClr val="EAF0F6"/>
                </a:solidFill>
                <a:latin typeface="Barlow"/>
              </a:rPr>
              <a:t>netresearch/extension-scanner-cli</a:t>
            </a:r>
          </a:p>
        </p:txBody>
      </p:sp>
      <p:sp>
        <p:nvSpPr>
          <p:cNvPr id="22" name="TextBox 21"/>
          <p:cNvSpPr txBox="1"/>
          <p:nvPr/>
        </p:nvSpPr>
        <p:spPr>
          <a:xfrm>
            <a:off x="6461607" y="2715768"/>
            <a:ext cx="5163159" cy="219456"/>
          </a:xfrm>
          <a:prstGeom prst="rect">
            <a:avLst/>
          </a:prstGeom>
          <a:noFill/>
        </p:spPr>
        <p:txBody>
          <a:bodyPr wrap="square" lIns="0" rIns="0" tIns="0" bIns="0" anchor="t">
            <a:spAutoFit/>
          </a:bodyPr>
          <a:lstStyle/>
          <a:p>
            <a:pPr algn="l"/>
            <a:r>
              <a:rPr sz="850" b="0">
                <a:solidFill>
                  <a:srgbClr val="6F8093"/>
                </a:solidFill>
                <a:latin typeface="IBM Plex Mono"/>
              </a:rPr>
              <a:t>github.com/netresearch/t3x-nr-extension-scanner-cli</a:t>
            </a:r>
          </a:p>
        </p:txBody>
      </p:sp>
      <p:sp>
        <p:nvSpPr>
          <p:cNvPr id="23" name="Rectangle 22"/>
          <p:cNvSpPr/>
          <p:nvPr/>
        </p:nvSpPr>
        <p:spPr>
          <a:xfrm>
            <a:off x="6461607" y="2935224"/>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61607" y="3026664"/>
            <a:ext cx="5163159" cy="237744"/>
          </a:xfrm>
          <a:prstGeom prst="rect">
            <a:avLst/>
          </a:prstGeom>
          <a:noFill/>
        </p:spPr>
        <p:txBody>
          <a:bodyPr wrap="square" lIns="0" rIns="0" tIns="0" bIns="0" anchor="t">
            <a:spAutoFit/>
          </a:bodyPr>
          <a:lstStyle/>
          <a:p>
            <a:pPr algn="l"/>
            <a:r>
              <a:rPr sz="1200" b="0">
                <a:solidFill>
                  <a:srgbClr val="EAF0F6"/>
                </a:solidFill>
                <a:latin typeface="Barlow"/>
              </a:rPr>
              <a:t>ssch/typo3-rector</a:t>
            </a:r>
          </a:p>
        </p:txBody>
      </p:sp>
      <p:sp>
        <p:nvSpPr>
          <p:cNvPr id="25" name="TextBox 24"/>
          <p:cNvSpPr txBox="1"/>
          <p:nvPr/>
        </p:nvSpPr>
        <p:spPr>
          <a:xfrm>
            <a:off x="6461607" y="3227832"/>
            <a:ext cx="5163159" cy="219456"/>
          </a:xfrm>
          <a:prstGeom prst="rect">
            <a:avLst/>
          </a:prstGeom>
          <a:noFill/>
        </p:spPr>
        <p:txBody>
          <a:bodyPr wrap="square" lIns="0" rIns="0" tIns="0" bIns="0" anchor="t">
            <a:spAutoFit/>
          </a:bodyPr>
          <a:lstStyle/>
          <a:p>
            <a:pPr algn="l"/>
            <a:r>
              <a:rPr sz="850" b="0">
                <a:solidFill>
                  <a:srgbClr val="6F8093"/>
                </a:solidFill>
                <a:latin typeface="IBM Plex Mono"/>
              </a:rPr>
              <a:t>github.com/sabbelasichon/typo3-rector</a:t>
            </a:r>
          </a:p>
        </p:txBody>
      </p:sp>
      <p:sp>
        <p:nvSpPr>
          <p:cNvPr id="26" name="Rectangle 25"/>
          <p:cNvSpPr/>
          <p:nvPr/>
        </p:nvSpPr>
        <p:spPr>
          <a:xfrm>
            <a:off x="6461607" y="3447288"/>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61607" y="3538728"/>
            <a:ext cx="5163159" cy="237744"/>
          </a:xfrm>
          <a:prstGeom prst="rect">
            <a:avLst/>
          </a:prstGeom>
          <a:noFill/>
        </p:spPr>
        <p:txBody>
          <a:bodyPr wrap="square" lIns="0" rIns="0" tIns="0" bIns="0" anchor="t">
            <a:spAutoFit/>
          </a:bodyPr>
          <a:lstStyle/>
          <a:p>
            <a:pPr algn="l"/>
            <a:r>
              <a:rPr sz="1200" b="0">
                <a:solidFill>
                  <a:srgbClr val="EAF0F6"/>
                </a:solidFill>
                <a:latin typeface="Barlow"/>
              </a:rPr>
              <a:t>a9f/typo3-fractor</a:t>
            </a:r>
          </a:p>
        </p:txBody>
      </p:sp>
      <p:sp>
        <p:nvSpPr>
          <p:cNvPr id="28" name="TextBox 27"/>
          <p:cNvSpPr txBox="1"/>
          <p:nvPr/>
        </p:nvSpPr>
        <p:spPr>
          <a:xfrm>
            <a:off x="6461607" y="3739896"/>
            <a:ext cx="5163159" cy="219456"/>
          </a:xfrm>
          <a:prstGeom prst="rect">
            <a:avLst/>
          </a:prstGeom>
          <a:noFill/>
        </p:spPr>
        <p:txBody>
          <a:bodyPr wrap="square" lIns="0" rIns="0" tIns="0" bIns="0" anchor="t">
            <a:spAutoFit/>
          </a:bodyPr>
          <a:lstStyle/>
          <a:p>
            <a:pPr algn="l"/>
            <a:r>
              <a:rPr sz="850" b="0">
                <a:solidFill>
                  <a:srgbClr val="6F8093"/>
                </a:solidFill>
                <a:latin typeface="IBM Plex Mono"/>
              </a:rPr>
              <a:t>github.com/andreaswolf/fractor</a:t>
            </a:r>
          </a:p>
        </p:txBody>
      </p:sp>
      <p:sp>
        <p:nvSpPr>
          <p:cNvPr id="29" name="Rectangle 28"/>
          <p:cNvSpPr/>
          <p:nvPr/>
        </p:nvSpPr>
        <p:spPr>
          <a:xfrm>
            <a:off x="6461607" y="3959352"/>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61607" y="4050792"/>
            <a:ext cx="5163159" cy="237744"/>
          </a:xfrm>
          <a:prstGeom prst="rect">
            <a:avLst/>
          </a:prstGeom>
          <a:noFill/>
        </p:spPr>
        <p:txBody>
          <a:bodyPr wrap="square" lIns="0" rIns="0" tIns="0" bIns="0" anchor="t">
            <a:spAutoFit/>
          </a:bodyPr>
          <a:lstStyle/>
          <a:p>
            <a:pPr algn="l"/>
            <a:r>
              <a:rPr sz="1200" b="0">
                <a:solidFill>
                  <a:srgbClr val="EAF0F6"/>
                </a:solidFill>
                <a:latin typeface="Barlow"/>
              </a:rPr>
              <a:t>typo3/testing-framework</a:t>
            </a:r>
          </a:p>
        </p:txBody>
      </p:sp>
      <p:sp>
        <p:nvSpPr>
          <p:cNvPr id="31" name="TextBox 30"/>
          <p:cNvSpPr txBox="1"/>
          <p:nvPr/>
        </p:nvSpPr>
        <p:spPr>
          <a:xfrm>
            <a:off x="6461607" y="4251960"/>
            <a:ext cx="5163159" cy="219456"/>
          </a:xfrm>
          <a:prstGeom prst="rect">
            <a:avLst/>
          </a:prstGeom>
          <a:noFill/>
        </p:spPr>
        <p:txBody>
          <a:bodyPr wrap="square" lIns="0" rIns="0" tIns="0" bIns="0" anchor="t">
            <a:spAutoFit/>
          </a:bodyPr>
          <a:lstStyle/>
          <a:p>
            <a:pPr algn="l"/>
            <a:r>
              <a:rPr sz="850" b="0">
                <a:solidFill>
                  <a:srgbClr val="6F8093"/>
                </a:solidFill>
                <a:latin typeface="IBM Plex Mono"/>
              </a:rPr>
              <a:t>github.com/TYPO3/testing-framework</a:t>
            </a:r>
          </a:p>
        </p:txBody>
      </p:sp>
      <p:sp>
        <p:nvSpPr>
          <p:cNvPr id="32" name="Rectangle 31"/>
          <p:cNvSpPr/>
          <p:nvPr/>
        </p:nvSpPr>
        <p:spPr>
          <a:xfrm>
            <a:off x="6461607" y="4471416"/>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61607" y="4562856"/>
            <a:ext cx="5163159" cy="237744"/>
          </a:xfrm>
          <a:prstGeom prst="rect">
            <a:avLst/>
          </a:prstGeom>
          <a:noFill/>
        </p:spPr>
        <p:txBody>
          <a:bodyPr wrap="square" lIns="0" rIns="0" tIns="0" bIns="0" anchor="t">
            <a:spAutoFit/>
          </a:bodyPr>
          <a:lstStyle/>
          <a:p>
            <a:pPr algn="l"/>
            <a:r>
              <a:rPr sz="1200" b="0">
                <a:solidFill>
                  <a:srgbClr val="EAF0F6"/>
                </a:solidFill>
                <a:latin typeface="Barlow"/>
              </a:rPr>
              <a:t>This talk's hands-on workshop</a:t>
            </a:r>
          </a:p>
        </p:txBody>
      </p:sp>
      <p:sp>
        <p:nvSpPr>
          <p:cNvPr id="34" name="TextBox 33"/>
          <p:cNvSpPr txBox="1"/>
          <p:nvPr/>
        </p:nvSpPr>
        <p:spPr>
          <a:xfrm>
            <a:off x="6461607" y="4764024"/>
            <a:ext cx="5163159" cy="219456"/>
          </a:xfrm>
          <a:prstGeom prst="rect">
            <a:avLst/>
          </a:prstGeom>
          <a:noFill/>
        </p:spPr>
        <p:txBody>
          <a:bodyPr wrap="square" lIns="0" rIns="0" tIns="0" bIns="0" anchor="t">
            <a:spAutoFit/>
          </a:bodyPr>
          <a:lstStyle/>
          <a:p>
            <a:pPr algn="l"/>
            <a:r>
              <a:rPr sz="850" b="0">
                <a:solidFill>
                  <a:srgbClr val="6F8093"/>
                </a:solidFill>
                <a:latin typeface="IBM Plex Mono"/>
              </a:rPr>
              <a:t>flight_ops on 12.4, labs for all three phases</a:t>
            </a:r>
          </a:p>
        </p:txBody>
      </p:sp>
      <p:sp>
        <p:nvSpPr>
          <p:cNvPr id="35" name="Rectangle 34"/>
          <p:cNvSpPr/>
          <p:nvPr/>
        </p:nvSpPr>
        <p:spPr>
          <a:xfrm>
            <a:off x="6461607" y="4983480"/>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61607" y="5074920"/>
            <a:ext cx="5163159" cy="237744"/>
          </a:xfrm>
          <a:prstGeom prst="rect">
            <a:avLst/>
          </a:prstGeom>
          <a:noFill/>
        </p:spPr>
        <p:txBody>
          <a:bodyPr wrap="square" lIns="0" rIns="0" tIns="0" bIns="0" anchor="t">
            <a:spAutoFit/>
          </a:bodyPr>
          <a:lstStyle/>
          <a:p>
            <a:pPr algn="l"/>
            <a:r>
              <a:rPr sz="1200" b="0">
                <a:solidFill>
                  <a:srgbClr val="EAF0F6"/>
                </a:solidFill>
                <a:latin typeface="Barlow"/>
              </a:rPr>
              <a:t>Check TCA Migrations / Check TCA in ext_tables.php</a:t>
            </a:r>
          </a:p>
        </p:txBody>
      </p:sp>
      <p:sp>
        <p:nvSpPr>
          <p:cNvPr id="37" name="TextBox 36"/>
          <p:cNvSpPr txBox="1"/>
          <p:nvPr/>
        </p:nvSpPr>
        <p:spPr>
          <a:xfrm>
            <a:off x="6461607" y="5276088"/>
            <a:ext cx="5163159" cy="219456"/>
          </a:xfrm>
          <a:prstGeom prst="rect">
            <a:avLst/>
          </a:prstGeom>
          <a:noFill/>
        </p:spPr>
        <p:txBody>
          <a:bodyPr wrap="square" lIns="0" rIns="0" tIns="0" bIns="0" anchor="t">
            <a:spAutoFit/>
          </a:bodyPr>
          <a:lstStyle/>
          <a:p>
            <a:pPr algn="l"/>
            <a:r>
              <a:rPr sz="850" b="0">
                <a:solidFill>
                  <a:srgbClr val="6F8093"/>
                </a:solidFill>
                <a:latin typeface="IBM Plex Mono"/>
              </a:rPr>
              <a:t>Admin Tools › Upgrade — no CLI equivalent</a:t>
            </a:r>
          </a:p>
        </p:txBody>
      </p:sp>
      <p:sp>
        <p:nvSpPr>
          <p:cNvPr id="38" name="Rectangle 37"/>
          <p:cNvSpPr/>
          <p:nvPr/>
        </p:nvSpPr>
        <p:spPr>
          <a:xfrm>
            <a:off x="6461607" y="5495544"/>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61607" y="5586984"/>
            <a:ext cx="5163159" cy="237744"/>
          </a:xfrm>
          <a:prstGeom prst="rect">
            <a:avLst/>
          </a:prstGeom>
          <a:noFill/>
        </p:spPr>
        <p:txBody>
          <a:bodyPr wrap="square" lIns="0" rIns="0" tIns="0" bIns="0" anchor="t">
            <a:spAutoFit/>
          </a:bodyPr>
          <a:lstStyle/>
          <a:p>
            <a:pPr algn="l"/>
            <a:r>
              <a:rPr sz="1200" b="0">
                <a:solidFill>
                  <a:srgbClr val="EAF0F6"/>
                </a:solidFill>
                <a:latin typeface="Barlow"/>
              </a:rPr>
              <a:t>Configuration › TCA backend module</a:t>
            </a:r>
          </a:p>
        </p:txBody>
      </p:sp>
      <p:sp>
        <p:nvSpPr>
          <p:cNvPr id="40" name="TextBox 39"/>
          <p:cNvSpPr txBox="1"/>
          <p:nvPr/>
        </p:nvSpPr>
        <p:spPr>
          <a:xfrm>
            <a:off x="6461607" y="5788152"/>
            <a:ext cx="5163159" cy="219456"/>
          </a:xfrm>
          <a:prstGeom prst="rect">
            <a:avLst/>
          </a:prstGeom>
          <a:noFill/>
        </p:spPr>
        <p:txBody>
          <a:bodyPr wrap="square" lIns="0" rIns="0" tIns="0" bIns="0" anchor="t">
            <a:spAutoFit/>
          </a:bodyPr>
          <a:lstStyle/>
          <a:p>
            <a:pPr algn="l"/>
            <a:r>
              <a:rPr sz="850" b="0">
                <a:solidFill>
                  <a:srgbClr val="6F8093"/>
                </a:solidFill>
                <a:latin typeface="IBM Plex Mono"/>
              </a:rPr>
              <a:t>EXT:lowlevel — shows the migrated values</a:t>
            </a:r>
          </a:p>
        </p:txBody>
      </p:sp>
      <p:sp>
        <p:nvSpPr>
          <p:cNvPr id="41" name="Rectangle 40"/>
          <p:cNvSpPr/>
          <p:nvPr/>
        </p:nvSpPr>
        <p:spPr>
          <a:xfrm>
            <a:off x="6461607" y="6007608"/>
            <a:ext cx="5163159" cy="635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43" name="TextBox 42"/>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87 / 88</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D141C"/>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2530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38100"/>
          </a:xfrm>
          <a:prstGeom prst="rect">
            <a:avLst/>
          </a:prstGeom>
          <a:solidFill>
            <a:srgbClr val="6F80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2194560"/>
            <a:ext cx="11057839" cy="1097280"/>
          </a:xfrm>
          <a:prstGeom prst="rect">
            <a:avLst/>
          </a:prstGeom>
          <a:noFill/>
        </p:spPr>
        <p:txBody>
          <a:bodyPr wrap="square" lIns="0" rIns="0" tIns="0" bIns="0" anchor="t">
            <a:spAutoFit/>
          </a:bodyPr>
          <a:lstStyle/>
          <a:p>
            <a:pPr algn="l"/>
            <a:r>
              <a:rPr sz="6200" b="1">
                <a:solidFill>
                  <a:srgbClr val="EAF0F6"/>
                </a:solidFill>
                <a:latin typeface="Barlow Condensed"/>
              </a:rPr>
              <a:t>Thank you</a:t>
            </a:r>
          </a:p>
        </p:txBody>
      </p:sp>
      <p:sp>
        <p:nvSpPr>
          <p:cNvPr id="5" name="TextBox 4"/>
          <p:cNvSpPr txBox="1"/>
          <p:nvPr/>
        </p:nvSpPr>
        <p:spPr>
          <a:xfrm>
            <a:off x="566928" y="3383280"/>
            <a:ext cx="11057839" cy="457200"/>
          </a:xfrm>
          <a:prstGeom prst="rect">
            <a:avLst/>
          </a:prstGeom>
          <a:noFill/>
        </p:spPr>
        <p:txBody>
          <a:bodyPr wrap="square" lIns="0" rIns="0" tIns="0" bIns="0" anchor="t">
            <a:spAutoFit/>
          </a:bodyPr>
          <a:lstStyle/>
          <a:p>
            <a:pPr algn="l"/>
            <a:r>
              <a:rPr sz="1800" b="0">
                <a:solidFill>
                  <a:srgbClr val="A8B6C6"/>
                </a:solidFill>
                <a:latin typeface="Barlow"/>
              </a:rPr>
              <a:t>Questions, war stories, and disagreements welcome.</a:t>
            </a:r>
          </a:p>
        </p:txBody>
      </p:sp>
      <p:sp>
        <p:nvSpPr>
          <p:cNvPr id="6" name="TextBox 5"/>
          <p:cNvSpPr txBox="1"/>
          <p:nvPr/>
        </p:nvSpPr>
        <p:spPr>
          <a:xfrm>
            <a:off x="566928" y="4297680"/>
            <a:ext cx="11057839" cy="457200"/>
          </a:xfrm>
          <a:prstGeom prst="rect">
            <a:avLst/>
          </a:prstGeom>
          <a:noFill/>
        </p:spPr>
        <p:txBody>
          <a:bodyPr wrap="square" lIns="0" rIns="0" tIns="0" bIns="0" anchor="t">
            <a:spAutoFit/>
          </a:bodyPr>
          <a:lstStyle/>
          <a:p>
            <a:pPr algn="l"/>
            <a:r>
              <a:rPr sz="2000" b="1">
                <a:solidFill>
                  <a:srgbClr val="EAF0F6"/>
                </a:solidFill>
                <a:latin typeface="Barlow Condensed"/>
              </a:rPr>
              <a:t>Stefan Bürk    </a:t>
            </a:r>
            <a:r>
              <a:rPr sz="1000" b="0">
                <a:solidFill>
                  <a:srgbClr val="6F8093"/>
                </a:solidFill>
                <a:latin typeface="IBM Plex Mono"/>
              </a:rPr>
              <a:t>stefan@buerk.tech · TYPO3 Core Team — Framework Maintainer</a:t>
            </a:r>
          </a:p>
        </p:txBody>
      </p:sp>
      <p:sp>
        <p:nvSpPr>
          <p:cNvPr id="7" name="TextBox 6"/>
          <p:cNvSpPr txBox="1"/>
          <p:nvPr/>
        </p:nvSpPr>
        <p:spPr>
          <a:xfrm>
            <a:off x="566928" y="6510528"/>
            <a:ext cx="4572000" cy="201168"/>
          </a:xfrm>
          <a:prstGeom prst="rect">
            <a:avLst/>
          </a:prstGeom>
          <a:noFill/>
        </p:spPr>
        <p:txBody>
          <a:bodyPr wrap="square" lIns="0" rIns="0" tIns="0" bIns="0" anchor="t">
            <a:spAutoFit/>
          </a:bodyPr>
          <a:lstStyle/>
          <a:p>
            <a:pPr algn="l"/>
            <a:r>
              <a:rPr sz="800" b="0">
                <a:solidFill>
                  <a:srgbClr val="6F8093"/>
                </a:solidFill>
                <a:latin typeface="IBM Plex Mono"/>
              </a:rPr>
              <a:t>Fly the Upgrade — Stefan Bürk</a:t>
            </a:r>
          </a:p>
        </p:txBody>
      </p:sp>
      <p:sp>
        <p:nvSpPr>
          <p:cNvPr id="8" name="TextBox 7"/>
          <p:cNvSpPr txBox="1"/>
          <p:nvPr/>
        </p:nvSpPr>
        <p:spPr>
          <a:xfrm>
            <a:off x="9795967" y="6510528"/>
            <a:ext cx="1828800" cy="201168"/>
          </a:xfrm>
          <a:prstGeom prst="rect">
            <a:avLst/>
          </a:prstGeom>
          <a:noFill/>
        </p:spPr>
        <p:txBody>
          <a:bodyPr wrap="square" lIns="0" rIns="0" tIns="0" bIns="0" anchor="t">
            <a:spAutoFit/>
          </a:bodyPr>
          <a:lstStyle/>
          <a:p>
            <a:pPr algn="r"/>
            <a:r>
              <a:rPr sz="800" b="0">
                <a:solidFill>
                  <a:srgbClr val="6F8093"/>
                </a:solidFill>
                <a:latin typeface="IBM Plex Mono"/>
              </a:rPr>
              <a:t>88 / 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